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83ea08a-22fb-777a-9b69-a364281a1a7f}">
          <p14:sldIdLst>
            <p14:sldId id="256"/>
            <p14:sldId id="257"/>
          </p14:sldIdLst>
        </p14:section>
        <p14:section name="Estratégia" id="{e00e785d-af44-66ce-95b0-6a202279e882}">
          <p14:sldIdLst>
            <p14:sldId id="258"/>
            <p14:sldId id="259"/>
            <p14:sldId id="260"/>
            <p14:sldId id="261"/>
            <p14:sldId id="262"/>
          </p14:sldIdLst>
        </p14:section>
        <p14:section name="Identidade visual" id="{dcec83c2-b014-b86b-7ff9-86ed2fe7624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Universo visual" id="{ddceafa9-a45a-3e45-72e0-9a4669d5794d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Encerramento" id="{a3a29162-aaf5-b3d3-087c-bb8bff2f0d58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d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Sua voz, no ritmo certo.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c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377459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3895" y="329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Sua voz, no ritmo certo.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jp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4.jpg"/><Relationship Id="rId14" Type="http://schemas.openxmlformats.org/officeDocument/2006/relationships/image" Target="../media/image-24-14.png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jp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4.jpg"/><Relationship Id="rId14" Type="http://schemas.openxmlformats.org/officeDocument/2006/relationships/image" Target="../media/image-25-14.png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DA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"/>
          <p:cNvSpPr txBox="1"/>
          <p:nvPr/>
        </p:nvSpPr>
        <p:spPr>
          <a:xfrm>
            <a:off x="685800" y="640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Meov</a:t>
            </a:r>
            <a:endParaRPr lang="en-US" sz="4000" dirty="0"/>
          </a:p>
        </p:txBody>
      </p:sp>
      <p:sp>
        <p:nvSpPr>
          <p:cNvPr id="3" name="Cliente e serviço"/>
          <p:cNvSpPr txBox="1"/>
          <p:nvPr/>
        </p:nvSpPr>
        <p:spPr>
          <a:xfrm>
            <a:off x="7665415" y="685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Meov Marca Pessoal.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Serviço: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 &amp; Identidade Visual.</a:t>
            </a:r>
            <a:endParaRPr lang="en-US" sz="1300" dirty="0"/>
          </a:p>
        </p:txBody>
      </p:sp>
      <p:sp>
        <p:nvSpPr>
          <p:cNvPr id="4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"Apresentação"</a:t>
            </a:r>
            <a:endParaRPr lang="en-US" sz="4000" dirty="0"/>
          </a:p>
        </p:txBody>
      </p:sp>
      <p:sp>
        <p:nvSpPr>
          <p:cNvPr id="5" name="Contatos"/>
          <p:cNvSpPr txBox="1"/>
          <p:nvPr/>
        </p:nvSpPr>
        <p:spPr>
          <a:xfrm>
            <a:off x="685800" y="5943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meov.com.br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@meov.mp</a:t>
            </a:r>
            <a:endParaRPr lang="en-US" sz="1200" dirty="0"/>
          </a:p>
        </p:txBody>
      </p:sp>
      <p:sp>
        <p:nvSpPr>
          <p:cNvPr id="6" name="Ano"/>
          <p:cNvSpPr txBox="1"/>
          <p:nvPr/>
        </p:nvSpPr>
        <p:spPr>
          <a:xfrm>
            <a:off x="5181448" y="6172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1200" dirty="0"/>
          </a:p>
        </p:txBody>
      </p:sp>
      <p:pic>
        <p:nvPicPr>
          <p:cNvPr id="7" name="Símbo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157" y="5989320"/>
            <a:ext cx="88073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"/>
          <p:cNvSpPr txBox="1"/>
          <p:nvPr/>
        </p:nvSpPr>
        <p:spPr>
          <a:xfrm>
            <a:off x="685800" y="39319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Vamos conhecer o time que ajuda especialistas a </a:t>
            </a:r>
            <a:pPr indent="0" marL="0">
              <a:buNone/>
            </a:pPr>
            <a:r>
              <a:rPr lang="en-US" sz="4000" spc="-100" kern="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colocar a própria voz no mundo.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8580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12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</a:t>
            </a:r>
            <a:endParaRPr lang="en-US" sz="5400" dirty="0"/>
          </a:p>
        </p:txBody>
      </p:sp>
      <p:sp>
        <p:nvSpPr>
          <p:cNvPr id="3" name="Subtítulo"/>
          <p:cNvSpPr txBox="1"/>
          <p:nvPr/>
        </p:nvSpPr>
        <p:spPr>
          <a:xfrm>
            <a:off x="68580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Posicionamento, serviços e tom de voz.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" descr="Tex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4" name="Manifesto"/>
          <p:cNvSpPr txBox="1"/>
          <p:nvPr/>
        </p:nvSpPr>
        <p:spPr>
          <a:xfrm>
            <a:off x="685800" y="137160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spc="-8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Não somos uma agência de marketing. Somos um time que apoia técnica e emocionalmente quem decide colocar a própria voz no mundo.</a:t>
            </a:r>
            <a:endParaRPr lang="en-US" sz="3600" dirty="0"/>
          </a:p>
        </p:txBody>
      </p:sp>
      <p:sp>
        <p:nvSpPr>
          <p:cNvPr id="5" name="Complemento"/>
          <p:cNvSpPr txBox="1"/>
          <p:nvPr/>
        </p:nvSpPr>
        <p:spPr>
          <a:xfrm>
            <a:off x="68580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 estratégia à câmera e à gestão das redes, com acolhimento do começo ao fim.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QUE FAZEMOS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Três frentes, um mesmo time.</a:t>
            </a:r>
            <a:endParaRPr lang="en-US" sz="3400" dirty="0"/>
          </a:p>
        </p:txBody>
      </p:sp>
      <p:sp>
        <p:nvSpPr>
          <p:cNvPr id="4" name="Linha 1"/>
          <p:cNvSpPr/>
          <p:nvPr/>
        </p:nvSpPr>
        <p:spPr>
          <a:xfrm>
            <a:off x="685800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685800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Ponto 1"/>
          <p:cNvSpPr/>
          <p:nvPr/>
        </p:nvSpPr>
        <p:spPr>
          <a:xfrm>
            <a:off x="2103120" y="26060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rente 1"/>
          <p:cNvSpPr txBox="1"/>
          <p:nvPr/>
        </p:nvSpPr>
        <p:spPr>
          <a:xfrm>
            <a:off x="685800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</a:t>
            </a:r>
            <a:endParaRPr lang="en-US" sz="2600" dirty="0"/>
          </a:p>
        </p:txBody>
      </p:sp>
      <p:sp>
        <p:nvSpPr>
          <p:cNvPr id="8" name="Frente 1 texto"/>
          <p:cNvSpPr txBox="1"/>
          <p:nvPr/>
        </p:nvSpPr>
        <p:spPr>
          <a:xfrm>
            <a:off x="685800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Método Meov: diagnóstico, imersão presencial e um Brandbook que organiza quem você é, para quem fala e como se diferencia.</a:t>
            </a:r>
            <a:endParaRPr lang="en-US" sz="1400" dirty="0"/>
          </a:p>
        </p:txBody>
      </p:sp>
      <p:sp>
        <p:nvSpPr>
          <p:cNvPr id="9" name="Frente 1 tags"/>
          <p:cNvSpPr txBox="1"/>
          <p:nvPr/>
        </p:nvSpPr>
        <p:spPr>
          <a:xfrm>
            <a:off x="685800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MÉTODO MEOV · BRANDBOOK · 6 MESES</a:t>
            </a:r>
            <a:endParaRPr lang="en-US" sz="900" dirty="0"/>
          </a:p>
        </p:txBody>
      </p:sp>
      <p:sp>
        <p:nvSpPr>
          <p:cNvPr id="10" name="Linha 2"/>
          <p:cNvSpPr/>
          <p:nvPr/>
        </p:nvSpPr>
        <p:spPr>
          <a:xfrm>
            <a:off x="4383938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4383938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Ponto 2"/>
          <p:cNvSpPr/>
          <p:nvPr/>
        </p:nvSpPr>
        <p:spPr>
          <a:xfrm>
            <a:off x="5801258" y="260604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Frente 2"/>
          <p:cNvSpPr txBox="1"/>
          <p:nvPr/>
        </p:nvSpPr>
        <p:spPr>
          <a:xfrm>
            <a:off x="4383938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Audiovisual</a:t>
            </a:r>
            <a:endParaRPr lang="en-US" sz="2600" dirty="0"/>
          </a:p>
        </p:txBody>
      </p:sp>
      <p:sp>
        <p:nvSpPr>
          <p:cNvPr id="14" name="Frente 2 texto"/>
          <p:cNvSpPr txBox="1"/>
          <p:nvPr/>
        </p:nvSpPr>
        <p:spPr>
          <a:xfrm>
            <a:off x="4383938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Direção de imagem, ensaio, gravação e edição, em dias de gravação semanais, quinzenais ou mensais. O fino trato que nasceu com a Meov.</a:t>
            </a:r>
            <a:endParaRPr lang="en-US" sz="1400" dirty="0"/>
          </a:p>
        </p:txBody>
      </p:sp>
      <p:sp>
        <p:nvSpPr>
          <p:cNvPr id="15" name="Frente 2 tags"/>
          <p:cNvSpPr txBox="1"/>
          <p:nvPr/>
        </p:nvSpPr>
        <p:spPr>
          <a:xfrm>
            <a:off x="4383938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ENSAIO · VLOGCAST · REELS</a:t>
            </a:r>
            <a:endParaRPr lang="en-US" sz="900" dirty="0"/>
          </a:p>
        </p:txBody>
      </p:sp>
      <p:sp>
        <p:nvSpPr>
          <p:cNvPr id="16" name="Linha 3"/>
          <p:cNvSpPr/>
          <p:nvPr/>
        </p:nvSpPr>
        <p:spPr>
          <a:xfrm>
            <a:off x="8082077" y="2148840"/>
            <a:ext cx="3423818" cy="0"/>
          </a:xfrm>
          <a:prstGeom prst="line">
            <a:avLst/>
          </a:prstGeom>
          <a:noFill/>
          <a:ln w="9525">
            <a:solidFill>
              <a:srgbClr val="1C211E"/>
            </a:solidFill>
            <a:prstDash val="solid"/>
          </a:ln>
        </p:spPr>
      </p:sp>
      <p:sp>
        <p:nvSpPr>
          <p:cNvPr id="17" name="Número 3"/>
          <p:cNvSpPr txBox="1"/>
          <p:nvPr/>
        </p:nvSpPr>
        <p:spPr>
          <a:xfrm>
            <a:off x="8082077" y="2331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Ponto 3"/>
          <p:cNvSpPr/>
          <p:nvPr/>
        </p:nvSpPr>
        <p:spPr>
          <a:xfrm>
            <a:off x="9499397" y="260604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Frente 3"/>
          <p:cNvSpPr txBox="1"/>
          <p:nvPr/>
        </p:nvSpPr>
        <p:spPr>
          <a:xfrm>
            <a:off x="8082077" y="35204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Gestão das redes</a:t>
            </a:r>
            <a:endParaRPr lang="en-US" sz="2600" dirty="0"/>
          </a:p>
        </p:txBody>
      </p:sp>
      <p:sp>
        <p:nvSpPr>
          <p:cNvPr id="20" name="Frente 3 texto"/>
          <p:cNvSpPr txBox="1"/>
          <p:nvPr/>
        </p:nvSpPr>
        <p:spPr>
          <a:xfrm>
            <a:off x="8082077" y="4114800"/>
            <a:ext cx="3332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Instagram, LinkedIn e Site/LP com calendário, roteiros, legendas, design, publicação e relatórios. Você grava e aprova.</a:t>
            </a:r>
            <a:endParaRPr lang="en-US" sz="1400" dirty="0"/>
          </a:p>
        </p:txBody>
      </p:sp>
      <p:sp>
        <p:nvSpPr>
          <p:cNvPr id="21" name="Frente 3 tags"/>
          <p:cNvSpPr txBox="1"/>
          <p:nvPr/>
        </p:nvSpPr>
        <p:spPr>
          <a:xfrm>
            <a:off x="8082077" y="56235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INSTAGRAM · LINKEDIN · SITE/LP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" descr="Tex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ótulo públic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PARA QUEM</a:t>
            </a:r>
            <a:endParaRPr lang="en-US" sz="1000" dirty="0"/>
          </a:p>
        </p:txBody>
      </p:sp>
      <p:sp>
        <p:nvSpPr>
          <p:cNvPr id="4" name="Público"/>
          <p:cNvSpPr txBox="1"/>
          <p:nvPr/>
        </p:nvSpPr>
        <p:spPr>
          <a:xfrm>
            <a:off x="685800" y="1234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Empresários e especialistas que já são referência fora das redes e ainda não conseguiram se posicionar no digital.</a:t>
            </a:r>
            <a:endParaRPr lang="en-US" sz="2200" dirty="0"/>
          </a:p>
        </p:txBody>
      </p:sp>
      <p:sp>
        <p:nvSpPr>
          <p:cNvPr id="5" name="Rótulo princípios"/>
          <p:cNvSpPr txBox="1"/>
          <p:nvPr/>
        </p:nvSpPr>
        <p:spPr>
          <a:xfrm>
            <a:off x="685800" y="4206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6" name="Princípios"/>
          <p:cNvSpPr txBox="1"/>
          <p:nvPr/>
        </p:nvSpPr>
        <p:spPr>
          <a:xfrm>
            <a:off x="685800" y="4526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Raiz antes de vitrine.</a:t>
            </a:r>
            <a:endParaRPr lang="en-US" sz="3000" dirty="0"/>
          </a:p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Verdade acima de pose.</a:t>
            </a:r>
            <a:endParaRPr lang="en-US" sz="3000" dirty="0"/>
          </a:p>
          <a:p>
            <a:pPr indent="0" marL="0">
              <a:buNone/>
            </a:pPr>
            <a:r>
              <a:rPr lang="en-US" sz="30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Constância no lugar de inspiração.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TOM DE VOZ</a:t>
            </a:r>
            <a:endParaRPr lang="en-US" sz="1000" dirty="0"/>
          </a:p>
        </p:txBody>
      </p:sp>
      <p:sp>
        <p:nvSpPr>
          <p:cNvPr id="3" name="Tom"/>
          <p:cNvSpPr txBox="1"/>
          <p:nvPr/>
        </p:nvSpPr>
        <p:spPr>
          <a:xfrm>
            <a:off x="685800" y="12344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Acolhedores.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Claros.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Verdadeiros.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spc="-140" kern="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Nunca guru.</a:t>
            </a:r>
            <a:endParaRPr lang="en-US" sz="5200" dirty="0"/>
          </a:p>
        </p:txBody>
      </p:sp>
      <p:sp>
        <p:nvSpPr>
          <p:cNvPr id="4" name="Linha 1"/>
          <p:cNvSpPr/>
          <p:nvPr/>
        </p:nvSpPr>
        <p:spPr>
          <a:xfrm>
            <a:off x="6583680" y="132588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" name="Pilar 1"/>
          <p:cNvSpPr txBox="1"/>
          <p:nvPr/>
        </p:nvSpPr>
        <p:spPr>
          <a:xfrm>
            <a:off x="6583680" y="143560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Acolhedores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falamos com quem tem medo de se expor como quem entende esse medo.</a:t>
            </a:r>
            <a:endParaRPr lang="en-US" sz="1400" dirty="0"/>
          </a:p>
        </p:txBody>
      </p:sp>
      <p:sp>
        <p:nvSpPr>
          <p:cNvPr id="6" name="Linha 2"/>
          <p:cNvSpPr/>
          <p:nvPr/>
        </p:nvSpPr>
        <p:spPr>
          <a:xfrm>
            <a:off x="6583680" y="219456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7" name="Pilar 2"/>
          <p:cNvSpPr txBox="1"/>
          <p:nvPr/>
        </p:nvSpPr>
        <p:spPr>
          <a:xfrm>
            <a:off x="6583680" y="230428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Claros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frases curtas, palavras simples, nada de jargão de marketing.</a:t>
            </a:r>
            <a:endParaRPr lang="en-US" sz="1400" dirty="0"/>
          </a:p>
        </p:txBody>
      </p:sp>
      <p:sp>
        <p:nvSpPr>
          <p:cNvPr id="8" name="Linha 3"/>
          <p:cNvSpPr/>
          <p:nvPr/>
        </p:nvSpPr>
        <p:spPr>
          <a:xfrm>
            <a:off x="6583680" y="3063240"/>
            <a:ext cx="4922215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9" name="Pilar 3"/>
          <p:cNvSpPr txBox="1"/>
          <p:nvPr/>
        </p:nvSpPr>
        <p:spPr>
          <a:xfrm>
            <a:off x="6583680" y="3172968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Verdadeiros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nada de fórmula, promessa de viral ou personagem.</a:t>
            </a:r>
            <a:endParaRPr lang="en-US" sz="1400" dirty="0"/>
          </a:p>
        </p:txBody>
      </p:sp>
      <p:sp>
        <p:nvSpPr>
          <p:cNvPr id="10" name="Rótulo assim"/>
          <p:cNvSpPr txBox="1"/>
          <p:nvPr/>
        </p:nvSpPr>
        <p:spPr>
          <a:xfrm>
            <a:off x="6583680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4F7A4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ASSIM</a:t>
            </a:r>
            <a:endParaRPr lang="en-US" sz="1000" dirty="0"/>
          </a:p>
        </p:txBody>
      </p:sp>
      <p:sp>
        <p:nvSpPr>
          <p:cNvPr id="11" name="Assim"/>
          <p:cNvSpPr txBox="1"/>
          <p:nvPr/>
        </p:nvSpPr>
        <p:spPr>
          <a:xfrm>
            <a:off x="6583680" y="4343400"/>
            <a:ext cx="4922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Você já tem a voz. A gente ajuda você a colocá-la no mundo.</a:t>
            </a:r>
            <a:endParaRPr lang="en-US" sz="1800" dirty="0"/>
          </a:p>
        </p:txBody>
      </p:sp>
      <p:sp>
        <p:nvSpPr>
          <p:cNvPr id="12" name="Rótulo não assim"/>
          <p:cNvSpPr txBox="1"/>
          <p:nvPr/>
        </p:nvSpPr>
        <p:spPr>
          <a:xfrm>
            <a:off x="6583680" y="5166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B23A3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NÃO ASSIM</a:t>
            </a:r>
            <a:endParaRPr lang="en-US" sz="1000" dirty="0"/>
          </a:p>
        </p:txBody>
      </p:sp>
      <p:sp>
        <p:nvSpPr>
          <p:cNvPr id="13" name="Não assim"/>
          <p:cNvSpPr txBox="1"/>
          <p:nvPr/>
        </p:nvSpPr>
        <p:spPr>
          <a:xfrm>
            <a:off x="6583680" y="5440680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VIRALIZE EM 7 DIAS!  ·  o hack secreto para bombar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8580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12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Identidade Visual</a:t>
            </a:r>
            <a:endParaRPr lang="en-US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"Cores"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 1"/>
          <p:cNvSpPr/>
          <p:nvPr/>
        </p:nvSpPr>
        <p:spPr>
          <a:xfrm>
            <a:off x="0" y="0"/>
            <a:ext cx="6281928" cy="384048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" name="Cor 1 nome"/>
          <p:cNvSpPr txBox="1"/>
          <p:nvPr/>
        </p:nvSpPr>
        <p:spPr>
          <a:xfrm>
            <a:off x="365760" y="365760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Branco mineral</a:t>
            </a:r>
            <a:endParaRPr lang="en-US" sz="2400" dirty="0"/>
          </a:p>
        </p:txBody>
      </p:sp>
      <p:sp>
        <p:nvSpPr>
          <p:cNvPr id="4" name="Cor 1 hex"/>
          <p:cNvSpPr txBox="1"/>
          <p:nvPr/>
        </p:nvSpPr>
        <p:spPr>
          <a:xfrm>
            <a:off x="365760" y="77724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#FAF8F4</a:t>
            </a:r>
            <a:endParaRPr lang="en-US" sz="1100" dirty="0"/>
          </a:p>
        </p:txBody>
      </p:sp>
      <p:sp>
        <p:nvSpPr>
          <p:cNvPr id="5" name="Cor 1 proporção"/>
          <p:cNvSpPr txBox="1"/>
          <p:nvPr/>
        </p:nvSpPr>
        <p:spPr>
          <a:xfrm>
            <a:off x="365760" y="2697480"/>
            <a:ext cx="5733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34%</a:t>
            </a:r>
            <a:endParaRPr lang="en-US" sz="6000" dirty="0"/>
          </a:p>
        </p:txBody>
      </p:sp>
      <p:sp>
        <p:nvSpPr>
          <p:cNvPr id="6" name="Cor 2"/>
          <p:cNvSpPr/>
          <p:nvPr/>
        </p:nvSpPr>
        <p:spPr>
          <a:xfrm>
            <a:off x="6281928" y="0"/>
            <a:ext cx="5909767" cy="3840480"/>
          </a:xfrm>
          <a:prstGeom prst="rect">
            <a:avLst/>
          </a:prstGeom>
          <a:solidFill>
            <a:srgbClr val="D8DACD"/>
          </a:solidFill>
          <a:ln w="12700">
            <a:solidFill>
              <a:srgbClr val="D8DACD"/>
            </a:solidFill>
            <a:prstDash val="solid"/>
          </a:ln>
        </p:spPr>
      </p:sp>
      <p:sp>
        <p:nvSpPr>
          <p:cNvPr id="7" name="Cor 2 nome"/>
          <p:cNvSpPr txBox="1"/>
          <p:nvPr/>
        </p:nvSpPr>
        <p:spPr>
          <a:xfrm>
            <a:off x="6647688" y="365760"/>
            <a:ext cx="53611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Pedra líquen</a:t>
            </a:r>
            <a:endParaRPr lang="en-US" sz="2400" dirty="0"/>
          </a:p>
        </p:txBody>
      </p:sp>
      <p:sp>
        <p:nvSpPr>
          <p:cNvPr id="8" name="Cor 2 hex"/>
          <p:cNvSpPr txBox="1"/>
          <p:nvPr/>
        </p:nvSpPr>
        <p:spPr>
          <a:xfrm>
            <a:off x="6647688" y="777240"/>
            <a:ext cx="5361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#D8DACD</a:t>
            </a:r>
            <a:endParaRPr lang="en-US" sz="1100" dirty="0"/>
          </a:p>
        </p:txBody>
      </p:sp>
      <p:sp>
        <p:nvSpPr>
          <p:cNvPr id="9" name="Cor 2 proporção"/>
          <p:cNvSpPr txBox="1"/>
          <p:nvPr/>
        </p:nvSpPr>
        <p:spPr>
          <a:xfrm>
            <a:off x="6647688" y="2697480"/>
            <a:ext cx="53611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32%</a:t>
            </a:r>
            <a:endParaRPr lang="en-US" sz="6000" dirty="0"/>
          </a:p>
        </p:txBody>
      </p:sp>
      <p:sp>
        <p:nvSpPr>
          <p:cNvPr id="10" name="Cor 3"/>
          <p:cNvSpPr/>
          <p:nvPr/>
        </p:nvSpPr>
        <p:spPr>
          <a:xfrm>
            <a:off x="0" y="3840480"/>
            <a:ext cx="4754880" cy="301752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11" name="Cor 3 nome"/>
          <p:cNvSpPr txBox="1"/>
          <p:nvPr/>
        </p:nvSpPr>
        <p:spPr>
          <a:xfrm>
            <a:off x="36576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Preto musgo</a:t>
            </a:r>
            <a:endParaRPr lang="en-US" sz="1800" dirty="0"/>
          </a:p>
        </p:txBody>
      </p:sp>
      <p:sp>
        <p:nvSpPr>
          <p:cNvPr id="12" name="Cor 3 hex"/>
          <p:cNvSpPr txBox="1"/>
          <p:nvPr/>
        </p:nvSpPr>
        <p:spPr>
          <a:xfrm>
            <a:off x="36576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#1C211E</a:t>
            </a:r>
            <a:endParaRPr lang="en-US" sz="1100" dirty="0"/>
          </a:p>
        </p:txBody>
      </p:sp>
      <p:sp>
        <p:nvSpPr>
          <p:cNvPr id="13" name="Cor 3 proporção"/>
          <p:cNvSpPr txBox="1"/>
          <p:nvPr/>
        </p:nvSpPr>
        <p:spPr>
          <a:xfrm>
            <a:off x="365760" y="57150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27%</a:t>
            </a:r>
            <a:endParaRPr lang="en-US" sz="4400" dirty="0"/>
          </a:p>
        </p:txBody>
      </p:sp>
      <p:sp>
        <p:nvSpPr>
          <p:cNvPr id="14" name="Cor 4"/>
          <p:cNvSpPr/>
          <p:nvPr/>
        </p:nvSpPr>
        <p:spPr>
          <a:xfrm>
            <a:off x="4754880" y="3840480"/>
            <a:ext cx="3108960" cy="301752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sp>
        <p:nvSpPr>
          <p:cNvPr id="15" name="Cor 4 nome"/>
          <p:cNvSpPr txBox="1"/>
          <p:nvPr/>
        </p:nvSpPr>
        <p:spPr>
          <a:xfrm>
            <a:off x="512064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Cinza ardósia verde</a:t>
            </a:r>
            <a:endParaRPr lang="en-US" sz="1800" dirty="0"/>
          </a:p>
        </p:txBody>
      </p:sp>
      <p:sp>
        <p:nvSpPr>
          <p:cNvPr id="16" name="Cor 4 hex"/>
          <p:cNvSpPr txBox="1"/>
          <p:nvPr/>
        </p:nvSpPr>
        <p:spPr>
          <a:xfrm>
            <a:off x="512064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#59625A</a:t>
            </a:r>
            <a:endParaRPr lang="en-US" sz="1100" dirty="0"/>
          </a:p>
        </p:txBody>
      </p:sp>
      <p:sp>
        <p:nvSpPr>
          <p:cNvPr id="17" name="Cor 4 proporção"/>
          <p:cNvSpPr txBox="1"/>
          <p:nvPr/>
        </p:nvSpPr>
        <p:spPr>
          <a:xfrm>
            <a:off x="5120640" y="5715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6%</a:t>
            </a:r>
            <a:endParaRPr lang="en-US" sz="4400" dirty="0"/>
          </a:p>
        </p:txBody>
      </p:sp>
      <p:sp>
        <p:nvSpPr>
          <p:cNvPr id="18" name="Cor 5"/>
          <p:cNvSpPr/>
          <p:nvPr/>
        </p:nvSpPr>
        <p:spPr>
          <a:xfrm>
            <a:off x="7863840" y="3840480"/>
            <a:ext cx="2331720" cy="3017520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19" name="Cor 5 nome"/>
          <p:cNvSpPr txBox="1"/>
          <p:nvPr/>
        </p:nvSpPr>
        <p:spPr>
          <a:xfrm>
            <a:off x="8229600" y="4206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Verde vibrante</a:t>
            </a:r>
            <a:endParaRPr lang="en-US" sz="1800" dirty="0"/>
          </a:p>
        </p:txBody>
      </p:sp>
      <p:sp>
        <p:nvSpPr>
          <p:cNvPr id="20" name="Cor 5 hex"/>
          <p:cNvSpPr txBox="1"/>
          <p:nvPr/>
        </p:nvSpPr>
        <p:spPr>
          <a:xfrm>
            <a:off x="8229600" y="4617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#DBFF00</a:t>
            </a:r>
            <a:endParaRPr lang="en-US" sz="1100" dirty="0"/>
          </a:p>
        </p:txBody>
      </p:sp>
      <p:sp>
        <p:nvSpPr>
          <p:cNvPr id="21" name="Cor 5 proporção"/>
          <p:cNvSpPr txBox="1"/>
          <p:nvPr/>
        </p:nvSpPr>
        <p:spPr>
          <a:xfrm>
            <a:off x="8229600" y="5715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0,8%</a:t>
            </a:r>
            <a:endParaRPr lang="en-US" sz="4400" dirty="0"/>
          </a:p>
        </p:txBody>
      </p:sp>
      <p:sp>
        <p:nvSpPr>
          <p:cNvPr id="22" name="Cor 6"/>
          <p:cNvSpPr/>
          <p:nvPr/>
        </p:nvSpPr>
        <p:spPr>
          <a:xfrm>
            <a:off x="10195560" y="3840480"/>
            <a:ext cx="1996135" cy="3017520"/>
          </a:xfrm>
          <a:prstGeom prst="rect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sp>
        <p:nvSpPr>
          <p:cNvPr id="23" name="Cor 6 nome"/>
          <p:cNvSpPr txBox="1"/>
          <p:nvPr/>
        </p:nvSpPr>
        <p:spPr>
          <a:xfrm>
            <a:off x="10561320" y="4206240"/>
            <a:ext cx="1447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Rosa choque</a:t>
            </a:r>
            <a:endParaRPr lang="en-US" sz="1800" dirty="0"/>
          </a:p>
        </p:txBody>
      </p:sp>
      <p:sp>
        <p:nvSpPr>
          <p:cNvPr id="24" name="Cor 6 hex"/>
          <p:cNvSpPr txBox="1"/>
          <p:nvPr/>
        </p:nvSpPr>
        <p:spPr>
          <a:xfrm>
            <a:off x="10561320" y="4617720"/>
            <a:ext cx="1447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AF8F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#FF19B1</a:t>
            </a:r>
            <a:endParaRPr lang="en-US" sz="1100" dirty="0"/>
          </a:p>
        </p:txBody>
      </p:sp>
      <p:sp>
        <p:nvSpPr>
          <p:cNvPr id="25" name="Cor 6 proporção"/>
          <p:cNvSpPr txBox="1"/>
          <p:nvPr/>
        </p:nvSpPr>
        <p:spPr>
          <a:xfrm>
            <a:off x="10561320" y="5715000"/>
            <a:ext cx="1447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0,2%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xtura 1" descr="Textura Meov: degradê com granu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PORQUÊ DAS CORES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Muito respiro, dois pontos de energia.</a:t>
            </a:r>
            <a:endParaRPr lang="en-US" sz="3400" dirty="0"/>
          </a:p>
        </p:txBody>
      </p:sp>
      <p:sp>
        <p:nvSpPr>
          <p:cNvPr id="4" name="Amostra 1.1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FAF8F4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5" name="Amostra 1.2"/>
          <p:cNvSpPr/>
          <p:nvPr/>
        </p:nvSpPr>
        <p:spPr>
          <a:xfrm>
            <a:off x="1069848" y="2103120"/>
            <a:ext cx="640080" cy="640080"/>
          </a:xfrm>
          <a:prstGeom prst="ellipse">
            <a:avLst/>
          </a:prstGeom>
          <a:solidFill>
            <a:srgbClr val="D8DACD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6" name="Porquê 1 nome"/>
          <p:cNvSpPr txBox="1"/>
          <p:nvPr/>
        </p:nvSpPr>
        <p:spPr>
          <a:xfrm>
            <a:off x="1920240" y="2084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Branco mineral e pedra líquen</a:t>
            </a:r>
            <a:endParaRPr lang="en-US" sz="1700" dirty="0"/>
          </a:p>
        </p:txBody>
      </p:sp>
      <p:sp>
        <p:nvSpPr>
          <p:cNvPr id="7" name="Porquê 1 texto"/>
          <p:cNvSpPr txBox="1"/>
          <p:nvPr/>
        </p:nvSpPr>
        <p:spPr>
          <a:xfrm>
            <a:off x="1920240" y="2423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base clara e calma, que dá espaço para a pessoa aparecer.</a:t>
            </a:r>
            <a:endParaRPr lang="en-US" sz="1300" dirty="0"/>
          </a:p>
        </p:txBody>
      </p:sp>
      <p:sp>
        <p:nvSpPr>
          <p:cNvPr id="8" name="Amostra 2.1"/>
          <p:cNvSpPr/>
          <p:nvPr/>
        </p:nvSpPr>
        <p:spPr>
          <a:xfrm>
            <a:off x="685800" y="3017520"/>
            <a:ext cx="640080" cy="640080"/>
          </a:xfrm>
          <a:prstGeom prst="ellipse">
            <a:avLst/>
          </a:prstGeom>
          <a:solidFill>
            <a:srgbClr val="1C211E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9" name="Amostra 2.2"/>
          <p:cNvSpPr/>
          <p:nvPr/>
        </p:nvSpPr>
        <p:spPr>
          <a:xfrm>
            <a:off x="1069848" y="3017520"/>
            <a:ext cx="640080" cy="640080"/>
          </a:xfrm>
          <a:prstGeom prst="ellipse">
            <a:avLst/>
          </a:prstGeom>
          <a:solidFill>
            <a:srgbClr val="59625A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0" name="Porquê 2 nome"/>
          <p:cNvSpPr txBox="1"/>
          <p:nvPr/>
        </p:nvSpPr>
        <p:spPr>
          <a:xfrm>
            <a:off x="1920240" y="2999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Preto musgo e ardósia</a:t>
            </a:r>
            <a:endParaRPr lang="en-US" sz="1700" dirty="0"/>
          </a:p>
        </p:txBody>
      </p:sp>
      <p:sp>
        <p:nvSpPr>
          <p:cNvPr id="11" name="Porquê 2 texto"/>
          <p:cNvSpPr txBox="1"/>
          <p:nvPr/>
        </p:nvSpPr>
        <p:spPr>
          <a:xfrm>
            <a:off x="19202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Profundidade e elegância, nos textos e nas texturas.</a:t>
            </a:r>
            <a:endParaRPr lang="en-US" sz="1300" dirty="0"/>
          </a:p>
        </p:txBody>
      </p:sp>
      <p:sp>
        <p:nvSpPr>
          <p:cNvPr id="12" name="Amostra 3.1"/>
          <p:cNvSpPr/>
          <p:nvPr/>
        </p:nvSpPr>
        <p:spPr>
          <a:xfrm>
            <a:off x="685800" y="3931920"/>
            <a:ext cx="640080" cy="640080"/>
          </a:xfrm>
          <a:prstGeom prst="ellipse">
            <a:avLst/>
          </a:prstGeom>
          <a:solidFill>
            <a:srgbClr val="DBFF00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3" name="Porquê 3 nome"/>
          <p:cNvSpPr txBox="1"/>
          <p:nvPr/>
        </p:nvSpPr>
        <p:spPr>
          <a:xfrm>
            <a:off x="1920240" y="39136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Verde vibrante</a:t>
            </a:r>
            <a:endParaRPr lang="en-US" sz="1700" dirty="0"/>
          </a:p>
        </p:txBody>
      </p:sp>
      <p:sp>
        <p:nvSpPr>
          <p:cNvPr id="14" name="Porquê 3 texto"/>
          <p:cNvSpPr txBox="1"/>
          <p:nvPr/>
        </p:nvSpPr>
        <p:spPr>
          <a:xfrm>
            <a:off x="19202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energia do movimento e da constância.</a:t>
            </a:r>
            <a:endParaRPr lang="en-US" sz="1300" dirty="0"/>
          </a:p>
        </p:txBody>
      </p:sp>
      <p:sp>
        <p:nvSpPr>
          <p:cNvPr id="15" name="Amostra 4.1"/>
          <p:cNvSpPr/>
          <p:nvPr/>
        </p:nvSpPr>
        <p:spPr>
          <a:xfrm>
            <a:off x="685800" y="4846320"/>
            <a:ext cx="640080" cy="640080"/>
          </a:xfrm>
          <a:prstGeom prst="ellipse">
            <a:avLst/>
          </a:prstGeom>
          <a:solidFill>
            <a:srgbClr val="FF19B1"/>
          </a:solidFill>
          <a:ln w="9525">
            <a:solidFill>
              <a:srgbClr val="59625A"/>
            </a:solidFill>
            <a:prstDash val="solid"/>
          </a:ln>
        </p:spPr>
      </p:sp>
      <p:sp>
        <p:nvSpPr>
          <p:cNvPr id="16" name="Porquê 4 nome"/>
          <p:cNvSpPr txBox="1"/>
          <p:nvPr/>
        </p:nvSpPr>
        <p:spPr>
          <a:xfrm>
            <a:off x="1920240" y="4828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Rosa choque</a:t>
            </a:r>
            <a:endParaRPr lang="en-US" sz="1700" dirty="0"/>
          </a:p>
        </p:txBody>
      </p:sp>
      <p:sp>
        <p:nvSpPr>
          <p:cNvPr id="17" name="Porquê 4 texto"/>
          <p:cNvSpPr txBox="1"/>
          <p:nvPr/>
        </p:nvSpPr>
        <p:spPr>
          <a:xfrm>
            <a:off x="192024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emoção e o acolhimento: o coração que pulsa no símbolo.</a:t>
            </a:r>
            <a:endParaRPr lang="en-US" sz="1300" dirty="0"/>
          </a:p>
        </p:txBody>
      </p:sp>
      <p:sp>
        <p:nvSpPr>
          <p:cNvPr id="18" name="Círculo verde"/>
          <p:cNvSpPr/>
          <p:nvPr/>
        </p:nvSpPr>
        <p:spPr>
          <a:xfrm>
            <a:off x="7863840" y="237744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Mais"/>
          <p:cNvSpPr txBox="1"/>
          <p:nvPr/>
        </p:nvSpPr>
        <p:spPr>
          <a:xfrm>
            <a:off x="9281160" y="2697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Círculo rosa"/>
          <p:cNvSpPr/>
          <p:nvPr/>
        </p:nvSpPr>
        <p:spPr>
          <a:xfrm>
            <a:off x="9921240" y="2743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oma"/>
          <p:cNvSpPr txBox="1"/>
          <p:nvPr/>
        </p:nvSpPr>
        <p:spPr>
          <a:xfrm>
            <a:off x="78638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Meov é a soma dos dois.</a:t>
            </a:r>
            <a:endParaRPr lang="en-US" sz="2200" dirty="0"/>
          </a:p>
        </p:txBody>
      </p:sp>
      <p:sp>
        <p:nvSpPr>
          <p:cNvPr id="22" name="Soma texto"/>
          <p:cNvSpPr txBox="1"/>
          <p:nvPr/>
        </p:nvSpPr>
        <p:spPr>
          <a:xfrm>
            <a:off x="7863840" y="4572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verde dá energia e ritmo. O rosa aparece só no detalhe que acolhe e emociona, sobre o branco e os tons de cinza.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"Tipografia"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0" y="1828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TEXTOS</a:t>
            </a:r>
            <a:endParaRPr lang="en-US" sz="1100" dirty="0"/>
          </a:p>
        </p:txBody>
      </p:sp>
      <p:sp>
        <p:nvSpPr>
          <p:cNvPr id="3" name="Fontes"/>
          <p:cNvSpPr txBox="1"/>
          <p:nvPr/>
        </p:nvSpPr>
        <p:spPr>
          <a:xfrm>
            <a:off x="0" y="2331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Manrope</a:t>
            </a:r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+ </a:t>
            </a:r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Mono</a:t>
            </a:r>
            <a:endParaRPr lang="en-US" sz="3400" dirty="0"/>
          </a:p>
        </p:txBody>
      </p:sp>
      <p:sp>
        <p:nvSpPr>
          <p:cNvPr id="4" name="Alfabeto"/>
          <p:cNvSpPr txBox="1"/>
          <p:nvPr/>
        </p:nvSpPr>
        <p:spPr>
          <a:xfrm>
            <a:off x="0" y="31546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ABCD abcd</a:t>
            </a:r>
            <a:endParaRPr lang="en-US" sz="3800" dirty="0"/>
          </a:p>
        </p:txBody>
      </p:sp>
      <p:sp>
        <p:nvSpPr>
          <p:cNvPr id="5" name="Números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01234@#$%&amp;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TIPOGRAFIA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Duas famílias. </a:t>
            </a:r>
            <a:pPr algn="l" indent="0" marL="0">
              <a:buNone/>
            </a:pPr>
            <a:r>
              <a:rPr lang="en-US" sz="3400" spc="-60" kern="0" dirty="0">
                <a:solidFill>
                  <a:schemeClr val="tx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Uma voz.</a:t>
            </a:r>
            <a:endParaRPr lang="en-US" sz="3400" dirty="0"/>
          </a:p>
        </p:txBody>
      </p:sp>
      <p:sp>
        <p:nvSpPr>
          <p:cNvPr id="4" name="Cartão Manrope"/>
          <p:cNvSpPr/>
          <p:nvPr/>
        </p:nvSpPr>
        <p:spPr>
          <a:xfrm>
            <a:off x="685800" y="2011680"/>
            <a:ext cx="5272888" cy="40233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ótulo Manrope"/>
          <p:cNvSpPr txBox="1"/>
          <p:nvPr/>
        </p:nvSpPr>
        <p:spPr>
          <a:xfrm>
            <a:off x="1097280" y="2331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TÍTULOS E TEXTOS</a:t>
            </a:r>
            <a:endParaRPr lang="en-US" sz="1000" dirty="0"/>
          </a:p>
        </p:txBody>
      </p:sp>
      <p:sp>
        <p:nvSpPr>
          <p:cNvPr id="6" name="Aa Manrope"/>
          <p:cNvSpPr txBox="1"/>
          <p:nvPr/>
        </p:nvSpPr>
        <p:spPr>
          <a:xfrm>
            <a:off x="109728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Aa</a:t>
            </a:r>
            <a:endParaRPr lang="en-US" sz="8000" dirty="0"/>
          </a:p>
        </p:txBody>
      </p:sp>
      <p:sp>
        <p:nvSpPr>
          <p:cNvPr id="7" name="Nome Manrope"/>
          <p:cNvSpPr txBox="1"/>
          <p:nvPr/>
        </p:nvSpPr>
        <p:spPr>
          <a:xfrm>
            <a:off x="109728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Manrope</a:t>
            </a:r>
            <a:endParaRPr lang="en-US" sz="2600" dirty="0"/>
          </a:p>
        </p:txBody>
      </p:sp>
      <p:sp>
        <p:nvSpPr>
          <p:cNvPr id="8" name="Porquê Manrope"/>
          <p:cNvSpPr txBox="1"/>
          <p:nvPr/>
        </p:nvSpPr>
        <p:spPr>
          <a:xfrm>
            <a:off x="1097280" y="466344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Acolhedora e moderna. Leve nos títulos, porque o destaque vem do espaço, não do negrito.</a:t>
            </a:r>
            <a:endParaRPr lang="en-US" sz="1300" dirty="0"/>
          </a:p>
        </p:txBody>
      </p:sp>
      <p:sp>
        <p:nvSpPr>
          <p:cNvPr id="9" name="Pesos Manrope"/>
          <p:cNvSpPr txBox="1"/>
          <p:nvPr/>
        </p:nvSpPr>
        <p:spPr>
          <a:xfrm>
            <a:off x="1097280" y="562356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LIGHT 300 · REGULAR 400 · MEDIUM 500 · SEMIBOLD 600</a:t>
            </a:r>
            <a:endParaRPr lang="en-US" sz="900" dirty="0"/>
          </a:p>
        </p:txBody>
      </p:sp>
      <p:sp>
        <p:nvSpPr>
          <p:cNvPr id="10" name="Cartão Geist"/>
          <p:cNvSpPr/>
          <p:nvPr/>
        </p:nvSpPr>
        <p:spPr>
          <a:xfrm>
            <a:off x="6233008" y="2011680"/>
            <a:ext cx="5272888" cy="40233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Rótulo Geist"/>
          <p:cNvSpPr txBox="1"/>
          <p:nvPr/>
        </p:nvSpPr>
        <p:spPr>
          <a:xfrm>
            <a:off x="6644488" y="2331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DADOS E RÓTULOS</a:t>
            </a:r>
            <a:endParaRPr lang="en-US" sz="1000" dirty="0"/>
          </a:p>
        </p:txBody>
      </p:sp>
      <p:sp>
        <p:nvSpPr>
          <p:cNvPr id="12" name="Aa Geist"/>
          <p:cNvSpPr txBox="1"/>
          <p:nvPr/>
        </p:nvSpPr>
        <p:spPr>
          <a:xfrm>
            <a:off x="6644488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Aa</a:t>
            </a:r>
            <a:endParaRPr lang="en-US" sz="7200" dirty="0"/>
          </a:p>
        </p:txBody>
      </p:sp>
      <p:sp>
        <p:nvSpPr>
          <p:cNvPr id="13" name="Nome Geist"/>
          <p:cNvSpPr txBox="1"/>
          <p:nvPr/>
        </p:nvSpPr>
        <p:spPr>
          <a:xfrm>
            <a:off x="6644488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Mono</a:t>
            </a:r>
            <a:endParaRPr lang="en-US" sz="2400" dirty="0"/>
          </a:p>
        </p:txBody>
      </p:sp>
      <p:sp>
        <p:nvSpPr>
          <p:cNvPr id="14" name="Porquê Geist"/>
          <p:cNvSpPr txBox="1"/>
          <p:nvPr/>
        </p:nvSpPr>
        <p:spPr>
          <a:xfrm>
            <a:off x="6644488" y="4663440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Precisa e técnica. Só em números, valores, datas, @, sites e selos.</a:t>
            </a:r>
            <a:endParaRPr lang="en-US" sz="1300" dirty="0"/>
          </a:p>
        </p:txBody>
      </p:sp>
      <p:sp>
        <p:nvSpPr>
          <p:cNvPr id="15" name="Pesos Geist"/>
          <p:cNvSpPr txBox="1"/>
          <p:nvPr/>
        </p:nvSpPr>
        <p:spPr>
          <a:xfrm>
            <a:off x="6644488" y="5623560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550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"Logotipo"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lha do logotipo" descr="Malha de construção do logotipo me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"Símbolo"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lha do símbolo" descr="Malha de construção do símb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ceito do símbolo" descr="Símbolo sobre linha de batimento: m + v + o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PORQUÊ DO SÍMBOLO</a:t>
            </a:r>
            <a:endParaRPr lang="en-US" sz="1000" dirty="0"/>
          </a:p>
        </p:txBody>
      </p:sp>
      <p:sp>
        <p:nvSpPr>
          <p:cNvPr id="3" name="Título"/>
          <p:cNvSpPr txBox="1"/>
          <p:nvPr/>
        </p:nvSpPr>
        <p:spPr>
          <a:xfrm>
            <a:off x="68580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Uma marca que pulsa.</a:t>
            </a:r>
            <a:endParaRPr lang="en-US" sz="4000" dirty="0"/>
          </a:p>
        </p:txBody>
      </p:sp>
      <p:sp>
        <p:nvSpPr>
          <p:cNvPr id="4" name="Texto"/>
          <p:cNvSpPr txBox="1"/>
          <p:nvPr/>
        </p:nvSpPr>
        <p:spPr>
          <a:xfrm>
            <a:off x="685800" y="23774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símbolo une o m e o v de "meov" a uma linha de batimento cardíaco: experiências que fazem o coração pulsar.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Meov Marca Pessoal, a mesma linha é também a onda sonora da voz de cada cliente e o ritmo da presença constante nas redes.</a:t>
            </a:r>
            <a:endParaRPr lang="en-US" sz="1700" dirty="0"/>
          </a:p>
        </p:txBody>
      </p:sp>
      <p:sp>
        <p:nvSpPr>
          <p:cNvPr id="5" name="Assinatura"/>
          <p:cNvSpPr txBox="1"/>
          <p:nvPr/>
        </p:nvSpPr>
        <p:spPr>
          <a:xfrm>
            <a:off x="68580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Sua voz, no ritmo certo.</a:t>
            </a:r>
            <a:endParaRPr lang="en-US" sz="2600" dirty="0"/>
          </a:p>
        </p:txBody>
      </p:sp>
      <p:pic>
        <p:nvPicPr>
          <p:cNvPr id="6" name="Símbo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651760"/>
            <a:ext cx="398429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"Resultado"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10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027" y="2717162"/>
            <a:ext cx="4023360" cy="1057916"/>
          </a:xfrm>
          <a:prstGeom prst="rect">
            <a:avLst/>
          </a:prstGeom>
        </p:spPr>
      </p:pic>
      <p:pic>
        <p:nvPicPr>
          <p:cNvPr id="3" name="Símbol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47" y="2717162"/>
            <a:ext cx="2426121" cy="1057916"/>
          </a:xfrm>
          <a:prstGeom prst="rect">
            <a:avLst/>
          </a:prstGeom>
        </p:spPr>
      </p:pic>
      <p:sp>
        <p:nvSpPr>
          <p:cNvPr id="4" name="Régua logo"/>
          <p:cNvSpPr/>
          <p:nvPr/>
        </p:nvSpPr>
        <p:spPr>
          <a:xfrm>
            <a:off x="2231027" y="4095118"/>
            <a:ext cx="4023360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" name="Régua símbolo"/>
          <p:cNvSpPr/>
          <p:nvPr/>
        </p:nvSpPr>
        <p:spPr>
          <a:xfrm>
            <a:off x="7534547" y="4095118"/>
            <a:ext cx="2426121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6" name="Medida logo"/>
          <p:cNvSpPr txBox="1"/>
          <p:nvPr/>
        </p:nvSpPr>
        <p:spPr>
          <a:xfrm>
            <a:off x="2231027" y="423227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7" name="Medida símbolo"/>
          <p:cNvSpPr txBox="1"/>
          <p:nvPr/>
        </p:nvSpPr>
        <p:spPr>
          <a:xfrm>
            <a:off x="7534547" y="4232278"/>
            <a:ext cx="24261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25%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DA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VARIAÇÕES</a:t>
            </a:r>
            <a:endParaRPr lang="en-US" sz="1000" dirty="0"/>
          </a:p>
        </p:txBody>
      </p:sp>
      <p:sp>
        <p:nvSpPr>
          <p:cNvPr id="3" name="Título"/>
          <p:cNvSpPr txBox="1"/>
          <p:nvPr/>
        </p:nvSpPr>
        <p:spPr>
          <a:xfrm>
            <a:off x="68580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Logotipo</a:t>
            </a:r>
            <a:endParaRPr lang="en-US" sz="3000" dirty="0"/>
          </a:p>
        </p:txBody>
      </p:sp>
      <p:sp>
        <p:nvSpPr>
          <p:cNvPr id="4" name="Medida"/>
          <p:cNvSpPr txBox="1"/>
          <p:nvPr/>
        </p:nvSpPr>
        <p:spPr>
          <a:xfrm>
            <a:off x="6858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100%</a:t>
            </a:r>
            <a:endParaRPr lang="en-US" sz="1400" dirty="0"/>
          </a:p>
        </p:txBody>
      </p:sp>
      <p:sp>
        <p:nvSpPr>
          <p:cNvPr id="5" name="Nota"/>
          <p:cNvSpPr txBox="1"/>
          <p:nvPr/>
        </p:nvSpPr>
        <p:spPr>
          <a:xfrm>
            <a:off x="685800" y="4937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Sobre os fundos da paleta e a textura Meov. Verde e rosa como cor da marca ou do fundo, sempre com contraste.</a:t>
            </a:r>
            <a:endParaRPr lang="en-US" sz="1100" dirty="0"/>
          </a:p>
        </p:txBody>
      </p:sp>
      <p:sp>
        <p:nvSpPr>
          <p:cNvPr id="6" name="Fundo 1"/>
          <p:cNvSpPr/>
          <p:nvPr/>
        </p:nvSpPr>
        <p:spPr>
          <a:xfrm>
            <a:off x="343631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7" name="logotip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499" y="1096227"/>
            <a:ext cx="1399032" cy="367866"/>
          </a:xfrm>
          <a:prstGeom prst="rect">
            <a:avLst/>
          </a:prstGeom>
        </p:spPr>
      </p:pic>
      <p:sp>
        <p:nvSpPr>
          <p:cNvPr id="8" name="Fundo 2"/>
          <p:cNvSpPr/>
          <p:nvPr/>
        </p:nvSpPr>
        <p:spPr>
          <a:xfrm>
            <a:off x="558515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9" name="logotip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39" y="1096227"/>
            <a:ext cx="1399032" cy="367866"/>
          </a:xfrm>
          <a:prstGeom prst="rect">
            <a:avLst/>
          </a:prstGeom>
        </p:spPr>
      </p:pic>
      <p:sp>
        <p:nvSpPr>
          <p:cNvPr id="10" name="Fundo 3"/>
          <p:cNvSpPr/>
          <p:nvPr/>
        </p:nvSpPr>
        <p:spPr>
          <a:xfrm>
            <a:off x="773399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11" name="logotip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79" y="1096227"/>
            <a:ext cx="1399032" cy="367866"/>
          </a:xfrm>
          <a:prstGeom prst="rect">
            <a:avLst/>
          </a:prstGeom>
        </p:spPr>
      </p:pic>
      <p:pic>
        <p:nvPicPr>
          <p:cNvPr id="12" name="Fundo 4" descr="/home/user/Meov---MKT-Pessoal/brand/meov/apresentacao/gerador/img/aplicacoes/pagina-0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82835" y="251460"/>
            <a:ext cx="2057400" cy="2057400"/>
          </a:xfrm>
          <a:prstGeom prst="rect">
            <a:avLst/>
          </a:prstGeom>
        </p:spPr>
      </p:pic>
      <p:pic>
        <p:nvPicPr>
          <p:cNvPr id="13" name="logotipo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019" y="1096227"/>
            <a:ext cx="1399032" cy="367866"/>
          </a:xfrm>
          <a:prstGeom prst="rect">
            <a:avLst/>
          </a:prstGeom>
        </p:spPr>
      </p:pic>
      <p:sp>
        <p:nvSpPr>
          <p:cNvPr id="14" name="Fundo 5"/>
          <p:cNvSpPr/>
          <p:nvPr/>
        </p:nvSpPr>
        <p:spPr>
          <a:xfrm>
            <a:off x="3436315" y="2400300"/>
            <a:ext cx="2057400" cy="2057400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pic>
        <p:nvPicPr>
          <p:cNvPr id="15" name="logotipo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499" y="3245067"/>
            <a:ext cx="1399032" cy="367866"/>
          </a:xfrm>
          <a:prstGeom prst="rect">
            <a:avLst/>
          </a:prstGeom>
        </p:spPr>
      </p:pic>
      <p:sp>
        <p:nvSpPr>
          <p:cNvPr id="16" name="Fundo 6"/>
          <p:cNvSpPr/>
          <p:nvPr/>
        </p:nvSpPr>
        <p:spPr>
          <a:xfrm>
            <a:off x="5585155" y="2400300"/>
            <a:ext cx="2057400" cy="2057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pic>
        <p:nvPicPr>
          <p:cNvPr id="17" name="logotipo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4339" y="3245067"/>
            <a:ext cx="1399032" cy="367866"/>
          </a:xfrm>
          <a:prstGeom prst="rect">
            <a:avLst/>
          </a:prstGeom>
        </p:spPr>
      </p:pic>
      <p:sp>
        <p:nvSpPr>
          <p:cNvPr id="18" name="Fundo 7"/>
          <p:cNvSpPr/>
          <p:nvPr/>
        </p:nvSpPr>
        <p:spPr>
          <a:xfrm>
            <a:off x="7733995" y="2400300"/>
            <a:ext cx="2057400" cy="2057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pic>
        <p:nvPicPr>
          <p:cNvPr id="19" name="logotipo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3179" y="3245067"/>
            <a:ext cx="1399032" cy="367866"/>
          </a:xfrm>
          <a:prstGeom prst="rect">
            <a:avLst/>
          </a:prstGeom>
        </p:spPr>
      </p:pic>
      <p:sp>
        <p:nvSpPr>
          <p:cNvPr id="20" name="Fundo 8"/>
          <p:cNvSpPr/>
          <p:nvPr/>
        </p:nvSpPr>
        <p:spPr>
          <a:xfrm>
            <a:off x="9882835" y="2400300"/>
            <a:ext cx="2057400" cy="205740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pic>
        <p:nvPicPr>
          <p:cNvPr id="21" name="logotipo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2019" y="3245067"/>
            <a:ext cx="1399032" cy="367866"/>
          </a:xfrm>
          <a:prstGeom prst="rect">
            <a:avLst/>
          </a:prstGeom>
        </p:spPr>
      </p:pic>
      <p:sp>
        <p:nvSpPr>
          <p:cNvPr id="22" name="Fundo 9"/>
          <p:cNvSpPr/>
          <p:nvPr/>
        </p:nvSpPr>
        <p:spPr>
          <a:xfrm>
            <a:off x="3436315" y="4549140"/>
            <a:ext cx="2057400" cy="2057400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pic>
        <p:nvPicPr>
          <p:cNvPr id="23" name="logotipo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5499" y="5393907"/>
            <a:ext cx="1399032" cy="367866"/>
          </a:xfrm>
          <a:prstGeom prst="rect">
            <a:avLst/>
          </a:prstGeom>
        </p:spPr>
      </p:pic>
      <p:sp>
        <p:nvSpPr>
          <p:cNvPr id="24" name="Fundo 10"/>
          <p:cNvSpPr/>
          <p:nvPr/>
        </p:nvSpPr>
        <p:spPr>
          <a:xfrm>
            <a:off x="5585155" y="4549140"/>
            <a:ext cx="2057400" cy="2057400"/>
          </a:xfrm>
          <a:prstGeom prst="rect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pic>
        <p:nvPicPr>
          <p:cNvPr id="25" name="logotipo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339" y="5393907"/>
            <a:ext cx="1399032" cy="367866"/>
          </a:xfrm>
          <a:prstGeom prst="rect">
            <a:avLst/>
          </a:prstGeom>
        </p:spPr>
      </p:pic>
      <p:sp>
        <p:nvSpPr>
          <p:cNvPr id="26" name="Fundo 11"/>
          <p:cNvSpPr/>
          <p:nvPr/>
        </p:nvSpPr>
        <p:spPr>
          <a:xfrm>
            <a:off x="7733995" y="4549140"/>
            <a:ext cx="2057400" cy="205740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pic>
        <p:nvPicPr>
          <p:cNvPr id="27" name="logotipo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3179" y="5393907"/>
            <a:ext cx="1399032" cy="367866"/>
          </a:xfrm>
          <a:prstGeom prst="rect">
            <a:avLst/>
          </a:prstGeom>
        </p:spPr>
      </p:pic>
      <p:pic>
        <p:nvPicPr>
          <p:cNvPr id="28" name="Fundo 12" descr="/home/user/Meov---MKT-Pessoal/brand/meov/apresentacao/gerador/img/aplicacoes/pagina-06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882835" y="4549140"/>
            <a:ext cx="2057400" cy="2057400"/>
          </a:xfrm>
          <a:prstGeom prst="rect">
            <a:avLst/>
          </a:prstGeom>
        </p:spPr>
      </p:pic>
      <p:pic>
        <p:nvPicPr>
          <p:cNvPr id="29" name="logotipo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12019" y="5393907"/>
            <a:ext cx="1399032" cy="36786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DA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685800" y="868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VARIAÇÕES</a:t>
            </a:r>
            <a:endParaRPr lang="en-US" sz="1000" dirty="0"/>
          </a:p>
        </p:txBody>
      </p:sp>
      <p:sp>
        <p:nvSpPr>
          <p:cNvPr id="3" name="Título"/>
          <p:cNvSpPr txBox="1"/>
          <p:nvPr/>
        </p:nvSpPr>
        <p:spPr>
          <a:xfrm>
            <a:off x="68580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Símbolo</a:t>
            </a:r>
            <a:endParaRPr lang="en-US" sz="3000" dirty="0"/>
          </a:p>
        </p:txBody>
      </p:sp>
      <p:sp>
        <p:nvSpPr>
          <p:cNvPr id="4" name="Medida"/>
          <p:cNvSpPr txBox="1"/>
          <p:nvPr/>
        </p:nvSpPr>
        <p:spPr>
          <a:xfrm>
            <a:off x="6858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25%</a:t>
            </a:r>
            <a:endParaRPr lang="en-US" sz="1400" dirty="0"/>
          </a:p>
        </p:txBody>
      </p:sp>
      <p:sp>
        <p:nvSpPr>
          <p:cNvPr id="5" name="Nota"/>
          <p:cNvSpPr txBox="1"/>
          <p:nvPr/>
        </p:nvSpPr>
        <p:spPr>
          <a:xfrm>
            <a:off x="685800" y="4937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Sobre os fundos da paleta e a textura Meov. Verde e rosa como cor da marca ou do fundo, sempre com contraste.</a:t>
            </a:r>
            <a:endParaRPr lang="en-US" sz="1100" dirty="0"/>
          </a:p>
        </p:txBody>
      </p:sp>
      <p:sp>
        <p:nvSpPr>
          <p:cNvPr id="6" name="Fundo 1"/>
          <p:cNvSpPr/>
          <p:nvPr/>
        </p:nvSpPr>
        <p:spPr>
          <a:xfrm>
            <a:off x="343631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7" name="símbol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961" y="1091762"/>
            <a:ext cx="864108" cy="376796"/>
          </a:xfrm>
          <a:prstGeom prst="rect">
            <a:avLst/>
          </a:prstGeom>
        </p:spPr>
      </p:pic>
      <p:sp>
        <p:nvSpPr>
          <p:cNvPr id="8" name="Fundo 2"/>
          <p:cNvSpPr/>
          <p:nvPr/>
        </p:nvSpPr>
        <p:spPr>
          <a:xfrm>
            <a:off x="558515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9" name="símbol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01" y="1091762"/>
            <a:ext cx="864108" cy="376796"/>
          </a:xfrm>
          <a:prstGeom prst="rect">
            <a:avLst/>
          </a:prstGeom>
        </p:spPr>
      </p:pic>
      <p:sp>
        <p:nvSpPr>
          <p:cNvPr id="10" name="Fundo 3"/>
          <p:cNvSpPr/>
          <p:nvPr/>
        </p:nvSpPr>
        <p:spPr>
          <a:xfrm>
            <a:off x="7733995" y="251460"/>
            <a:ext cx="2057400" cy="2057400"/>
          </a:xfrm>
          <a:prstGeom prst="rect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pic>
        <p:nvPicPr>
          <p:cNvPr id="11" name="símbol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641" y="1091762"/>
            <a:ext cx="864108" cy="376796"/>
          </a:xfrm>
          <a:prstGeom prst="rect">
            <a:avLst/>
          </a:prstGeom>
        </p:spPr>
      </p:pic>
      <p:pic>
        <p:nvPicPr>
          <p:cNvPr id="12" name="Fundo 4" descr="/home/user/Meov---MKT-Pessoal/brand/meov/apresentacao/gerador/img/aplicacoes/pagina-0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82835" y="251460"/>
            <a:ext cx="2057400" cy="2057400"/>
          </a:xfrm>
          <a:prstGeom prst="rect">
            <a:avLst/>
          </a:prstGeom>
        </p:spPr>
      </p:pic>
      <p:pic>
        <p:nvPicPr>
          <p:cNvPr id="13" name="símbolo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481" y="1091762"/>
            <a:ext cx="864108" cy="376796"/>
          </a:xfrm>
          <a:prstGeom prst="rect">
            <a:avLst/>
          </a:prstGeom>
        </p:spPr>
      </p:pic>
      <p:sp>
        <p:nvSpPr>
          <p:cNvPr id="14" name="Fundo 5"/>
          <p:cNvSpPr/>
          <p:nvPr/>
        </p:nvSpPr>
        <p:spPr>
          <a:xfrm>
            <a:off x="3436315" y="2400300"/>
            <a:ext cx="2057400" cy="2057400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pic>
        <p:nvPicPr>
          <p:cNvPr id="15" name="símbolo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961" y="3240602"/>
            <a:ext cx="864108" cy="376796"/>
          </a:xfrm>
          <a:prstGeom prst="rect">
            <a:avLst/>
          </a:prstGeom>
        </p:spPr>
      </p:pic>
      <p:sp>
        <p:nvSpPr>
          <p:cNvPr id="16" name="Fundo 6"/>
          <p:cNvSpPr/>
          <p:nvPr/>
        </p:nvSpPr>
        <p:spPr>
          <a:xfrm>
            <a:off x="5585155" y="2400300"/>
            <a:ext cx="2057400" cy="2057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pic>
        <p:nvPicPr>
          <p:cNvPr id="17" name="símbolo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801" y="3240602"/>
            <a:ext cx="864108" cy="376796"/>
          </a:xfrm>
          <a:prstGeom prst="rect">
            <a:avLst/>
          </a:prstGeom>
        </p:spPr>
      </p:pic>
      <p:sp>
        <p:nvSpPr>
          <p:cNvPr id="18" name="Fundo 7"/>
          <p:cNvSpPr/>
          <p:nvPr/>
        </p:nvSpPr>
        <p:spPr>
          <a:xfrm>
            <a:off x="7733995" y="2400300"/>
            <a:ext cx="2057400" cy="2057400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pic>
        <p:nvPicPr>
          <p:cNvPr id="19" name="símbolo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0641" y="3240602"/>
            <a:ext cx="864108" cy="376796"/>
          </a:xfrm>
          <a:prstGeom prst="rect">
            <a:avLst/>
          </a:prstGeom>
        </p:spPr>
      </p:pic>
      <p:sp>
        <p:nvSpPr>
          <p:cNvPr id="20" name="Fundo 8"/>
          <p:cNvSpPr/>
          <p:nvPr/>
        </p:nvSpPr>
        <p:spPr>
          <a:xfrm>
            <a:off x="9882835" y="2400300"/>
            <a:ext cx="2057400" cy="205740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pic>
        <p:nvPicPr>
          <p:cNvPr id="21" name="símbolo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481" y="3240602"/>
            <a:ext cx="864108" cy="376796"/>
          </a:xfrm>
          <a:prstGeom prst="rect">
            <a:avLst/>
          </a:prstGeom>
        </p:spPr>
      </p:pic>
      <p:sp>
        <p:nvSpPr>
          <p:cNvPr id="22" name="Fundo 9"/>
          <p:cNvSpPr/>
          <p:nvPr/>
        </p:nvSpPr>
        <p:spPr>
          <a:xfrm>
            <a:off x="3436315" y="4549140"/>
            <a:ext cx="2057400" cy="2057400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pic>
        <p:nvPicPr>
          <p:cNvPr id="23" name="símbolo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2961" y="5389442"/>
            <a:ext cx="864108" cy="376796"/>
          </a:xfrm>
          <a:prstGeom prst="rect">
            <a:avLst/>
          </a:prstGeom>
        </p:spPr>
      </p:pic>
      <p:sp>
        <p:nvSpPr>
          <p:cNvPr id="24" name="Fundo 10"/>
          <p:cNvSpPr/>
          <p:nvPr/>
        </p:nvSpPr>
        <p:spPr>
          <a:xfrm>
            <a:off x="5585155" y="4549140"/>
            <a:ext cx="2057400" cy="2057400"/>
          </a:xfrm>
          <a:prstGeom prst="rect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pic>
        <p:nvPicPr>
          <p:cNvPr id="25" name="símbolo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801" y="5389442"/>
            <a:ext cx="864108" cy="376796"/>
          </a:xfrm>
          <a:prstGeom prst="rect">
            <a:avLst/>
          </a:prstGeom>
        </p:spPr>
      </p:pic>
      <p:sp>
        <p:nvSpPr>
          <p:cNvPr id="26" name="Fundo 11"/>
          <p:cNvSpPr/>
          <p:nvPr/>
        </p:nvSpPr>
        <p:spPr>
          <a:xfrm>
            <a:off x="7733995" y="4549140"/>
            <a:ext cx="2057400" cy="2057400"/>
          </a:xfrm>
          <a:prstGeom prst="rect">
            <a:avLst/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pic>
        <p:nvPicPr>
          <p:cNvPr id="27" name="símbolo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641" y="5389442"/>
            <a:ext cx="864108" cy="376796"/>
          </a:xfrm>
          <a:prstGeom prst="rect">
            <a:avLst/>
          </a:prstGeom>
        </p:spPr>
      </p:pic>
      <p:pic>
        <p:nvPicPr>
          <p:cNvPr id="28" name="Fundo 12" descr="/home/user/Meov---MKT-Pessoal/brand/meov/apresentacao/gerador/img/aplicacoes/pagina-06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882835" y="4549140"/>
            <a:ext cx="2057400" cy="2057400"/>
          </a:xfrm>
          <a:prstGeom prst="rect">
            <a:avLst/>
          </a:prstGeom>
        </p:spPr>
      </p:pic>
      <p:pic>
        <p:nvPicPr>
          <p:cNvPr id="29" name="símbolo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9481" y="5389442"/>
            <a:ext cx="864108" cy="3767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sobre textura" descr="Logotipo verde sobre a textura Me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com onda" descr="Logotipo branco sobre a onda ro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-8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"Universo Visual"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2" descr="Perfil do Instagram @meov.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3" descr="Sto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4" descr="Navegador com meov.com.b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te no notebook" descr="Site meov.com.br no 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inkedIn" descr="Página do LinkedIn com banner da voz ganhando o mu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27" descr="Página do Linked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0" descr="Papela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1" descr="Cartões de vis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2" descr="Proposta no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ágina 1"/>
          <p:cNvSpPr/>
          <p:nvPr/>
        </p:nvSpPr>
        <p:spPr>
          <a:xfrm>
            <a:off x="685800" y="1072770"/>
            <a:ext cx="2554148" cy="1436708"/>
          </a:xfrm>
          <a:prstGeom prst="rect">
            <a:avLst/>
          </a:prstGeom>
          <a:solidFill>
            <a:srgbClr val="1C211E"/>
          </a:solidFill>
          <a:ln w="6350">
            <a:solidFill>
              <a:srgbClr val="59625A"/>
            </a:solidFill>
            <a:prstDash val="solid"/>
          </a:ln>
        </p:spPr>
      </p:sp>
      <p:pic>
        <p:nvPicPr>
          <p:cNvPr id="3" name="m1 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562524"/>
            <a:ext cx="1005840" cy="264479"/>
          </a:xfrm>
          <a:prstGeom prst="rect">
            <a:avLst/>
          </a:prstGeom>
        </p:spPr>
      </p:pic>
      <p:sp>
        <p:nvSpPr>
          <p:cNvPr id="4" name="m1 rótulo"/>
          <p:cNvSpPr txBox="1"/>
          <p:nvPr/>
        </p:nvSpPr>
        <p:spPr>
          <a:xfrm>
            <a:off x="886968" y="221687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00" kern="0" dirty="0">
                <a:solidFill>
                  <a:srgbClr val="D8DAC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APRESENTAÇÃO · 2026</a:t>
            </a:r>
            <a:endParaRPr lang="en-US" sz="500" dirty="0"/>
          </a:p>
        </p:txBody>
      </p:sp>
      <p:sp>
        <p:nvSpPr>
          <p:cNvPr id="5" name="Página 2"/>
          <p:cNvSpPr/>
          <p:nvPr/>
        </p:nvSpPr>
        <p:spPr>
          <a:xfrm>
            <a:off x="3441116" y="1072770"/>
            <a:ext cx="2554148" cy="1436708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6" name="m2 rótulo"/>
          <p:cNvSpPr txBox="1"/>
          <p:nvPr/>
        </p:nvSpPr>
        <p:spPr>
          <a:xfrm>
            <a:off x="3623996" y="125565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00" kern="0" dirty="0">
                <a:solidFill>
                  <a:srgbClr val="59625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POSICIONAMENTO</a:t>
            </a:r>
            <a:endParaRPr lang="en-US" sz="500" dirty="0"/>
          </a:p>
        </p:txBody>
      </p:sp>
      <p:sp>
        <p:nvSpPr>
          <p:cNvPr id="7" name="m2 frase"/>
          <p:cNvSpPr txBox="1"/>
          <p:nvPr/>
        </p:nvSpPr>
        <p:spPr>
          <a:xfrm>
            <a:off x="3623996" y="148425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Não somos uma agência de marketing.</a:t>
            </a:r>
            <a:endParaRPr lang="en-US" sz="1200" dirty="0"/>
          </a:p>
        </p:txBody>
      </p:sp>
      <p:pic>
        <p:nvPicPr>
          <p:cNvPr id="8" name="Página 2 símbol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746" y="2354030"/>
            <a:ext cx="146790" cy="64008"/>
          </a:xfrm>
          <a:prstGeom prst="rect">
            <a:avLst/>
          </a:prstGeom>
        </p:spPr>
      </p:pic>
      <p:sp>
        <p:nvSpPr>
          <p:cNvPr id="9" name="Página 3"/>
          <p:cNvSpPr/>
          <p:nvPr/>
        </p:nvSpPr>
        <p:spPr>
          <a:xfrm>
            <a:off x="6196432" y="1072770"/>
            <a:ext cx="2554148" cy="1436708"/>
          </a:xfrm>
          <a:prstGeom prst="rect">
            <a:avLst/>
          </a:prstGeom>
          <a:solidFill>
            <a:srgbClr val="FAF8F4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10" name="m3 frase"/>
          <p:cNvSpPr txBox="1"/>
          <p:nvPr/>
        </p:nvSpPr>
        <p:spPr>
          <a:xfrm>
            <a:off x="6379312" y="1823678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Sua voz,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no ritmo certo.</a:t>
            </a:r>
            <a:endParaRPr lang="en-US" sz="1200" dirty="0"/>
          </a:p>
        </p:txBody>
      </p:sp>
      <p:sp>
        <p:nvSpPr>
          <p:cNvPr id="11" name="m3 ponto"/>
          <p:cNvSpPr/>
          <p:nvPr/>
        </p:nvSpPr>
        <p:spPr>
          <a:xfrm>
            <a:off x="8476259" y="1255650"/>
            <a:ext cx="73152" cy="73152"/>
          </a:xfrm>
          <a:prstGeom prst="ellipse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pic>
        <p:nvPicPr>
          <p:cNvPr id="12" name="Página 3 símbol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062" y="2354030"/>
            <a:ext cx="146790" cy="64008"/>
          </a:xfrm>
          <a:prstGeom prst="rect">
            <a:avLst/>
          </a:prstGeom>
        </p:spPr>
      </p:pic>
      <p:sp>
        <p:nvSpPr>
          <p:cNvPr id="13" name="Página 4"/>
          <p:cNvSpPr/>
          <p:nvPr/>
        </p:nvSpPr>
        <p:spPr>
          <a:xfrm>
            <a:off x="8951747" y="1072770"/>
            <a:ext cx="2554148" cy="1436708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14" name="m4 01"/>
          <p:cNvSpPr txBox="1"/>
          <p:nvPr/>
        </p:nvSpPr>
        <p:spPr>
          <a:xfrm>
            <a:off x="9134627" y="134709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m4 02"/>
          <p:cNvSpPr txBox="1"/>
          <p:nvPr/>
        </p:nvSpPr>
        <p:spPr>
          <a:xfrm>
            <a:off x="9866147" y="134709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m4 03"/>
          <p:cNvSpPr txBox="1"/>
          <p:nvPr/>
        </p:nvSpPr>
        <p:spPr>
          <a:xfrm>
            <a:off x="10597667" y="134709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m4 rótulo"/>
          <p:cNvSpPr txBox="1"/>
          <p:nvPr/>
        </p:nvSpPr>
        <p:spPr>
          <a:xfrm>
            <a:off x="9134627" y="2189438"/>
            <a:ext cx="21883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50" kern="0" dirty="0">
                <a:solidFill>
                  <a:srgbClr val="59625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ESTRATÉGIA · AUDIOVISUAL · REDES</a:t>
            </a:r>
            <a:endParaRPr lang="en-US" sz="500" dirty="0"/>
          </a:p>
        </p:txBody>
      </p:sp>
      <p:pic>
        <p:nvPicPr>
          <p:cNvPr id="18" name="Página 4 símbol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377" y="2354030"/>
            <a:ext cx="146790" cy="64008"/>
          </a:xfrm>
          <a:prstGeom prst="rect">
            <a:avLst/>
          </a:prstGeom>
        </p:spPr>
      </p:pic>
      <p:sp>
        <p:nvSpPr>
          <p:cNvPr id="19" name="Página 5"/>
          <p:cNvSpPr/>
          <p:nvPr/>
        </p:nvSpPr>
        <p:spPr>
          <a:xfrm>
            <a:off x="685800" y="2710646"/>
            <a:ext cx="2554148" cy="1436708"/>
          </a:xfrm>
          <a:prstGeom prst="rect">
            <a:avLst/>
          </a:prstGeom>
          <a:solidFill>
            <a:srgbClr val="1C211E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20" name="m5 frase"/>
          <p:cNvSpPr txBox="1"/>
          <p:nvPr/>
        </p:nvSpPr>
        <p:spPr>
          <a:xfrm>
            <a:off x="868680" y="2984966"/>
            <a:ext cx="218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Raiz antes de vitrine.</a:t>
            </a:r>
            <a:endParaRPr lang="en-US" sz="1200" dirty="0"/>
          </a:p>
        </p:txBody>
      </p:sp>
      <p:sp>
        <p:nvSpPr>
          <p:cNvPr id="21" name="m5 linha"/>
          <p:cNvSpPr/>
          <p:nvPr/>
        </p:nvSpPr>
        <p:spPr>
          <a:xfrm>
            <a:off x="868680" y="3873034"/>
            <a:ext cx="365760" cy="27432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pic>
        <p:nvPicPr>
          <p:cNvPr id="22" name="Página 5 símbol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430" y="3991906"/>
            <a:ext cx="146790" cy="64008"/>
          </a:xfrm>
          <a:prstGeom prst="rect">
            <a:avLst/>
          </a:prstGeom>
        </p:spPr>
      </p:pic>
      <p:sp>
        <p:nvSpPr>
          <p:cNvPr id="23" name="Página 6"/>
          <p:cNvSpPr/>
          <p:nvPr/>
        </p:nvSpPr>
        <p:spPr>
          <a:xfrm>
            <a:off x="3441116" y="2710646"/>
            <a:ext cx="2554148" cy="1436708"/>
          </a:xfrm>
          <a:prstGeom prst="rect">
            <a:avLst/>
          </a:prstGeom>
          <a:solidFill>
            <a:srgbClr val="FAF8F4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24" name="m6 rótulo"/>
          <p:cNvSpPr txBox="1"/>
          <p:nvPr/>
        </p:nvSpPr>
        <p:spPr>
          <a:xfrm>
            <a:off x="3623996" y="289352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00" kern="0" dirty="0">
                <a:solidFill>
                  <a:srgbClr val="59625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PALETA</a:t>
            </a:r>
            <a:endParaRPr lang="en-US" sz="500" dirty="0"/>
          </a:p>
        </p:txBody>
      </p:sp>
      <p:sp>
        <p:nvSpPr>
          <p:cNvPr id="25" name="m6 cor 1"/>
          <p:cNvSpPr/>
          <p:nvPr/>
        </p:nvSpPr>
        <p:spPr>
          <a:xfrm>
            <a:off x="3623996" y="3644434"/>
            <a:ext cx="744052" cy="292608"/>
          </a:xfrm>
          <a:prstGeom prst="rect">
            <a:avLst/>
          </a:prstGeom>
          <a:solidFill>
            <a:srgbClr val="FAF8F4"/>
          </a:solidFill>
          <a:ln w="6350">
            <a:solidFill>
              <a:srgbClr val="D8DACD"/>
            </a:solidFill>
            <a:prstDash val="solid"/>
          </a:ln>
        </p:spPr>
      </p:sp>
      <p:sp>
        <p:nvSpPr>
          <p:cNvPr id="26" name="m6 cor 2"/>
          <p:cNvSpPr/>
          <p:nvPr/>
        </p:nvSpPr>
        <p:spPr>
          <a:xfrm>
            <a:off x="4368048" y="3644434"/>
            <a:ext cx="700284" cy="292608"/>
          </a:xfrm>
          <a:prstGeom prst="rect">
            <a:avLst/>
          </a:prstGeom>
          <a:solidFill>
            <a:srgbClr val="D8DACD"/>
          </a:solidFill>
          <a:ln w="6350">
            <a:solidFill>
              <a:srgbClr val="D8DACD"/>
            </a:solidFill>
            <a:prstDash val="solid"/>
          </a:ln>
        </p:spPr>
      </p:sp>
      <p:sp>
        <p:nvSpPr>
          <p:cNvPr id="27" name="m6 cor 3"/>
          <p:cNvSpPr/>
          <p:nvPr/>
        </p:nvSpPr>
        <p:spPr>
          <a:xfrm>
            <a:off x="5068332" y="3644434"/>
            <a:ext cx="590865" cy="292608"/>
          </a:xfrm>
          <a:prstGeom prst="rect">
            <a:avLst/>
          </a:prstGeom>
          <a:solidFill>
            <a:srgbClr val="1C211E"/>
          </a:solidFill>
          <a:ln w="6350">
            <a:solidFill>
              <a:srgbClr val="1C211E"/>
            </a:solidFill>
            <a:prstDash val="solid"/>
          </a:ln>
        </p:spPr>
      </p:sp>
      <p:sp>
        <p:nvSpPr>
          <p:cNvPr id="28" name="m6 cor 4"/>
          <p:cNvSpPr/>
          <p:nvPr/>
        </p:nvSpPr>
        <p:spPr>
          <a:xfrm>
            <a:off x="5659196" y="3644434"/>
            <a:ext cx="131303" cy="292608"/>
          </a:xfrm>
          <a:prstGeom prst="rect">
            <a:avLst/>
          </a:prstGeom>
          <a:solidFill>
            <a:srgbClr val="59625A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29" name="m6 cor 5"/>
          <p:cNvSpPr/>
          <p:nvPr/>
        </p:nvSpPr>
        <p:spPr>
          <a:xfrm>
            <a:off x="5790500" y="3644434"/>
            <a:ext cx="27432" cy="292608"/>
          </a:xfrm>
          <a:prstGeom prst="rect">
            <a:avLst/>
          </a:prstGeom>
          <a:solidFill>
            <a:srgbClr val="DBFF00"/>
          </a:solidFill>
          <a:ln w="6350">
            <a:solidFill>
              <a:srgbClr val="DBFF00"/>
            </a:solidFill>
            <a:prstDash val="solid"/>
          </a:ln>
        </p:spPr>
      </p:sp>
      <p:sp>
        <p:nvSpPr>
          <p:cNvPr id="30" name="m6 cor 6"/>
          <p:cNvSpPr/>
          <p:nvPr/>
        </p:nvSpPr>
        <p:spPr>
          <a:xfrm>
            <a:off x="5817932" y="3644434"/>
            <a:ext cx="27432" cy="292608"/>
          </a:xfrm>
          <a:prstGeom prst="rect">
            <a:avLst/>
          </a:prstGeom>
          <a:solidFill>
            <a:srgbClr val="FF19B1"/>
          </a:solidFill>
          <a:ln w="6350">
            <a:solidFill>
              <a:srgbClr val="FF19B1"/>
            </a:solidFill>
            <a:prstDash val="solid"/>
          </a:ln>
        </p:spPr>
      </p:sp>
      <p:pic>
        <p:nvPicPr>
          <p:cNvPr id="31" name="Página 6 símbol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8746" y="3991906"/>
            <a:ext cx="146790" cy="64008"/>
          </a:xfrm>
          <a:prstGeom prst="rect">
            <a:avLst/>
          </a:prstGeom>
        </p:spPr>
      </p:pic>
      <p:sp>
        <p:nvSpPr>
          <p:cNvPr id="32" name="Página 7"/>
          <p:cNvSpPr/>
          <p:nvPr/>
        </p:nvSpPr>
        <p:spPr>
          <a:xfrm>
            <a:off x="6196432" y="2710646"/>
            <a:ext cx="2554148" cy="1436708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pic>
        <p:nvPicPr>
          <p:cNvPr id="33" name="m7 símbol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3136" y="3236976"/>
            <a:ext cx="880738" cy="384048"/>
          </a:xfrm>
          <a:prstGeom prst="rect">
            <a:avLst/>
          </a:prstGeom>
        </p:spPr>
      </p:pic>
      <p:sp>
        <p:nvSpPr>
          <p:cNvPr id="34" name="Página 8"/>
          <p:cNvSpPr/>
          <p:nvPr/>
        </p:nvSpPr>
        <p:spPr>
          <a:xfrm>
            <a:off x="8951747" y="2710646"/>
            <a:ext cx="2554148" cy="1436708"/>
          </a:xfrm>
          <a:prstGeom prst="rect">
            <a:avLst/>
          </a:prstGeom>
          <a:solidFill>
            <a:srgbClr val="FAF8F4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35" name="m8 frase"/>
          <p:cNvSpPr txBox="1"/>
          <p:nvPr/>
        </p:nvSpPr>
        <p:spPr>
          <a:xfrm>
            <a:off x="9134627" y="2984966"/>
            <a:ext cx="2188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Leve. Divertido.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Do seu jeito.</a:t>
            </a:r>
            <a:endParaRPr lang="en-US" sz="1200" dirty="0"/>
          </a:p>
        </p:txBody>
      </p:sp>
      <p:pic>
        <p:nvPicPr>
          <p:cNvPr id="36" name="Página 8 símbol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9377" y="3991906"/>
            <a:ext cx="146790" cy="64008"/>
          </a:xfrm>
          <a:prstGeom prst="rect">
            <a:avLst/>
          </a:prstGeom>
        </p:spPr>
      </p:pic>
      <p:sp>
        <p:nvSpPr>
          <p:cNvPr id="37" name="Página 9"/>
          <p:cNvSpPr/>
          <p:nvPr/>
        </p:nvSpPr>
        <p:spPr>
          <a:xfrm>
            <a:off x="685800" y="4348522"/>
            <a:ext cx="2554148" cy="1436708"/>
          </a:xfrm>
          <a:prstGeom prst="rect">
            <a:avLst/>
          </a:prstGeom>
          <a:solidFill>
            <a:srgbClr val="1C211E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38" name="m9 frase"/>
          <p:cNvSpPr txBox="1"/>
          <p:nvPr/>
        </p:nvSpPr>
        <p:spPr>
          <a:xfrm>
            <a:off x="868680" y="4622842"/>
            <a:ext cx="2188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Você já tem a voz.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DBFF00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gente ajuda a colocá-la no mundo.</a:t>
            </a:r>
            <a:endParaRPr lang="en-US" sz="1200" dirty="0"/>
          </a:p>
        </p:txBody>
      </p:sp>
      <p:pic>
        <p:nvPicPr>
          <p:cNvPr id="39" name="Página 9 símbol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430" y="5629782"/>
            <a:ext cx="146790" cy="64008"/>
          </a:xfrm>
          <a:prstGeom prst="rect">
            <a:avLst/>
          </a:prstGeom>
        </p:spPr>
      </p:pic>
      <p:sp>
        <p:nvSpPr>
          <p:cNvPr id="40" name="Página 10"/>
          <p:cNvSpPr/>
          <p:nvPr/>
        </p:nvSpPr>
        <p:spPr>
          <a:xfrm>
            <a:off x="3441116" y="4348522"/>
            <a:ext cx="2554148" cy="1436708"/>
          </a:xfrm>
          <a:prstGeom prst="rect">
            <a:avLst/>
          </a:prstGeom>
          <a:solidFill>
            <a:srgbClr val="D8DACD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41" name="m10 número"/>
          <p:cNvSpPr txBox="1"/>
          <p:nvPr/>
        </p:nvSpPr>
        <p:spPr>
          <a:xfrm>
            <a:off x="3623996" y="4622842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11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 MESES</a:t>
            </a:r>
            <a:endParaRPr lang="en-US" sz="1600" dirty="0"/>
          </a:p>
        </p:txBody>
      </p:sp>
      <p:sp>
        <p:nvSpPr>
          <p:cNvPr id="42" name="m10 texto"/>
          <p:cNvSpPr txBox="1"/>
          <p:nvPr/>
        </p:nvSpPr>
        <p:spPr>
          <a:xfrm>
            <a:off x="3623996" y="5419470"/>
            <a:ext cx="218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962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ciclo para a sua voz ganhar ritmo</a:t>
            </a:r>
            <a:endParaRPr lang="en-US" sz="600" dirty="0"/>
          </a:p>
        </p:txBody>
      </p:sp>
      <p:pic>
        <p:nvPicPr>
          <p:cNvPr id="43" name="Página 10 símbol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746" y="5629782"/>
            <a:ext cx="146790" cy="64008"/>
          </a:xfrm>
          <a:prstGeom prst="rect">
            <a:avLst/>
          </a:prstGeom>
        </p:spPr>
      </p:pic>
      <p:sp>
        <p:nvSpPr>
          <p:cNvPr id="44" name="Página 11"/>
          <p:cNvSpPr/>
          <p:nvPr/>
        </p:nvSpPr>
        <p:spPr>
          <a:xfrm>
            <a:off x="6196432" y="4348522"/>
            <a:ext cx="2554148" cy="1436708"/>
          </a:xfrm>
          <a:prstGeom prst="rect">
            <a:avLst/>
          </a:prstGeom>
          <a:solidFill>
            <a:srgbClr val="DBFF00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45" name="m11 frase"/>
          <p:cNvSpPr txBox="1"/>
          <p:nvPr/>
        </p:nvSpPr>
        <p:spPr>
          <a:xfrm>
            <a:off x="6379312" y="5099430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C211E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Seja nas redes quem você já é na vida.</a:t>
            </a:r>
            <a:endParaRPr lang="en-US" sz="1200" dirty="0"/>
          </a:p>
        </p:txBody>
      </p:sp>
      <p:pic>
        <p:nvPicPr>
          <p:cNvPr id="46" name="Página 11 símbolo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062" y="5629782"/>
            <a:ext cx="146790" cy="64008"/>
          </a:xfrm>
          <a:prstGeom prst="rect">
            <a:avLst/>
          </a:prstGeom>
        </p:spPr>
      </p:pic>
      <p:sp>
        <p:nvSpPr>
          <p:cNvPr id="47" name="Página 12"/>
          <p:cNvSpPr/>
          <p:nvPr/>
        </p:nvSpPr>
        <p:spPr>
          <a:xfrm>
            <a:off x="8951747" y="4348522"/>
            <a:ext cx="2554148" cy="1436708"/>
          </a:xfrm>
          <a:prstGeom prst="rect">
            <a:avLst/>
          </a:prstGeom>
          <a:solidFill>
            <a:srgbClr val="1C211E"/>
          </a:solidFill>
          <a:ln w="6350">
            <a:solidFill>
              <a:srgbClr val="59625A"/>
            </a:solidFill>
            <a:prstDash val="solid"/>
          </a:ln>
        </p:spPr>
      </p:sp>
      <p:sp>
        <p:nvSpPr>
          <p:cNvPr id="48" name="m12 frase"/>
          <p:cNvSpPr txBox="1"/>
          <p:nvPr/>
        </p:nvSpPr>
        <p:spPr>
          <a:xfrm>
            <a:off x="8951747" y="4883996"/>
            <a:ext cx="255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obrigado.</a:t>
            </a:r>
            <a:endParaRPr lang="en-US" sz="1100" dirty="0"/>
          </a:p>
        </p:txBody>
      </p:sp>
      <p:sp>
        <p:nvSpPr>
          <p:cNvPr id="49" name="m12 rótulo"/>
          <p:cNvSpPr txBox="1"/>
          <p:nvPr/>
        </p:nvSpPr>
        <p:spPr>
          <a:xfrm>
            <a:off x="8951747" y="5176604"/>
            <a:ext cx="25541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spc="150" kern="0" dirty="0">
                <a:solidFill>
                  <a:srgbClr val="D8DAC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MARCA PESSOAL</a:t>
            </a:r>
            <a:endParaRPr lang="en-US" sz="500" dirty="0"/>
          </a:p>
        </p:txBody>
      </p:sp>
      <p:sp>
        <p:nvSpPr>
          <p:cNvPr id="50" name="m12 ponto"/>
          <p:cNvSpPr/>
          <p:nvPr/>
        </p:nvSpPr>
        <p:spPr>
          <a:xfrm>
            <a:off x="10196817" y="4719404"/>
            <a:ext cx="64008" cy="64008"/>
          </a:xfrm>
          <a:prstGeom prst="ellipse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pic>
        <p:nvPicPr>
          <p:cNvPr id="51" name="Página 12 símbolo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49377" y="5629782"/>
            <a:ext cx="146790" cy="6400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6" descr="Mídia in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38" descr="Mole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1" descr="Bo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licação 43" descr="Garra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C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6968" y="2011680"/>
            <a:ext cx="4937760" cy="1298351"/>
          </a:xfrm>
          <a:prstGeom prst="rect">
            <a:avLst/>
          </a:prstGeom>
        </p:spPr>
      </p:pic>
      <p:sp>
        <p:nvSpPr>
          <p:cNvPr id="3" name="Frase"/>
          <p:cNvSpPr txBox="1"/>
          <p:nvPr/>
        </p:nvSpPr>
        <p:spPr>
          <a:xfrm>
            <a:off x="0" y="3904391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Seja nas redes quem você já é na vida. Obrigado por chegar até aqui.</a:t>
            </a:r>
            <a:endParaRPr lang="en-US" sz="1600" dirty="0"/>
          </a:p>
        </p:txBody>
      </p:sp>
      <p:sp>
        <p:nvSpPr>
          <p:cNvPr id="4" name="Linha verde"/>
          <p:cNvSpPr/>
          <p:nvPr/>
        </p:nvSpPr>
        <p:spPr>
          <a:xfrm>
            <a:off x="5821528" y="4544471"/>
            <a:ext cx="548640" cy="22860"/>
          </a:xfrm>
          <a:prstGeom prst="rect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5" name="Marca pessoal"/>
          <p:cNvSpPr txBox="1"/>
          <p:nvPr/>
        </p:nvSpPr>
        <p:spPr>
          <a:xfrm>
            <a:off x="0" y="4681631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MARCA PESSOAL</a:t>
            </a:r>
            <a:endParaRPr lang="en-US" sz="1100" dirty="0"/>
          </a:p>
        </p:txBody>
      </p:sp>
      <p:sp>
        <p:nvSpPr>
          <p:cNvPr id="6" name="Ponto rosa"/>
          <p:cNvSpPr/>
          <p:nvPr/>
        </p:nvSpPr>
        <p:spPr>
          <a:xfrm>
            <a:off x="6059272" y="5093111"/>
            <a:ext cx="73152" cy="731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ntatos"/>
          <p:cNvSpPr txBox="1"/>
          <p:nvPr/>
        </p:nvSpPr>
        <p:spPr>
          <a:xfrm>
            <a:off x="0" y="6172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meov.com.br  ·  @meov.mp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ov MP">
  <a:themeElements>
    <a:clrScheme name="Meov MP">
      <a:dk1>
        <a:srgbClr val="1C211E"/>
      </a:dk1>
      <a:lt1>
        <a:srgbClr val="FAF8F4"/>
      </a:lt1>
      <a:dk2>
        <a:srgbClr val="59625A"/>
      </a:dk2>
      <a:lt2>
        <a:srgbClr val="D8DACD"/>
      </a:lt2>
      <a:accent1>
        <a:srgbClr val="FF19B1"/>
      </a:accent1>
      <a:accent2>
        <a:srgbClr val="DBFF00"/>
      </a:accent2>
      <a:accent3>
        <a:srgbClr val="D8DACD"/>
      </a:accent3>
      <a:accent4>
        <a:srgbClr val="59625A"/>
      </a:accent4>
      <a:accent5>
        <a:srgbClr val="1C211E"/>
      </a:accent5>
      <a:accent6>
        <a:srgbClr val="FFFFFF"/>
      </a:accent6>
      <a:hlink>
        <a:srgbClr val="FF19B1"/>
      </a:hlink>
      <a:folHlink>
        <a:srgbClr val="59625A"/>
      </a:folHlink>
    </a:clrScheme>
    <a:fontScheme name="Meov MP">
      <a:majorFont>
        <a:latin typeface="Manrope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Meov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Meov · Identidade de marca 2026</dc:title>
  <dc:subject>PptxGenJS Presentation</dc:subject>
  <dc:creator>Diogo &amp;amp; Rafael | Meov Marca Pessoal</dc:creator>
  <cp:lastModifiedBy>Diogo &amp;amp; Rafael | Meov Marca Pessoal</cp:lastModifiedBy>
  <cp:revision>1</cp:revision>
  <dcterms:created xsi:type="dcterms:W3CDTF">2026-10-30T00:30:41Z</dcterms:created>
  <dcterms:modified xsi:type="dcterms:W3CDTF">2026-10-30T00:30:41Z</dcterms:modified>
</cp:coreProperties>
</file>