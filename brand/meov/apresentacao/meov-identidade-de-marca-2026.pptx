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9fd3999-a684-42ae-6723-456cc8c88022}">
          <p14:sldIdLst>
            <p14:sldId id="256"/>
            <p14:sldId id="257"/>
          </p14:sldIdLst>
        </p14:section>
        <p14:section name="A marca" id="{ad3ec5b1-0eb0-bd29-5e89-37c1b9dbf78c}">
          <p14:sldIdLst>
            <p14:sldId id="258"/>
            <p14:sldId id="259"/>
            <p14:sldId id="260"/>
            <p14:sldId id="261"/>
          </p14:sldIdLst>
        </p14:section>
        <p14:section name="Identidade visual" id="{721f381f-1abd-42ec-7eda-98b72b0aadd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Universo visual" id="{0b81f1f5-68da-6934-26fe-cc34bbfa6eb9}">
          <p14:sldIdLst>
            <p14:sldId id="272"/>
            <p14:sldId id="273"/>
            <p14:sldId id="274"/>
            <p14:sldId id="275"/>
            <p14:sldId id="276"/>
          </p14:sldIdLst>
        </p14:section>
        <p14:section name="Encerramento" id="{8172632d-2e4e-d03e-7614-53a27438b01a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84048"/>
            <a:ext cx="377459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 · IDENTIDADE DE MARCA · 2026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d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84048"/>
            <a:ext cx="377459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 · IDENTIDADE DE MARCA · 2026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84048"/>
            <a:ext cx="377459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 · IDENTIDADE DE MARCA · 2026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tip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1460573" cy="384048"/>
          </a:xfrm>
          <a:prstGeom prst="rect">
            <a:avLst/>
          </a:prstGeom>
        </p:spPr>
      </p:pic>
      <p:sp>
        <p:nvSpPr>
          <p:cNvPr id="3" name="Cliente e serviço"/>
          <p:cNvSpPr txBox="1"/>
          <p:nvPr/>
        </p:nvSpPr>
        <p:spPr>
          <a:xfrm>
            <a:off x="7391095" y="6583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Marca Pessoal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Estratégia &amp; Identidade Visual</a:t>
            </a:r>
            <a:endParaRPr lang="en-US" sz="1300" dirty="0"/>
          </a:p>
        </p:txBody>
      </p:sp>
      <p:sp>
        <p:nvSpPr>
          <p:cNvPr id="4" name="Título"/>
          <p:cNvSpPr txBox="1"/>
          <p:nvPr/>
        </p:nvSpPr>
        <p:spPr>
          <a:xfrm>
            <a:off x="685800" y="2514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spc="-15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Identidade de marca</a:t>
            </a:r>
            <a:endParaRPr lang="en-US" sz="6400" dirty="0"/>
          </a:p>
        </p:txBody>
      </p:sp>
      <p:sp>
        <p:nvSpPr>
          <p:cNvPr id="5" name="Assinatura"/>
          <p:cNvSpPr txBox="1"/>
          <p:nvPr/>
        </p:nvSpPr>
        <p:spPr>
          <a:xfrm>
            <a:off x="6858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Sua voz, no ritmo certo.</a:t>
            </a:r>
            <a:endParaRPr lang="en-US" sz="2600" dirty="0"/>
          </a:p>
        </p:txBody>
      </p:sp>
      <p:sp>
        <p:nvSpPr>
          <p:cNvPr id="6" name="Traço rosa"/>
          <p:cNvSpPr/>
          <p:nvPr/>
        </p:nvSpPr>
        <p:spPr>
          <a:xfrm>
            <a:off x="685800" y="4343400"/>
            <a:ext cx="54864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raço verde"/>
          <p:cNvSpPr/>
          <p:nvPr/>
        </p:nvSpPr>
        <p:spPr>
          <a:xfrm>
            <a:off x="1234440" y="4343400"/>
            <a:ext cx="548640" cy="731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Contatos"/>
          <p:cNvSpPr txBox="1"/>
          <p:nvPr/>
        </p:nvSpPr>
        <p:spPr>
          <a:xfrm>
            <a:off x="6858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MEOV.COM.BR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@MEOV.MP</a:t>
            </a:r>
            <a:endParaRPr lang="en-US" sz="1000" dirty="0"/>
          </a:p>
        </p:txBody>
      </p:sp>
      <p:sp>
        <p:nvSpPr>
          <p:cNvPr id="9" name="Ano"/>
          <p:cNvSpPr txBox="1"/>
          <p:nvPr/>
        </p:nvSpPr>
        <p:spPr>
          <a:xfrm>
            <a:off x="5181448" y="6126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2026</a:t>
            </a:r>
            <a:endParaRPr lang="en-US" sz="1000" dirty="0"/>
          </a:p>
        </p:txBody>
      </p:sp>
      <p:pic>
        <p:nvPicPr>
          <p:cNvPr id="10" name="Símbol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157" y="5989320"/>
            <a:ext cx="88073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se"/>
          <p:cNvSpPr txBox="1"/>
          <p:nvPr/>
        </p:nvSpPr>
        <p:spPr>
          <a:xfrm>
            <a:off x="685800" y="3291840"/>
            <a:ext cx="8686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spc="-10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Vamos conhecer o time que ajuda especialistas a </a:t>
            </a:r>
            <a:pPr indent="0" marL="0">
              <a:lnSpc>
                <a:spcPct val="100000"/>
              </a:lnSpc>
              <a:buNone/>
            </a:pPr>
            <a:r>
              <a:rPr lang="en-US" sz="4400" spc="-100" kern="0" dirty="0">
                <a:solidFill>
                  <a:schemeClr val="accent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colocar a própria voz no mundo.</a:t>
            </a:r>
            <a:endParaRPr lang="en-US" sz="4400" dirty="0"/>
          </a:p>
        </p:txBody>
      </p:sp>
      <p:sp>
        <p:nvSpPr>
          <p:cNvPr id="3" name="Traço rosa"/>
          <p:cNvSpPr/>
          <p:nvPr/>
        </p:nvSpPr>
        <p:spPr>
          <a:xfrm>
            <a:off x="685800" y="5760720"/>
            <a:ext cx="548640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raço verde"/>
          <p:cNvSpPr/>
          <p:nvPr/>
        </p:nvSpPr>
        <p:spPr>
          <a:xfrm>
            <a:off x="1234440" y="5760720"/>
            <a:ext cx="548640" cy="7315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· UMA NOVA FASE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De produtora de vídeos a marca pessoal.</a:t>
            </a:r>
            <a:endParaRPr lang="en-US" sz="3400" dirty="0"/>
          </a:p>
        </p:txBody>
      </p:sp>
      <p:sp>
        <p:nvSpPr>
          <p:cNvPr id="4" name="Texto fase"/>
          <p:cNvSpPr txBox="1"/>
          <p:nvPr/>
        </p:nvSpPr>
        <p:spPr>
          <a:xfrm>
            <a:off x="685800" y="2011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Meov nasceu fazendo filmes que tocam na alma. Com o tempo, percebemos que o que mais nos movia era outra coisa: ver alguém que já é referência finalmente aparecer como é. Nesta nova fase, nós mesmos redesenhamos a nossa marca para contar essa história.</a:t>
            </a:r>
            <a:endParaRPr lang="en-US" sz="1500" dirty="0"/>
          </a:p>
        </p:txBody>
      </p:sp>
      <p:sp>
        <p:nvSpPr>
          <p:cNvPr id="5" name="Fase 1"/>
          <p:cNvSpPr/>
          <p:nvPr/>
        </p:nvSpPr>
        <p:spPr>
          <a:xfrm>
            <a:off x="685800" y="3154680"/>
            <a:ext cx="5120640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Fase 1 rótulo"/>
          <p:cNvSpPr txBox="1"/>
          <p:nvPr/>
        </p:nvSpPr>
        <p:spPr>
          <a:xfrm>
            <a:off x="1051560" y="3474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Fase 1 nome"/>
          <p:cNvSpPr txBox="1"/>
          <p:nvPr/>
        </p:nvSpPr>
        <p:spPr>
          <a:xfrm>
            <a:off x="1051560" y="3794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Produtora audiovisual</a:t>
            </a:r>
            <a:endParaRPr lang="en-US" sz="2600" dirty="0"/>
          </a:p>
        </p:txBody>
      </p:sp>
      <p:sp>
        <p:nvSpPr>
          <p:cNvPr id="8" name="Fase 1 texto"/>
          <p:cNvSpPr txBox="1"/>
          <p:nvPr/>
        </p:nvSpPr>
        <p:spPr>
          <a:xfrm>
            <a:off x="1051560" y="43891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Conexão através de experiências audiovisuais. O centro era o filme.</a:t>
            </a:r>
            <a:endParaRPr lang="en-US" sz="1400" dirty="0"/>
          </a:p>
        </p:txBody>
      </p:sp>
      <p:sp>
        <p:nvSpPr>
          <p:cNvPr id="9" name="Fase 2"/>
          <p:cNvSpPr/>
          <p:nvPr/>
        </p:nvSpPr>
        <p:spPr>
          <a:xfrm>
            <a:off x="6172200" y="3154680"/>
            <a:ext cx="5120640" cy="201168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Fase 2 rótulo"/>
          <p:cNvSpPr txBox="1"/>
          <p:nvPr/>
        </p:nvSpPr>
        <p:spPr>
          <a:xfrm>
            <a:off x="6537960" y="3474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AGORA</a:t>
            </a:r>
            <a:endParaRPr lang="en-US" sz="1000" dirty="0"/>
          </a:p>
        </p:txBody>
      </p:sp>
      <p:sp>
        <p:nvSpPr>
          <p:cNvPr id="11" name="Fase 2 nome"/>
          <p:cNvSpPr txBox="1"/>
          <p:nvPr/>
        </p:nvSpPr>
        <p:spPr>
          <a:xfrm>
            <a:off x="6537960" y="3794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Meov Marca Pessoal</a:t>
            </a:r>
            <a:endParaRPr lang="en-US" sz="2600" dirty="0"/>
          </a:p>
        </p:txBody>
      </p:sp>
      <p:sp>
        <p:nvSpPr>
          <p:cNvPr id="12" name="Fase 2 texto"/>
          <p:cNvSpPr txBox="1"/>
          <p:nvPr/>
        </p:nvSpPr>
        <p:spPr>
          <a:xfrm>
            <a:off x="6537960" y="43891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Estratégia, audiovisual e gestão das redes para especialistas. O centro é a pessoa.</a:t>
            </a:r>
            <a:endParaRPr lang="en-US" sz="1400" dirty="0"/>
          </a:p>
        </p:txBody>
      </p:sp>
      <p:sp>
        <p:nvSpPr>
          <p:cNvPr id="13" name="Seta"/>
          <p:cNvSpPr txBox="1"/>
          <p:nvPr/>
        </p:nvSpPr>
        <p:spPr>
          <a:xfrm>
            <a:off x="5760720" y="3840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Fica e muda"/>
          <p:cNvSpPr txBox="1"/>
          <p:nvPr/>
        </p:nvSpPr>
        <p:spPr>
          <a:xfrm>
            <a:off x="685800" y="5440680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fica: o desenho do logotipo e do símbolo, o fino trato audiovisual e a ideia de conexão. O que muda: o foco, as cores, a tipografia, a voz e os serviços.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· POSICIONAMENTO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Não somos uma agência de marketing.</a:t>
            </a:r>
            <a:endParaRPr lang="en-US" sz="3400" dirty="0"/>
          </a:p>
        </p:txBody>
      </p:sp>
      <p:sp>
        <p:nvSpPr>
          <p:cNvPr id="4" name="Quadro manifesto"/>
          <p:cNvSpPr/>
          <p:nvPr/>
        </p:nvSpPr>
        <p:spPr>
          <a:xfrm>
            <a:off x="685800" y="2011680"/>
            <a:ext cx="5760720" cy="402336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Manifesto"/>
          <p:cNvSpPr txBox="1"/>
          <p:nvPr/>
        </p:nvSpPr>
        <p:spPr>
          <a:xfrm>
            <a:off x="1097280" y="23774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Somos um time que apoia técnica e emocionalmente quem decide colocar a própria voz no mundo: da estratégia à câmera e à gestão das redes.</a:t>
            </a:r>
            <a:endParaRPr lang="en-US" sz="2400" dirty="0"/>
          </a:p>
        </p:txBody>
      </p:sp>
      <p:sp>
        <p:nvSpPr>
          <p:cNvPr id="6" name="Rótulo mantra"/>
          <p:cNvSpPr txBox="1"/>
          <p:nvPr/>
        </p:nvSpPr>
        <p:spPr>
          <a:xfrm>
            <a:off x="109728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MANTRA</a:t>
            </a:r>
            <a:endParaRPr lang="en-US" sz="1000" dirty="0"/>
          </a:p>
        </p:txBody>
      </p:sp>
      <p:sp>
        <p:nvSpPr>
          <p:cNvPr id="7" name="Mantra"/>
          <p:cNvSpPr txBox="1"/>
          <p:nvPr/>
        </p:nvSpPr>
        <p:spPr>
          <a:xfrm>
            <a:off x="1097280" y="48920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Ajudamos especialistas que já são referência a colocar sua voz no mundo digital, através de estratégia, audiovisual e gestão das redes, com acolhimento do começo ao fim.</a:t>
            </a:r>
            <a:endParaRPr lang="en-US" sz="1300" dirty="0"/>
          </a:p>
        </p:txBody>
      </p:sp>
      <p:sp>
        <p:nvSpPr>
          <p:cNvPr id="8" name="Quadro público"/>
          <p:cNvSpPr/>
          <p:nvPr/>
        </p:nvSpPr>
        <p:spPr>
          <a:xfrm>
            <a:off x="6720840" y="2011680"/>
            <a:ext cx="4785055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ótulo público"/>
          <p:cNvSpPr txBox="1"/>
          <p:nvPr/>
        </p:nvSpPr>
        <p:spPr>
          <a:xfrm>
            <a:off x="704088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PARA QUEM</a:t>
            </a:r>
            <a:endParaRPr lang="en-US" sz="1000" dirty="0"/>
          </a:p>
        </p:txBody>
      </p:sp>
      <p:sp>
        <p:nvSpPr>
          <p:cNvPr id="10" name="Público"/>
          <p:cNvSpPr txBox="1"/>
          <p:nvPr/>
        </p:nvSpPr>
        <p:spPr>
          <a:xfrm>
            <a:off x="7040880" y="2606040"/>
            <a:ext cx="4144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Empresários e especialistas que já faturam acima de R$ 30 mil/mês, têm reputação construída fora das redes e ainda não conseguiram se posicionar no digital.</a:t>
            </a:r>
            <a:endParaRPr lang="en-US" sz="1400" dirty="0"/>
          </a:p>
        </p:txBody>
      </p:sp>
      <p:sp>
        <p:nvSpPr>
          <p:cNvPr id="11" name="Quadro princípios"/>
          <p:cNvSpPr/>
          <p:nvPr/>
        </p:nvSpPr>
        <p:spPr>
          <a:xfrm>
            <a:off x="6720840" y="4114800"/>
            <a:ext cx="4785055" cy="1920240"/>
          </a:xfrm>
          <a:prstGeom prst="roundRect">
            <a:avLst>
              <a:gd name="adj" fmla="val 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Rótulo princípios"/>
          <p:cNvSpPr txBox="1"/>
          <p:nvPr/>
        </p:nvSpPr>
        <p:spPr>
          <a:xfrm>
            <a:off x="7040880" y="4389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PRINCÍPIOS</a:t>
            </a:r>
            <a:endParaRPr lang="en-US" sz="1000" dirty="0"/>
          </a:p>
        </p:txBody>
      </p:sp>
      <p:sp>
        <p:nvSpPr>
          <p:cNvPr id="13" name="Princípios"/>
          <p:cNvSpPr txBox="1"/>
          <p:nvPr/>
        </p:nvSpPr>
        <p:spPr>
          <a:xfrm>
            <a:off x="7040880" y="4709160"/>
            <a:ext cx="4144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Raiz antes de vitrine.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Verdade acima de pose.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Constância no lugar de inspiração.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· O QUE FAZEMOS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Três frentes, um mesmo time.</a:t>
            </a:r>
            <a:endParaRPr lang="en-US" sz="3400" dirty="0"/>
          </a:p>
        </p:txBody>
      </p:sp>
      <p:sp>
        <p:nvSpPr>
          <p:cNvPr id="4" name="Frente 1"/>
          <p:cNvSpPr/>
          <p:nvPr/>
        </p:nvSpPr>
        <p:spPr>
          <a:xfrm>
            <a:off x="685800" y="201168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rente 1 fundo"/>
          <p:cNvSpPr/>
          <p:nvPr/>
        </p:nvSpPr>
        <p:spPr>
          <a:xfrm>
            <a:off x="1005840" y="23317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Frente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405" y="2507285"/>
            <a:ext cx="380390" cy="380390"/>
          </a:xfrm>
          <a:prstGeom prst="rect">
            <a:avLst/>
          </a:prstGeom>
        </p:spPr>
      </p:pic>
      <p:sp>
        <p:nvSpPr>
          <p:cNvPr id="7" name="Frente 1 nome"/>
          <p:cNvSpPr txBox="1"/>
          <p:nvPr/>
        </p:nvSpPr>
        <p:spPr>
          <a:xfrm>
            <a:off x="1005840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Estratégia</a:t>
            </a:r>
            <a:endParaRPr lang="en-US" sz="2400" dirty="0"/>
          </a:p>
        </p:txBody>
      </p:sp>
      <p:sp>
        <p:nvSpPr>
          <p:cNvPr id="8" name="Frente 1 texto"/>
          <p:cNvSpPr txBox="1"/>
          <p:nvPr/>
        </p:nvSpPr>
        <p:spPr>
          <a:xfrm>
            <a:off x="1005840" y="37490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Método Meov: diagnóstico, imersão presencial e um Brandbook que organiza quem você é, para quem fala e como se diferencia.</a:t>
            </a:r>
            <a:endParaRPr lang="en-US" sz="1300" dirty="0"/>
          </a:p>
        </p:txBody>
      </p:sp>
      <p:sp>
        <p:nvSpPr>
          <p:cNvPr id="9" name="Frente 1 tags"/>
          <p:cNvSpPr txBox="1"/>
          <p:nvPr/>
        </p:nvSpPr>
        <p:spPr>
          <a:xfrm>
            <a:off x="1005840" y="484632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MÉTODO MEOV  ·  BRANDBOOK  ·  PLANO DE 6 MESES</a:t>
            </a:r>
            <a:endParaRPr lang="en-US" sz="900" dirty="0"/>
          </a:p>
        </p:txBody>
      </p:sp>
      <p:sp>
        <p:nvSpPr>
          <p:cNvPr id="10" name="Frente 2"/>
          <p:cNvSpPr/>
          <p:nvPr/>
        </p:nvSpPr>
        <p:spPr>
          <a:xfrm>
            <a:off x="4368698" y="201168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rente 2 fundo"/>
          <p:cNvSpPr/>
          <p:nvPr/>
        </p:nvSpPr>
        <p:spPr>
          <a:xfrm>
            <a:off x="4688738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Frente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303" y="2507285"/>
            <a:ext cx="380390" cy="380390"/>
          </a:xfrm>
          <a:prstGeom prst="rect">
            <a:avLst/>
          </a:prstGeom>
        </p:spPr>
      </p:pic>
      <p:sp>
        <p:nvSpPr>
          <p:cNvPr id="13" name="Frente 2 nome"/>
          <p:cNvSpPr txBox="1"/>
          <p:nvPr/>
        </p:nvSpPr>
        <p:spPr>
          <a:xfrm>
            <a:off x="4688738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Audiovisual</a:t>
            </a:r>
            <a:endParaRPr lang="en-US" sz="2400" dirty="0"/>
          </a:p>
        </p:txBody>
      </p:sp>
      <p:sp>
        <p:nvSpPr>
          <p:cNvPr id="14" name="Frente 2 texto"/>
          <p:cNvSpPr txBox="1"/>
          <p:nvPr/>
        </p:nvSpPr>
        <p:spPr>
          <a:xfrm>
            <a:off x="4688738" y="37490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Direção de imagem, ensaio, gravação e edição. Dias de gravação semanais, quinzenais ou mensais, com o nosso fino trato.</a:t>
            </a:r>
            <a:endParaRPr lang="en-US" sz="1300" dirty="0"/>
          </a:p>
        </p:txBody>
      </p:sp>
      <p:sp>
        <p:nvSpPr>
          <p:cNvPr id="15" name="Frente 2 tags"/>
          <p:cNvSpPr txBox="1"/>
          <p:nvPr/>
        </p:nvSpPr>
        <p:spPr>
          <a:xfrm>
            <a:off x="4688738" y="484632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ENSAIO DE MARCA  ·  VLOGCAST  ·  REELS</a:t>
            </a:r>
            <a:endParaRPr lang="en-US" sz="900" dirty="0"/>
          </a:p>
        </p:txBody>
      </p:sp>
      <p:sp>
        <p:nvSpPr>
          <p:cNvPr id="16" name="Frente 3"/>
          <p:cNvSpPr/>
          <p:nvPr/>
        </p:nvSpPr>
        <p:spPr>
          <a:xfrm>
            <a:off x="8051597" y="201168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rente 3 fundo"/>
          <p:cNvSpPr/>
          <p:nvPr/>
        </p:nvSpPr>
        <p:spPr>
          <a:xfrm>
            <a:off x="8371637" y="23317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Frente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202" y="2507285"/>
            <a:ext cx="380390" cy="380390"/>
          </a:xfrm>
          <a:prstGeom prst="rect">
            <a:avLst/>
          </a:prstGeom>
        </p:spPr>
      </p:pic>
      <p:sp>
        <p:nvSpPr>
          <p:cNvPr id="19" name="Frente 3 nome"/>
          <p:cNvSpPr txBox="1"/>
          <p:nvPr/>
        </p:nvSpPr>
        <p:spPr>
          <a:xfrm>
            <a:off x="8371637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Gestão das redes</a:t>
            </a:r>
            <a:endParaRPr lang="en-US" sz="2400" dirty="0"/>
          </a:p>
        </p:txBody>
      </p:sp>
      <p:sp>
        <p:nvSpPr>
          <p:cNvPr id="20" name="Frente 3 texto"/>
          <p:cNvSpPr txBox="1"/>
          <p:nvPr/>
        </p:nvSpPr>
        <p:spPr>
          <a:xfrm>
            <a:off x="8371637" y="37490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Instagram, LinkedIn e Site/LP com calendário, roteiros, legendas, design, publicação e relatórios. Você grava e aprova.</a:t>
            </a:r>
            <a:endParaRPr lang="en-US" sz="1300" dirty="0"/>
          </a:p>
        </p:txBody>
      </p:sp>
      <p:sp>
        <p:nvSpPr>
          <p:cNvPr id="21" name="Frente 3 tags"/>
          <p:cNvSpPr txBox="1"/>
          <p:nvPr/>
        </p:nvSpPr>
        <p:spPr>
          <a:xfrm>
            <a:off x="8371637" y="484632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INSTAGRAM  ·  LINKEDIN  ·  SITE/LP</a:t>
            </a:r>
            <a:endParaRPr lang="en-US" sz="900" dirty="0"/>
          </a:p>
        </p:txBody>
      </p:sp>
      <p:sp>
        <p:nvSpPr>
          <p:cNvPr id="22" name="Faixa ciclo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22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o ciclo"/>
          <p:cNvSpPr txBox="1"/>
          <p:nvPr/>
        </p:nvSpPr>
        <p:spPr>
          <a:xfrm>
            <a:off x="1005840" y="548640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CICLO MEOV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implantação, 6 meses de presença constante e revisão no 3º e no 6º mês.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· TOM DE VOZ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Somos acolhedores, claros, verdadeiros. Nunca guru.</a:t>
            </a:r>
            <a:endParaRPr lang="en-US" sz="3400" dirty="0"/>
          </a:p>
        </p:txBody>
      </p:sp>
      <p:sp>
        <p:nvSpPr>
          <p:cNvPr id="4" name="Pilar 1 ponto"/>
          <p:cNvSpPr/>
          <p:nvPr/>
        </p:nvSpPr>
        <p:spPr>
          <a:xfrm>
            <a:off x="685800" y="2103120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Pilar 1 nome"/>
          <p:cNvSpPr txBox="1"/>
          <p:nvPr/>
        </p:nvSpPr>
        <p:spPr>
          <a:xfrm>
            <a:off x="960120" y="1993392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Acolhedores</a:t>
            </a:r>
            <a:endParaRPr lang="en-US" sz="1800" dirty="0"/>
          </a:p>
        </p:txBody>
      </p:sp>
      <p:sp>
        <p:nvSpPr>
          <p:cNvPr id="6" name="Pilar 1 texto"/>
          <p:cNvSpPr txBox="1"/>
          <p:nvPr/>
        </p:nvSpPr>
        <p:spPr>
          <a:xfrm>
            <a:off x="685800" y="2423160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Falamos com quem tem medo de se expor como quem entende esse medo. Sem pressa, sem julgamento.</a:t>
            </a:r>
            <a:endParaRPr lang="en-US" sz="1300" dirty="0"/>
          </a:p>
        </p:txBody>
      </p:sp>
      <p:sp>
        <p:nvSpPr>
          <p:cNvPr id="7" name="Pilar 2 ponto"/>
          <p:cNvSpPr/>
          <p:nvPr/>
        </p:nvSpPr>
        <p:spPr>
          <a:xfrm>
            <a:off x="4368698" y="2103120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Pilar 2 nome"/>
          <p:cNvSpPr txBox="1"/>
          <p:nvPr/>
        </p:nvSpPr>
        <p:spPr>
          <a:xfrm>
            <a:off x="4643018" y="1993392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Claros</a:t>
            </a:r>
            <a:endParaRPr lang="en-US" sz="1800" dirty="0"/>
          </a:p>
        </p:txBody>
      </p:sp>
      <p:sp>
        <p:nvSpPr>
          <p:cNvPr id="9" name="Pilar 2 texto"/>
          <p:cNvSpPr txBox="1"/>
          <p:nvPr/>
        </p:nvSpPr>
        <p:spPr>
          <a:xfrm>
            <a:off x="4368698" y="2423160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Frases curtas, palavras simples, nada de jargão de marketing. Se precisa explicar, está complicado.</a:t>
            </a:r>
            <a:endParaRPr lang="en-US" sz="1300" dirty="0"/>
          </a:p>
        </p:txBody>
      </p:sp>
      <p:sp>
        <p:nvSpPr>
          <p:cNvPr id="10" name="Pilar 3 ponto"/>
          <p:cNvSpPr/>
          <p:nvPr/>
        </p:nvSpPr>
        <p:spPr>
          <a:xfrm>
            <a:off x="8051597" y="2103120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ilar 3 nome"/>
          <p:cNvSpPr txBox="1"/>
          <p:nvPr/>
        </p:nvSpPr>
        <p:spPr>
          <a:xfrm>
            <a:off x="8325917" y="1993392"/>
            <a:ext cx="317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Verdadeiros</a:t>
            </a:r>
            <a:endParaRPr lang="en-US" sz="1800" dirty="0"/>
          </a:p>
        </p:txBody>
      </p:sp>
      <p:sp>
        <p:nvSpPr>
          <p:cNvPr id="12" name="Pilar 3 texto"/>
          <p:cNvSpPr txBox="1"/>
          <p:nvPr/>
        </p:nvSpPr>
        <p:spPr>
          <a:xfrm>
            <a:off x="8051597" y="2423160"/>
            <a:ext cx="3271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Nada de fórmula, promessa de viral ou personagem. A história real é a estratégia.</a:t>
            </a:r>
            <a:endParaRPr lang="en-US" sz="1300" dirty="0"/>
          </a:p>
        </p:txBody>
      </p:sp>
      <p:sp>
        <p:nvSpPr>
          <p:cNvPr id="13" name="Exemplo 1"/>
          <p:cNvSpPr/>
          <p:nvPr/>
        </p:nvSpPr>
        <p:spPr>
          <a:xfrm>
            <a:off x="685800" y="3429000"/>
            <a:ext cx="3454298" cy="1417320"/>
          </a:xfrm>
          <a:prstGeom prst="roundRect">
            <a:avLst>
              <a:gd name="adj" fmla="val 1032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Exemplo 1 rótulo"/>
          <p:cNvSpPr txBox="1"/>
          <p:nvPr/>
        </p:nvSpPr>
        <p:spPr>
          <a:xfrm>
            <a:off x="960120" y="36576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4F7A4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✓ ASSIM</a:t>
            </a:r>
            <a:endParaRPr lang="en-US" sz="1000" dirty="0"/>
          </a:p>
        </p:txBody>
      </p:sp>
      <p:sp>
        <p:nvSpPr>
          <p:cNvPr id="15" name="Exemplo 1 texto"/>
          <p:cNvSpPr txBox="1"/>
          <p:nvPr/>
        </p:nvSpPr>
        <p:spPr>
          <a:xfrm>
            <a:off x="960120" y="39776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Você já tem a voz. A gente ajuda você a colocá-la no mundo.</a:t>
            </a:r>
            <a:endParaRPr lang="en-US" sz="1700" dirty="0"/>
          </a:p>
        </p:txBody>
      </p:sp>
      <p:sp>
        <p:nvSpPr>
          <p:cNvPr id="16" name="Exemplo 2"/>
          <p:cNvSpPr/>
          <p:nvPr/>
        </p:nvSpPr>
        <p:spPr>
          <a:xfrm>
            <a:off x="4368698" y="3429000"/>
            <a:ext cx="3454298" cy="1417320"/>
          </a:xfrm>
          <a:prstGeom prst="roundRect">
            <a:avLst>
              <a:gd name="adj" fmla="val 1032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Exemplo 2 rótulo"/>
          <p:cNvSpPr txBox="1"/>
          <p:nvPr/>
        </p:nvSpPr>
        <p:spPr>
          <a:xfrm>
            <a:off x="4643018" y="36576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B23A3A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✕ NÃO ASSIM</a:t>
            </a:r>
            <a:endParaRPr lang="en-US" sz="1000" dirty="0"/>
          </a:p>
        </p:txBody>
      </p:sp>
      <p:sp>
        <p:nvSpPr>
          <p:cNvPr id="18" name="Exemplo 2 texto"/>
          <p:cNvSpPr txBox="1"/>
          <p:nvPr/>
        </p:nvSpPr>
        <p:spPr>
          <a:xfrm>
            <a:off x="4643018" y="39776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anrope SemiBold" pitchFamily="34" charset="0"/>
                <a:ea typeface="Manrope SemiBold" pitchFamily="34" charset="-122"/>
                <a:cs typeface="Manrope SemiBold" pitchFamily="34" charset="-120"/>
              </a:rPr>
              <a:t>VIRALIZE EM 7 DIAS!</a:t>
            </a:r>
            <a:endParaRPr lang="en-US" sz="2200" dirty="0"/>
          </a:p>
        </p:txBody>
      </p:sp>
      <p:sp>
        <p:nvSpPr>
          <p:cNvPr id="19" name="Exemplo 3"/>
          <p:cNvSpPr/>
          <p:nvPr/>
        </p:nvSpPr>
        <p:spPr>
          <a:xfrm>
            <a:off x="8051597" y="3429000"/>
            <a:ext cx="3454298" cy="1417320"/>
          </a:xfrm>
          <a:prstGeom prst="roundRect">
            <a:avLst>
              <a:gd name="adj" fmla="val 1032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Exemplo 3 rótulo"/>
          <p:cNvSpPr txBox="1"/>
          <p:nvPr/>
        </p:nvSpPr>
        <p:spPr>
          <a:xfrm>
            <a:off x="8325917" y="3657600"/>
            <a:ext cx="2905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B23A3A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✕ NÃO ASSIM</a:t>
            </a:r>
            <a:endParaRPr lang="en-US" sz="1000" dirty="0"/>
          </a:p>
        </p:txBody>
      </p:sp>
      <p:sp>
        <p:nvSpPr>
          <p:cNvPr id="21" name="Exemplo 3 texto"/>
          <p:cNvSpPr txBox="1"/>
          <p:nvPr/>
        </p:nvSpPr>
        <p:spPr>
          <a:xfrm>
            <a:off x="8325917" y="397764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O hack secreto para bombar o seu perfil.</a:t>
            </a:r>
            <a:endParaRPr lang="en-US" sz="1700" dirty="0"/>
          </a:p>
        </p:txBody>
      </p:sp>
      <p:sp>
        <p:nvSpPr>
          <p:cNvPr id="22" name="Rótulo nossas"/>
          <p:cNvSpPr txBox="1"/>
          <p:nvPr/>
        </p:nvSpPr>
        <p:spPr>
          <a:xfrm>
            <a:off x="685800" y="50749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PALAVRAS NOSSAS</a:t>
            </a:r>
            <a:endParaRPr lang="en-US" sz="1000" dirty="0"/>
          </a:p>
        </p:txBody>
      </p:sp>
      <p:sp>
        <p:nvSpPr>
          <p:cNvPr id="23" name="Rótulo evitamos"/>
          <p:cNvSpPr txBox="1"/>
          <p:nvPr/>
        </p:nvSpPr>
        <p:spPr>
          <a:xfrm>
            <a:off x="6187288" y="50749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PALAVRAS QUE NÃO USAMOS</a:t>
            </a:r>
            <a:endParaRPr lang="en-US" sz="1000" dirty="0"/>
          </a:p>
        </p:txBody>
      </p:sp>
      <p:sp>
        <p:nvSpPr>
          <p:cNvPr id="24" name="Nossa 1 fundo"/>
          <p:cNvSpPr/>
          <p:nvPr/>
        </p:nvSpPr>
        <p:spPr>
          <a:xfrm>
            <a:off x="685800" y="5394960"/>
            <a:ext cx="580644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Nossa 1"/>
          <p:cNvSpPr txBox="1"/>
          <p:nvPr/>
        </p:nvSpPr>
        <p:spPr>
          <a:xfrm>
            <a:off x="685800" y="5394960"/>
            <a:ext cx="58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voz</a:t>
            </a:r>
            <a:endParaRPr lang="en-US" sz="1200" dirty="0"/>
          </a:p>
        </p:txBody>
      </p:sp>
      <p:sp>
        <p:nvSpPr>
          <p:cNvPr id="26" name="Nossa 2 fundo"/>
          <p:cNvSpPr/>
          <p:nvPr/>
        </p:nvSpPr>
        <p:spPr>
          <a:xfrm>
            <a:off x="1357884" y="5394960"/>
            <a:ext cx="75438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Nossa 2"/>
          <p:cNvSpPr txBox="1"/>
          <p:nvPr/>
        </p:nvSpPr>
        <p:spPr>
          <a:xfrm>
            <a:off x="1357884" y="5394960"/>
            <a:ext cx="75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ritmo</a:t>
            </a:r>
            <a:endParaRPr lang="en-US" sz="1200" dirty="0"/>
          </a:p>
        </p:txBody>
      </p:sp>
      <p:sp>
        <p:nvSpPr>
          <p:cNvPr id="28" name="Nossa 3 fundo"/>
          <p:cNvSpPr/>
          <p:nvPr/>
        </p:nvSpPr>
        <p:spPr>
          <a:xfrm>
            <a:off x="2203704" y="5394960"/>
            <a:ext cx="928116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Nossa 3"/>
          <p:cNvSpPr txBox="1"/>
          <p:nvPr/>
        </p:nvSpPr>
        <p:spPr>
          <a:xfrm>
            <a:off x="2203704" y="5394960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verdade</a:t>
            </a:r>
            <a:endParaRPr lang="en-US" sz="1200" dirty="0"/>
          </a:p>
        </p:txBody>
      </p:sp>
      <p:sp>
        <p:nvSpPr>
          <p:cNvPr id="30" name="Nossa 4 fundo"/>
          <p:cNvSpPr/>
          <p:nvPr/>
        </p:nvSpPr>
        <p:spPr>
          <a:xfrm>
            <a:off x="3223260" y="5394960"/>
            <a:ext cx="667512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Nossa 4"/>
          <p:cNvSpPr txBox="1"/>
          <p:nvPr/>
        </p:nvSpPr>
        <p:spPr>
          <a:xfrm>
            <a:off x="3223260" y="5394960"/>
            <a:ext cx="667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raiz</a:t>
            </a:r>
            <a:endParaRPr lang="en-US" sz="1200" dirty="0"/>
          </a:p>
        </p:txBody>
      </p:sp>
      <p:sp>
        <p:nvSpPr>
          <p:cNvPr id="32" name="Nossa 5 fundo"/>
          <p:cNvSpPr/>
          <p:nvPr/>
        </p:nvSpPr>
        <p:spPr>
          <a:xfrm>
            <a:off x="3982212" y="539496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Nossa 5"/>
          <p:cNvSpPr txBox="1"/>
          <p:nvPr/>
        </p:nvSpPr>
        <p:spPr>
          <a:xfrm>
            <a:off x="3982212" y="53949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constância</a:t>
            </a:r>
            <a:endParaRPr lang="en-US" sz="1200" dirty="0"/>
          </a:p>
        </p:txBody>
      </p:sp>
      <p:sp>
        <p:nvSpPr>
          <p:cNvPr id="34" name="Nossa 6 fundo"/>
          <p:cNvSpPr/>
          <p:nvPr/>
        </p:nvSpPr>
        <p:spPr>
          <a:xfrm>
            <a:off x="5262372" y="5394960"/>
            <a:ext cx="1014984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Nossa 6"/>
          <p:cNvSpPr txBox="1"/>
          <p:nvPr/>
        </p:nvSpPr>
        <p:spPr>
          <a:xfrm>
            <a:off x="5262372" y="5394960"/>
            <a:ext cx="101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presença</a:t>
            </a:r>
            <a:endParaRPr lang="en-US" sz="1200" dirty="0"/>
          </a:p>
        </p:txBody>
      </p:sp>
      <p:sp>
        <p:nvSpPr>
          <p:cNvPr id="36" name="Evitamos 1 fundo"/>
          <p:cNvSpPr/>
          <p:nvPr/>
        </p:nvSpPr>
        <p:spPr>
          <a:xfrm>
            <a:off x="6187288" y="5394960"/>
            <a:ext cx="1101852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59625A"/>
            </a:solidFill>
            <a:prstDash val="solid"/>
          </a:ln>
        </p:spPr>
      </p:sp>
      <p:sp>
        <p:nvSpPr>
          <p:cNvPr id="37" name="Evitamos 1"/>
          <p:cNvSpPr txBox="1"/>
          <p:nvPr/>
        </p:nvSpPr>
        <p:spPr>
          <a:xfrm>
            <a:off x="6187288" y="5394960"/>
            <a:ext cx="1101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viralizar</a:t>
            </a:r>
            <a:endParaRPr lang="en-US" sz="1200" dirty="0"/>
          </a:p>
        </p:txBody>
      </p:sp>
      <p:sp>
        <p:nvSpPr>
          <p:cNvPr id="38" name="Evitamos 2 fundo"/>
          <p:cNvSpPr/>
          <p:nvPr/>
        </p:nvSpPr>
        <p:spPr>
          <a:xfrm>
            <a:off x="7380580" y="5394960"/>
            <a:ext cx="667512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59625A"/>
            </a:solidFill>
            <a:prstDash val="solid"/>
          </a:ln>
        </p:spPr>
      </p:sp>
      <p:sp>
        <p:nvSpPr>
          <p:cNvPr id="39" name="Evitamos 2"/>
          <p:cNvSpPr txBox="1"/>
          <p:nvPr/>
        </p:nvSpPr>
        <p:spPr>
          <a:xfrm>
            <a:off x="7380580" y="5394960"/>
            <a:ext cx="667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hack</a:t>
            </a:r>
            <a:endParaRPr lang="en-US" sz="1200" dirty="0"/>
          </a:p>
        </p:txBody>
      </p:sp>
      <p:sp>
        <p:nvSpPr>
          <p:cNvPr id="40" name="Evitamos 3 fundo"/>
          <p:cNvSpPr/>
          <p:nvPr/>
        </p:nvSpPr>
        <p:spPr>
          <a:xfrm>
            <a:off x="8139532" y="5394960"/>
            <a:ext cx="92811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59625A"/>
            </a:solidFill>
            <a:prstDash val="solid"/>
          </a:ln>
        </p:spPr>
      </p:sp>
      <p:sp>
        <p:nvSpPr>
          <p:cNvPr id="41" name="Evitamos 3"/>
          <p:cNvSpPr txBox="1"/>
          <p:nvPr/>
        </p:nvSpPr>
        <p:spPr>
          <a:xfrm>
            <a:off x="8139532" y="5394960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fórmula</a:t>
            </a:r>
            <a:endParaRPr lang="en-US" sz="1200" dirty="0"/>
          </a:p>
        </p:txBody>
      </p:sp>
      <p:sp>
        <p:nvSpPr>
          <p:cNvPr id="42" name="Evitamos 4 fundo"/>
          <p:cNvSpPr/>
          <p:nvPr/>
        </p:nvSpPr>
        <p:spPr>
          <a:xfrm>
            <a:off x="9159088" y="5394960"/>
            <a:ext cx="841248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59625A"/>
            </a:solidFill>
            <a:prstDash val="solid"/>
          </a:ln>
        </p:spPr>
      </p:sp>
      <p:sp>
        <p:nvSpPr>
          <p:cNvPr id="43" name="Evitamos 4"/>
          <p:cNvSpPr txBox="1"/>
          <p:nvPr/>
        </p:nvSpPr>
        <p:spPr>
          <a:xfrm>
            <a:off x="9159088" y="539496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bombar</a:t>
            </a:r>
            <a:endParaRPr lang="en-US" sz="1200" dirty="0"/>
          </a:p>
        </p:txBody>
      </p:sp>
      <p:sp>
        <p:nvSpPr>
          <p:cNvPr id="44" name="Evitamos 5 fundo"/>
          <p:cNvSpPr/>
          <p:nvPr/>
        </p:nvSpPr>
        <p:spPr>
          <a:xfrm>
            <a:off x="10091776" y="5394960"/>
            <a:ext cx="667512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59625A"/>
            </a:solidFill>
            <a:prstDash val="solid"/>
          </a:ln>
        </p:spPr>
      </p:sp>
      <p:sp>
        <p:nvSpPr>
          <p:cNvPr id="45" name="Evitamos 5"/>
          <p:cNvSpPr txBox="1"/>
          <p:nvPr/>
        </p:nvSpPr>
        <p:spPr>
          <a:xfrm>
            <a:off x="10091776" y="5394960"/>
            <a:ext cx="667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guru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ivisor"/>
          <p:cNvSpPr txBox="1"/>
          <p:nvPr/>
        </p:nvSpPr>
        <p:spPr>
          <a:xfrm>
            <a:off x="685800" y="4846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spc="-12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Identidade visual</a:t>
            </a:r>
            <a:endParaRPr lang="en-US" sz="5400" dirty="0"/>
          </a:p>
        </p:txBody>
      </p:sp>
      <p:sp>
        <p:nvSpPr>
          <p:cNvPr id="3" name="Subtítulo divisor"/>
          <p:cNvSpPr txBox="1"/>
          <p:nvPr/>
        </p:nvSpPr>
        <p:spPr>
          <a:xfrm>
            <a:off x="68580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Cores, tipografia, logotipo e símbolo.</a:t>
            </a:r>
            <a:endParaRPr lang="en-US" sz="1500" dirty="0"/>
          </a:p>
        </p:txBody>
      </p:sp>
      <p:pic>
        <p:nvPicPr>
          <p:cNvPr id="4" name="Símbolo ros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191" y="1463040"/>
            <a:ext cx="3040644" cy="1325880"/>
          </a:xfrm>
          <a:prstGeom prst="rect">
            <a:avLst/>
          </a:prstGeom>
        </p:spPr>
      </p:pic>
      <p:pic>
        <p:nvPicPr>
          <p:cNvPr id="5" name="Símbolo ver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191" y="2971800"/>
            <a:ext cx="3040644" cy="1325880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r 1"/>
          <p:cNvSpPr/>
          <p:nvPr/>
        </p:nvSpPr>
        <p:spPr>
          <a:xfrm>
            <a:off x="0" y="0"/>
            <a:ext cx="7616952" cy="384048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sp>
        <p:nvSpPr>
          <p:cNvPr id="3" name="Cor 1 nome"/>
          <p:cNvSpPr txBox="1"/>
          <p:nvPr/>
        </p:nvSpPr>
        <p:spPr>
          <a:xfrm>
            <a:off x="365760" y="365760"/>
            <a:ext cx="7068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Branco mineral</a:t>
            </a:r>
            <a:endParaRPr lang="en-US" sz="2400" dirty="0"/>
          </a:p>
        </p:txBody>
      </p:sp>
      <p:sp>
        <p:nvSpPr>
          <p:cNvPr id="4" name="Cor 1 hex"/>
          <p:cNvSpPr txBox="1"/>
          <p:nvPr/>
        </p:nvSpPr>
        <p:spPr>
          <a:xfrm>
            <a:off x="365760" y="777240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C211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#FAF8F4</a:t>
            </a:r>
            <a:endParaRPr lang="en-US" sz="1100" dirty="0"/>
          </a:p>
        </p:txBody>
      </p:sp>
      <p:sp>
        <p:nvSpPr>
          <p:cNvPr id="5" name="Cor 1 proporção"/>
          <p:cNvSpPr txBox="1"/>
          <p:nvPr/>
        </p:nvSpPr>
        <p:spPr>
          <a:xfrm>
            <a:off x="365760" y="2697480"/>
            <a:ext cx="7068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50%</a:t>
            </a:r>
            <a:endParaRPr lang="en-US" sz="6000" dirty="0"/>
          </a:p>
        </p:txBody>
      </p:sp>
      <p:sp>
        <p:nvSpPr>
          <p:cNvPr id="6" name="Cor 2"/>
          <p:cNvSpPr/>
          <p:nvPr/>
        </p:nvSpPr>
        <p:spPr>
          <a:xfrm>
            <a:off x="7616952" y="0"/>
            <a:ext cx="4572000" cy="3840480"/>
          </a:xfrm>
          <a:prstGeom prst="rect">
            <a:avLst/>
          </a:prstGeom>
          <a:solidFill>
            <a:srgbClr val="D8DACD"/>
          </a:solidFill>
          <a:ln w="12700">
            <a:solidFill>
              <a:srgbClr val="D8DACD"/>
            </a:solidFill>
            <a:prstDash val="solid"/>
          </a:ln>
        </p:spPr>
      </p:sp>
      <p:sp>
        <p:nvSpPr>
          <p:cNvPr id="7" name="Cor 2 nome"/>
          <p:cNvSpPr txBox="1"/>
          <p:nvPr/>
        </p:nvSpPr>
        <p:spPr>
          <a:xfrm>
            <a:off x="7982712" y="3657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Pedra líquen</a:t>
            </a:r>
            <a:endParaRPr lang="en-US" sz="2400" dirty="0"/>
          </a:p>
        </p:txBody>
      </p:sp>
      <p:sp>
        <p:nvSpPr>
          <p:cNvPr id="8" name="Cor 2 hex"/>
          <p:cNvSpPr txBox="1"/>
          <p:nvPr/>
        </p:nvSpPr>
        <p:spPr>
          <a:xfrm>
            <a:off x="7982712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C211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#D8DACD</a:t>
            </a:r>
            <a:endParaRPr lang="en-US" sz="1100" dirty="0"/>
          </a:p>
        </p:txBody>
      </p:sp>
      <p:sp>
        <p:nvSpPr>
          <p:cNvPr id="9" name="Cor 2 proporção"/>
          <p:cNvSpPr txBox="1"/>
          <p:nvPr/>
        </p:nvSpPr>
        <p:spPr>
          <a:xfrm>
            <a:off x="7982712" y="26974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30%</a:t>
            </a:r>
            <a:endParaRPr lang="en-US" sz="6000" dirty="0"/>
          </a:p>
        </p:txBody>
      </p:sp>
      <p:sp>
        <p:nvSpPr>
          <p:cNvPr id="10" name="Cor 3"/>
          <p:cNvSpPr/>
          <p:nvPr/>
        </p:nvSpPr>
        <p:spPr>
          <a:xfrm>
            <a:off x="0" y="3840480"/>
            <a:ext cx="4023360" cy="301752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11" name="Cor 3 nome"/>
          <p:cNvSpPr txBox="1"/>
          <p:nvPr/>
        </p:nvSpPr>
        <p:spPr>
          <a:xfrm>
            <a:off x="365760" y="4206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Preto musgo</a:t>
            </a:r>
            <a:endParaRPr lang="en-US" sz="1800" dirty="0"/>
          </a:p>
        </p:txBody>
      </p:sp>
      <p:sp>
        <p:nvSpPr>
          <p:cNvPr id="12" name="Cor 3 hex"/>
          <p:cNvSpPr txBox="1"/>
          <p:nvPr/>
        </p:nvSpPr>
        <p:spPr>
          <a:xfrm>
            <a:off x="3657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AF8F4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#1C211E</a:t>
            </a:r>
            <a:endParaRPr lang="en-US" sz="1100" dirty="0"/>
          </a:p>
        </p:txBody>
      </p:sp>
      <p:sp>
        <p:nvSpPr>
          <p:cNvPr id="13" name="Cor 3 proporção"/>
          <p:cNvSpPr txBox="1"/>
          <p:nvPr/>
        </p:nvSpPr>
        <p:spPr>
          <a:xfrm>
            <a:off x="365760" y="57150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9%</a:t>
            </a:r>
            <a:endParaRPr lang="en-US" sz="4400" dirty="0"/>
          </a:p>
        </p:txBody>
      </p:sp>
      <p:sp>
        <p:nvSpPr>
          <p:cNvPr id="14" name="Cor 4"/>
          <p:cNvSpPr/>
          <p:nvPr/>
        </p:nvSpPr>
        <p:spPr>
          <a:xfrm>
            <a:off x="4023360" y="3840480"/>
            <a:ext cx="3657600" cy="3017520"/>
          </a:xfrm>
          <a:prstGeom prst="rect">
            <a:avLst/>
          </a:prstGeom>
          <a:solidFill>
            <a:srgbClr val="59625A"/>
          </a:solidFill>
          <a:ln w="12700">
            <a:solidFill>
              <a:srgbClr val="59625A"/>
            </a:solidFill>
            <a:prstDash val="solid"/>
          </a:ln>
        </p:spPr>
      </p:sp>
      <p:sp>
        <p:nvSpPr>
          <p:cNvPr id="15" name="Cor 4 nome"/>
          <p:cNvSpPr txBox="1"/>
          <p:nvPr/>
        </p:nvSpPr>
        <p:spPr>
          <a:xfrm>
            <a:off x="438912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Cinza ardósia verde</a:t>
            </a:r>
            <a:endParaRPr lang="en-US" sz="1800" dirty="0"/>
          </a:p>
        </p:txBody>
      </p:sp>
      <p:sp>
        <p:nvSpPr>
          <p:cNvPr id="16" name="Cor 4 hex"/>
          <p:cNvSpPr txBox="1"/>
          <p:nvPr/>
        </p:nvSpPr>
        <p:spPr>
          <a:xfrm>
            <a:off x="438912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AF8F4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#59625A</a:t>
            </a:r>
            <a:endParaRPr lang="en-US" sz="1100" dirty="0"/>
          </a:p>
        </p:txBody>
      </p:sp>
      <p:sp>
        <p:nvSpPr>
          <p:cNvPr id="17" name="Cor 4 proporção"/>
          <p:cNvSpPr txBox="1"/>
          <p:nvPr/>
        </p:nvSpPr>
        <p:spPr>
          <a:xfrm>
            <a:off x="4389120" y="57150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8%</a:t>
            </a:r>
            <a:endParaRPr lang="en-US" sz="4400" dirty="0"/>
          </a:p>
        </p:txBody>
      </p:sp>
      <p:sp>
        <p:nvSpPr>
          <p:cNvPr id="18" name="Cor 5"/>
          <p:cNvSpPr/>
          <p:nvPr/>
        </p:nvSpPr>
        <p:spPr>
          <a:xfrm>
            <a:off x="7680960" y="3840480"/>
            <a:ext cx="2258568" cy="3017520"/>
          </a:xfrm>
          <a:prstGeom prst="rect">
            <a:avLst/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sp>
        <p:nvSpPr>
          <p:cNvPr id="19" name="Cor 5 nome"/>
          <p:cNvSpPr txBox="1"/>
          <p:nvPr/>
        </p:nvSpPr>
        <p:spPr>
          <a:xfrm>
            <a:off x="8046720" y="420624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Rosa choque</a:t>
            </a:r>
            <a:endParaRPr lang="en-US" sz="1800" dirty="0"/>
          </a:p>
        </p:txBody>
      </p:sp>
      <p:sp>
        <p:nvSpPr>
          <p:cNvPr id="20" name="Cor 5 hex"/>
          <p:cNvSpPr txBox="1"/>
          <p:nvPr/>
        </p:nvSpPr>
        <p:spPr>
          <a:xfrm>
            <a:off x="8046720" y="4617720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AF8F4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#FF19B1</a:t>
            </a:r>
            <a:endParaRPr lang="en-US" sz="1100" dirty="0"/>
          </a:p>
        </p:txBody>
      </p:sp>
      <p:sp>
        <p:nvSpPr>
          <p:cNvPr id="21" name="Cor 5 proporção"/>
          <p:cNvSpPr txBox="1"/>
          <p:nvPr/>
        </p:nvSpPr>
        <p:spPr>
          <a:xfrm>
            <a:off x="8046720" y="5715000"/>
            <a:ext cx="170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1,5%</a:t>
            </a:r>
            <a:endParaRPr lang="en-US" sz="4400" dirty="0"/>
          </a:p>
        </p:txBody>
      </p:sp>
      <p:sp>
        <p:nvSpPr>
          <p:cNvPr id="22" name="Cor 6"/>
          <p:cNvSpPr/>
          <p:nvPr/>
        </p:nvSpPr>
        <p:spPr>
          <a:xfrm>
            <a:off x="9939528" y="3840480"/>
            <a:ext cx="2258568" cy="3017520"/>
          </a:xfrm>
          <a:prstGeom prst="rect">
            <a:avLst/>
          </a:prstGeom>
          <a:solidFill>
            <a:srgbClr val="DBFF00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23" name="Cor 6 nome"/>
          <p:cNvSpPr txBox="1"/>
          <p:nvPr/>
        </p:nvSpPr>
        <p:spPr>
          <a:xfrm>
            <a:off x="10305288" y="420624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Verde vibrante</a:t>
            </a:r>
            <a:endParaRPr lang="en-US" sz="1800" dirty="0"/>
          </a:p>
        </p:txBody>
      </p:sp>
      <p:sp>
        <p:nvSpPr>
          <p:cNvPr id="24" name="Cor 6 hex"/>
          <p:cNvSpPr txBox="1"/>
          <p:nvPr/>
        </p:nvSpPr>
        <p:spPr>
          <a:xfrm>
            <a:off x="10305288" y="4617720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C211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#DBFF00</a:t>
            </a:r>
            <a:endParaRPr lang="en-US" sz="1100" dirty="0"/>
          </a:p>
        </p:txBody>
      </p:sp>
      <p:sp>
        <p:nvSpPr>
          <p:cNvPr id="25" name="Cor 6 proporção"/>
          <p:cNvSpPr txBox="1"/>
          <p:nvPr/>
        </p:nvSpPr>
        <p:spPr>
          <a:xfrm>
            <a:off x="10305288" y="5715000"/>
            <a:ext cx="170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1,5%</a:t>
            </a:r>
            <a:endParaRPr lang="en-US" sz="4400" dirty="0"/>
          </a:p>
        </p:txBody>
      </p:sp>
      <p:sp>
        <p:nvSpPr>
          <p:cNvPr id="26" name="Rótulo cores"/>
          <p:cNvSpPr txBox="1"/>
          <p:nvPr/>
        </p:nvSpPr>
        <p:spPr>
          <a:xfrm>
            <a:off x="5029200" y="4114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· CORES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· O PORQUÊ DAS CORES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Muito respiro, dois pontos de energia.</a:t>
            </a:r>
            <a:endParaRPr lang="en-US" sz="3400" dirty="0"/>
          </a:p>
        </p:txBody>
      </p:sp>
      <p:sp>
        <p:nvSpPr>
          <p:cNvPr id="4" name="Amostra 1.1"/>
          <p:cNvSpPr/>
          <p:nvPr/>
        </p:nvSpPr>
        <p:spPr>
          <a:xfrm>
            <a:off x="685800" y="2011680"/>
            <a:ext cx="640080" cy="640080"/>
          </a:xfrm>
          <a:prstGeom prst="ellipse">
            <a:avLst/>
          </a:prstGeom>
          <a:solidFill>
            <a:srgbClr val="FAF8F4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5" name="Amostra 1.2"/>
          <p:cNvSpPr/>
          <p:nvPr/>
        </p:nvSpPr>
        <p:spPr>
          <a:xfrm>
            <a:off x="1069848" y="2011680"/>
            <a:ext cx="640080" cy="640080"/>
          </a:xfrm>
          <a:prstGeom prst="ellipse">
            <a:avLst/>
          </a:prstGeom>
          <a:solidFill>
            <a:srgbClr val="D8DACD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6" name="Porquê 1 nome"/>
          <p:cNvSpPr txBox="1"/>
          <p:nvPr/>
        </p:nvSpPr>
        <p:spPr>
          <a:xfrm>
            <a:off x="1920240" y="1993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Branco mineral e pedra líquen</a:t>
            </a:r>
            <a:endParaRPr lang="en-US" sz="1700" dirty="0"/>
          </a:p>
        </p:txBody>
      </p:sp>
      <p:sp>
        <p:nvSpPr>
          <p:cNvPr id="7" name="Porquê 1 texto"/>
          <p:cNvSpPr txBox="1"/>
          <p:nvPr/>
        </p:nvSpPr>
        <p:spPr>
          <a:xfrm>
            <a:off x="1920240" y="2331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base clara e calma. Dá espaço para a pessoa aparecer: o destaque vem do respiro, não do excesso.</a:t>
            </a:r>
            <a:endParaRPr lang="en-US" sz="1300" dirty="0"/>
          </a:p>
        </p:txBody>
      </p:sp>
      <p:sp>
        <p:nvSpPr>
          <p:cNvPr id="8" name="Amostra 2.1"/>
          <p:cNvSpPr/>
          <p:nvPr/>
        </p:nvSpPr>
        <p:spPr>
          <a:xfrm>
            <a:off x="685800" y="2944368"/>
            <a:ext cx="640080" cy="640080"/>
          </a:xfrm>
          <a:prstGeom prst="ellipse">
            <a:avLst/>
          </a:prstGeom>
          <a:solidFill>
            <a:srgbClr val="1C211E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9" name="Amostra 2.2"/>
          <p:cNvSpPr/>
          <p:nvPr/>
        </p:nvSpPr>
        <p:spPr>
          <a:xfrm>
            <a:off x="1069848" y="2944368"/>
            <a:ext cx="640080" cy="640080"/>
          </a:xfrm>
          <a:prstGeom prst="ellipse">
            <a:avLst/>
          </a:prstGeom>
          <a:solidFill>
            <a:srgbClr val="59625A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10" name="Porquê 2 nome"/>
          <p:cNvSpPr txBox="1"/>
          <p:nvPr/>
        </p:nvSpPr>
        <p:spPr>
          <a:xfrm>
            <a:off x="1920240" y="2926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Preto musgo e ardósia</a:t>
            </a:r>
            <a:endParaRPr lang="en-US" sz="1700" dirty="0"/>
          </a:p>
        </p:txBody>
      </p:sp>
      <p:sp>
        <p:nvSpPr>
          <p:cNvPr id="11" name="Porquê 2 texto"/>
          <p:cNvSpPr txBox="1"/>
          <p:nvPr/>
        </p:nvSpPr>
        <p:spPr>
          <a:xfrm>
            <a:off x="1920240" y="32644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Profundidade e seriedade. Usados nos textos e nos momentos que pedem elegância.</a:t>
            </a:r>
            <a:endParaRPr lang="en-US" sz="1300" dirty="0"/>
          </a:p>
        </p:txBody>
      </p:sp>
      <p:sp>
        <p:nvSpPr>
          <p:cNvPr id="12" name="Amostra 3.1"/>
          <p:cNvSpPr/>
          <p:nvPr/>
        </p:nvSpPr>
        <p:spPr>
          <a:xfrm>
            <a:off x="685800" y="3877056"/>
            <a:ext cx="640080" cy="640080"/>
          </a:xfrm>
          <a:prstGeom prst="ellipse">
            <a:avLst/>
          </a:prstGeom>
          <a:solidFill>
            <a:srgbClr val="FF19B1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13" name="Porquê 3 nome"/>
          <p:cNvSpPr txBox="1"/>
          <p:nvPr/>
        </p:nvSpPr>
        <p:spPr>
          <a:xfrm>
            <a:off x="1920240" y="38587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Rosa choque</a:t>
            </a:r>
            <a:endParaRPr lang="en-US" sz="1700" dirty="0"/>
          </a:p>
        </p:txBody>
      </p:sp>
      <p:sp>
        <p:nvSpPr>
          <p:cNvPr id="14" name="Porquê 3 texto"/>
          <p:cNvSpPr txBox="1"/>
          <p:nvPr/>
        </p:nvSpPr>
        <p:spPr>
          <a:xfrm>
            <a:off x="1920240" y="41970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emoção. O coração que pulsa no símbolo: acolhimento, coragem e conexão.</a:t>
            </a:r>
            <a:endParaRPr lang="en-US" sz="1300" dirty="0"/>
          </a:p>
        </p:txBody>
      </p:sp>
      <p:sp>
        <p:nvSpPr>
          <p:cNvPr id="15" name="Amostra 4.1"/>
          <p:cNvSpPr/>
          <p:nvPr/>
        </p:nvSpPr>
        <p:spPr>
          <a:xfrm>
            <a:off x="685800" y="4809744"/>
            <a:ext cx="640080" cy="640080"/>
          </a:xfrm>
          <a:prstGeom prst="ellipse">
            <a:avLst/>
          </a:prstGeom>
          <a:solidFill>
            <a:srgbClr val="DBFF00"/>
          </a:solidFill>
          <a:ln w="9525">
            <a:solidFill>
              <a:srgbClr val="D8DACD"/>
            </a:solidFill>
            <a:prstDash val="solid"/>
          </a:ln>
        </p:spPr>
      </p:sp>
      <p:sp>
        <p:nvSpPr>
          <p:cNvPr id="16" name="Porquê 4 nome"/>
          <p:cNvSpPr txBox="1"/>
          <p:nvPr/>
        </p:nvSpPr>
        <p:spPr>
          <a:xfrm>
            <a:off x="1920240" y="47914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Verde vibrante</a:t>
            </a:r>
            <a:endParaRPr lang="en-US" sz="1700" dirty="0"/>
          </a:p>
        </p:txBody>
      </p:sp>
      <p:sp>
        <p:nvSpPr>
          <p:cNvPr id="17" name="Porquê 4 texto"/>
          <p:cNvSpPr txBox="1"/>
          <p:nvPr/>
        </p:nvSpPr>
        <p:spPr>
          <a:xfrm>
            <a:off x="1920240" y="51297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energia do movimento. Constância, ação e o play de quem decide aparecer.</a:t>
            </a:r>
            <a:endParaRPr lang="en-US" sz="1300" dirty="0"/>
          </a:p>
        </p:txBody>
      </p:sp>
      <p:sp>
        <p:nvSpPr>
          <p:cNvPr id="18" name="Quadro soma"/>
          <p:cNvSpPr/>
          <p:nvPr/>
        </p:nvSpPr>
        <p:spPr>
          <a:xfrm>
            <a:off x="7315200" y="2011680"/>
            <a:ext cx="4190695" cy="3977640"/>
          </a:xfrm>
          <a:prstGeom prst="roundRect">
            <a:avLst>
              <a:gd name="adj" fmla="val 36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írculo rosa"/>
          <p:cNvSpPr/>
          <p:nvPr/>
        </p:nvSpPr>
        <p:spPr>
          <a:xfrm>
            <a:off x="7863840" y="2514600"/>
            <a:ext cx="1143000" cy="1143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Mais"/>
          <p:cNvSpPr txBox="1"/>
          <p:nvPr/>
        </p:nvSpPr>
        <p:spPr>
          <a:xfrm>
            <a:off x="905256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</a:t>
            </a:r>
            <a:endParaRPr lang="en-US" sz="3600" dirty="0"/>
          </a:p>
        </p:txBody>
      </p:sp>
      <p:sp>
        <p:nvSpPr>
          <p:cNvPr id="21" name="Círculo verde"/>
          <p:cNvSpPr/>
          <p:nvPr/>
        </p:nvSpPr>
        <p:spPr>
          <a:xfrm>
            <a:off x="9555480" y="251460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Soma título"/>
          <p:cNvSpPr txBox="1"/>
          <p:nvPr/>
        </p:nvSpPr>
        <p:spPr>
          <a:xfrm>
            <a:off x="7772400" y="3931920"/>
            <a:ext cx="3276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Meov é a soma dos dois.</a:t>
            </a:r>
            <a:endParaRPr lang="en-US" sz="2200" dirty="0"/>
          </a:p>
        </p:txBody>
      </p:sp>
      <p:sp>
        <p:nvSpPr>
          <p:cNvPr id="23" name="Soma texto"/>
          <p:cNvSpPr txBox="1"/>
          <p:nvPr/>
        </p:nvSpPr>
        <p:spPr>
          <a:xfrm>
            <a:off x="7772400" y="4480560"/>
            <a:ext cx="32762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Rosa e verde aparecem sempre em par, na mesma medida, sobre o branco e os tons de cinza. Verde vibrante só sobre fundo escuro ou como superfície com texto escuro.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· TIPOGRAFIA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Duas famílias. </a:t>
            </a:r>
            <a:pPr algn="l" indent="0" marL="0">
              <a:buNone/>
            </a:pPr>
            <a:r>
              <a:rPr lang="en-US" sz="3400" spc="-60" kern="0" dirty="0">
                <a:solidFill>
                  <a:schemeClr val="tx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Uma voz.</a:t>
            </a:r>
            <a:endParaRPr lang="en-US" sz="3400" dirty="0"/>
          </a:p>
        </p:txBody>
      </p:sp>
      <p:sp>
        <p:nvSpPr>
          <p:cNvPr id="4" name="Cartão Manrope"/>
          <p:cNvSpPr/>
          <p:nvPr/>
        </p:nvSpPr>
        <p:spPr>
          <a:xfrm>
            <a:off x="685800" y="2011680"/>
            <a:ext cx="5272888" cy="402336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ótulo Manrope"/>
          <p:cNvSpPr txBox="1"/>
          <p:nvPr/>
        </p:nvSpPr>
        <p:spPr>
          <a:xfrm>
            <a:off x="1097280" y="23317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TÍTULOS E TEXTOS</a:t>
            </a:r>
            <a:endParaRPr lang="en-US" sz="1000" dirty="0"/>
          </a:p>
        </p:txBody>
      </p:sp>
      <p:sp>
        <p:nvSpPr>
          <p:cNvPr id="6" name="Aa Manrope"/>
          <p:cNvSpPr txBox="1"/>
          <p:nvPr/>
        </p:nvSpPr>
        <p:spPr>
          <a:xfrm>
            <a:off x="1097280" y="265176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Aa</a:t>
            </a:r>
            <a:endParaRPr lang="en-US" sz="9600" dirty="0"/>
          </a:p>
        </p:txBody>
      </p:sp>
      <p:sp>
        <p:nvSpPr>
          <p:cNvPr id="7" name="Nome Manrope"/>
          <p:cNvSpPr txBox="1"/>
          <p:nvPr/>
        </p:nvSpPr>
        <p:spPr>
          <a:xfrm>
            <a:off x="1097280" y="4069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Manrope</a:t>
            </a:r>
            <a:endParaRPr lang="en-US" sz="3000" dirty="0"/>
          </a:p>
        </p:txBody>
      </p:sp>
      <p:sp>
        <p:nvSpPr>
          <p:cNvPr id="8" name="Porquê Manrope"/>
          <p:cNvSpPr txBox="1"/>
          <p:nvPr/>
        </p:nvSpPr>
        <p:spPr>
          <a:xfrm>
            <a:off x="1097280" y="4663440"/>
            <a:ext cx="444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Acolhedora e moderna. Leve nos títulos, porque o destaque vem do espaço, não do negrito. É a voz que acolhe.</a:t>
            </a:r>
            <a:endParaRPr lang="en-US" sz="1300" dirty="0"/>
          </a:p>
        </p:txBody>
      </p:sp>
      <p:sp>
        <p:nvSpPr>
          <p:cNvPr id="9" name="Pesos Manrope"/>
          <p:cNvSpPr txBox="1"/>
          <p:nvPr/>
        </p:nvSpPr>
        <p:spPr>
          <a:xfrm>
            <a:off x="1097280" y="5623560"/>
            <a:ext cx="444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LIGHT 300 · REGULAR 400 · MEDIUM 500 · SEMIBOLD 600</a:t>
            </a:r>
            <a:endParaRPr lang="en-US" sz="900" dirty="0"/>
          </a:p>
        </p:txBody>
      </p:sp>
      <p:sp>
        <p:nvSpPr>
          <p:cNvPr id="10" name="Cartão Geist"/>
          <p:cNvSpPr/>
          <p:nvPr/>
        </p:nvSpPr>
        <p:spPr>
          <a:xfrm>
            <a:off x="6233008" y="2011680"/>
            <a:ext cx="5272888" cy="402336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Rótulo Geist"/>
          <p:cNvSpPr txBox="1"/>
          <p:nvPr/>
        </p:nvSpPr>
        <p:spPr>
          <a:xfrm>
            <a:off x="6644488" y="23317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DADOS E RÓTULOS</a:t>
            </a:r>
            <a:endParaRPr lang="en-US" sz="1000" dirty="0"/>
          </a:p>
        </p:txBody>
      </p:sp>
      <p:sp>
        <p:nvSpPr>
          <p:cNvPr id="12" name="Aa Geist"/>
          <p:cNvSpPr txBox="1"/>
          <p:nvPr/>
        </p:nvSpPr>
        <p:spPr>
          <a:xfrm>
            <a:off x="6644488" y="265176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Aa</a:t>
            </a:r>
            <a:endParaRPr lang="en-US" sz="8800" dirty="0"/>
          </a:p>
        </p:txBody>
      </p:sp>
      <p:sp>
        <p:nvSpPr>
          <p:cNvPr id="13" name="Nome Geist"/>
          <p:cNvSpPr txBox="1"/>
          <p:nvPr/>
        </p:nvSpPr>
        <p:spPr>
          <a:xfrm>
            <a:off x="6644488" y="4069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Mono</a:t>
            </a:r>
            <a:endParaRPr lang="en-US" sz="2800" dirty="0"/>
          </a:p>
        </p:txBody>
      </p:sp>
      <p:sp>
        <p:nvSpPr>
          <p:cNvPr id="14" name="Porquê Geist"/>
          <p:cNvSpPr txBox="1"/>
          <p:nvPr/>
        </p:nvSpPr>
        <p:spPr>
          <a:xfrm>
            <a:off x="6644488" y="4663440"/>
            <a:ext cx="444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Precisa e técnica. Só em números, valores, datas, @, sites e selos. É o lado técnico da Meov.</a:t>
            </a:r>
            <a:endParaRPr lang="en-US" sz="1300" dirty="0"/>
          </a:p>
        </p:txBody>
      </p:sp>
      <p:sp>
        <p:nvSpPr>
          <p:cNvPr id="15" name="Pesos Geist"/>
          <p:cNvSpPr txBox="1"/>
          <p:nvPr/>
        </p:nvSpPr>
        <p:spPr>
          <a:xfrm>
            <a:off x="6644488" y="5623560"/>
            <a:ext cx="444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· ESCALA E REGRAS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Títulos leves, frases serenas.</a:t>
            </a:r>
            <a:endParaRPr lang="en-US" sz="3400" dirty="0"/>
          </a:p>
        </p:txBody>
      </p:sp>
      <p:sp>
        <p:nvSpPr>
          <p:cNvPr id="4" name="Escala linha 1"/>
          <p:cNvSpPr/>
          <p:nvPr/>
        </p:nvSpPr>
        <p:spPr>
          <a:xfrm>
            <a:off x="685800" y="2011680"/>
            <a:ext cx="6675120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5" name="Escala rótulo 1"/>
          <p:cNvSpPr txBox="1"/>
          <p:nvPr/>
        </p:nvSpPr>
        <p:spPr>
          <a:xfrm>
            <a:off x="685800" y="2148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DISPLAY</a:t>
            </a:r>
            <a:endParaRPr lang="en-US" sz="1000" dirty="0"/>
          </a:p>
        </p:txBody>
      </p:sp>
      <p:sp>
        <p:nvSpPr>
          <p:cNvPr id="6" name="Escala tamanho 1"/>
          <p:cNvSpPr txBox="1"/>
          <p:nvPr/>
        </p:nvSpPr>
        <p:spPr>
          <a:xfrm>
            <a:off x="1874520" y="2148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64 / 300</a:t>
            </a:r>
            <a:endParaRPr lang="en-US" sz="900" dirty="0"/>
          </a:p>
        </p:txBody>
      </p:sp>
      <p:sp>
        <p:nvSpPr>
          <p:cNvPr id="7" name="Escala exemplo 1"/>
          <p:cNvSpPr txBox="1"/>
          <p:nvPr/>
        </p:nvSpPr>
        <p:spPr>
          <a:xfrm>
            <a:off x="2971800" y="20574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Sua voz, no ritmo certo</a:t>
            </a:r>
            <a:endParaRPr lang="en-US" sz="3000" dirty="0"/>
          </a:p>
        </p:txBody>
      </p:sp>
      <p:sp>
        <p:nvSpPr>
          <p:cNvPr id="8" name="Escala linha 2"/>
          <p:cNvSpPr/>
          <p:nvPr/>
        </p:nvSpPr>
        <p:spPr>
          <a:xfrm>
            <a:off x="685800" y="2880360"/>
            <a:ext cx="6675120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9" name="Escala rótulo 2"/>
          <p:cNvSpPr txBox="1"/>
          <p:nvPr/>
        </p:nvSpPr>
        <p:spPr>
          <a:xfrm>
            <a:off x="685800" y="30175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TÍTULO</a:t>
            </a:r>
            <a:endParaRPr lang="en-US" sz="1000" dirty="0"/>
          </a:p>
        </p:txBody>
      </p:sp>
      <p:sp>
        <p:nvSpPr>
          <p:cNvPr id="10" name="Escala tamanho 2"/>
          <p:cNvSpPr txBox="1"/>
          <p:nvPr/>
        </p:nvSpPr>
        <p:spPr>
          <a:xfrm>
            <a:off x="1874520" y="30175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34 / 300</a:t>
            </a:r>
            <a:endParaRPr lang="en-US" sz="900" dirty="0"/>
          </a:p>
        </p:txBody>
      </p:sp>
      <p:sp>
        <p:nvSpPr>
          <p:cNvPr id="11" name="Escala exemplo 2"/>
          <p:cNvSpPr txBox="1"/>
          <p:nvPr/>
        </p:nvSpPr>
        <p:spPr>
          <a:xfrm>
            <a:off x="2971800" y="2926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Seja nas redes quem você já é</a:t>
            </a:r>
            <a:endParaRPr lang="en-US" sz="2000" dirty="0"/>
          </a:p>
        </p:txBody>
      </p:sp>
      <p:sp>
        <p:nvSpPr>
          <p:cNvPr id="12" name="Escala linha 3"/>
          <p:cNvSpPr/>
          <p:nvPr/>
        </p:nvSpPr>
        <p:spPr>
          <a:xfrm>
            <a:off x="685800" y="3566160"/>
            <a:ext cx="6675120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13" name="Escala rótulo 3"/>
          <p:cNvSpPr txBox="1"/>
          <p:nvPr/>
        </p:nvSpPr>
        <p:spPr>
          <a:xfrm>
            <a:off x="685800" y="3703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TEXTO</a:t>
            </a:r>
            <a:endParaRPr lang="en-US" sz="1000" dirty="0"/>
          </a:p>
        </p:txBody>
      </p:sp>
      <p:sp>
        <p:nvSpPr>
          <p:cNvPr id="14" name="Escala tamanho 3"/>
          <p:cNvSpPr txBox="1"/>
          <p:nvPr/>
        </p:nvSpPr>
        <p:spPr>
          <a:xfrm>
            <a:off x="1874520" y="3703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 / 400</a:t>
            </a:r>
            <a:endParaRPr lang="en-US" sz="900" dirty="0"/>
          </a:p>
        </p:txBody>
      </p:sp>
      <p:sp>
        <p:nvSpPr>
          <p:cNvPr id="15" name="Escala exemplo 3"/>
          <p:cNvSpPr txBox="1"/>
          <p:nvPr/>
        </p:nvSpPr>
        <p:spPr>
          <a:xfrm>
            <a:off x="2971800" y="3611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gente cuida da técnica. Você aparece com verdade.</a:t>
            </a:r>
            <a:endParaRPr lang="en-US" sz="1400" dirty="0"/>
          </a:p>
        </p:txBody>
      </p:sp>
      <p:sp>
        <p:nvSpPr>
          <p:cNvPr id="16" name="Escala linha 4"/>
          <p:cNvSpPr/>
          <p:nvPr/>
        </p:nvSpPr>
        <p:spPr>
          <a:xfrm>
            <a:off x="685800" y="4114800"/>
            <a:ext cx="6675120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17" name="Escala rótulo 4"/>
          <p:cNvSpPr txBox="1"/>
          <p:nvPr/>
        </p:nvSpPr>
        <p:spPr>
          <a:xfrm>
            <a:off x="685800" y="4251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DADO</a:t>
            </a:r>
            <a:endParaRPr lang="en-US" sz="1000" dirty="0"/>
          </a:p>
        </p:txBody>
      </p:sp>
      <p:sp>
        <p:nvSpPr>
          <p:cNvPr id="18" name="Escala tamanho 4"/>
          <p:cNvSpPr txBox="1"/>
          <p:nvPr/>
        </p:nvSpPr>
        <p:spPr>
          <a:xfrm>
            <a:off x="1874520" y="42519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11 / mono</a:t>
            </a:r>
            <a:endParaRPr lang="en-US" sz="900" dirty="0"/>
          </a:p>
        </p:txBody>
      </p:sp>
      <p:sp>
        <p:nvSpPr>
          <p:cNvPr id="19" name="Escala exemplo 4"/>
          <p:cNvSpPr txBox="1"/>
          <p:nvPr/>
        </p:nvSpPr>
        <p:spPr>
          <a:xfrm>
            <a:off x="2971800" y="4160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 REELS · 8 CARROSSÉIS · 4 POSTS · @MEOV.MP</a:t>
            </a:r>
            <a:endParaRPr lang="en-US" sz="1100" dirty="0"/>
          </a:p>
        </p:txBody>
      </p:sp>
      <p:sp>
        <p:nvSpPr>
          <p:cNvPr id="20" name="Quadro regras"/>
          <p:cNvSpPr/>
          <p:nvPr/>
        </p:nvSpPr>
        <p:spPr>
          <a:xfrm>
            <a:off x="7726680" y="2011680"/>
            <a:ext cx="3779215" cy="402336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Regra 1 número"/>
          <p:cNvSpPr txBox="1"/>
          <p:nvPr/>
        </p:nvSpPr>
        <p:spPr>
          <a:xfrm>
            <a:off x="8046720" y="2240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Regra 1"/>
          <p:cNvSpPr txBox="1"/>
          <p:nvPr/>
        </p:nvSpPr>
        <p:spPr>
          <a:xfrm>
            <a:off x="8503920" y="2203704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Títulos leves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Light 300 nos títulos grandes.</a:t>
            </a:r>
            <a:endParaRPr lang="en-US" sz="1400" dirty="0"/>
          </a:p>
        </p:txBody>
      </p:sp>
      <p:sp>
        <p:nvSpPr>
          <p:cNvPr id="23" name="Regra 2 número"/>
          <p:cNvSpPr txBox="1"/>
          <p:nvPr/>
        </p:nvSpPr>
        <p:spPr>
          <a:xfrm>
            <a:off x="8046720" y="2862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Regra 2"/>
          <p:cNvSpPr txBox="1"/>
          <p:nvPr/>
        </p:nvSpPr>
        <p:spPr>
          <a:xfrm>
            <a:off x="8503920" y="2825496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Letras próximas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−0,02 a −0,03 em nos títulos.</a:t>
            </a:r>
            <a:endParaRPr lang="en-US" sz="1400" dirty="0"/>
          </a:p>
        </p:txBody>
      </p:sp>
      <p:sp>
        <p:nvSpPr>
          <p:cNvPr id="25" name="Regra 3 número"/>
          <p:cNvSpPr txBox="1"/>
          <p:nvPr/>
        </p:nvSpPr>
        <p:spPr>
          <a:xfrm>
            <a:off x="8046720" y="34838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Regra 3"/>
          <p:cNvSpPr txBox="1"/>
          <p:nvPr/>
        </p:nvSpPr>
        <p:spPr>
          <a:xfrm>
            <a:off x="8503920" y="3447288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Mono só para dados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Nunca em frases.</a:t>
            </a:r>
            <a:endParaRPr lang="en-US" sz="1400" dirty="0"/>
          </a:p>
        </p:txBody>
      </p:sp>
      <p:sp>
        <p:nvSpPr>
          <p:cNvPr id="27" name="Regra 4 número"/>
          <p:cNvSpPr txBox="1"/>
          <p:nvPr/>
        </p:nvSpPr>
        <p:spPr>
          <a:xfrm>
            <a:off x="8046720" y="41056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Regra 4"/>
          <p:cNvSpPr txBox="1"/>
          <p:nvPr/>
        </p:nvSpPr>
        <p:spPr>
          <a:xfrm>
            <a:off x="8503920" y="4069080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Dois pesos por peça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300 no título, 400 no texto.</a:t>
            </a:r>
            <a:endParaRPr lang="en-US" sz="1400" dirty="0"/>
          </a:p>
        </p:txBody>
      </p:sp>
      <p:sp>
        <p:nvSpPr>
          <p:cNvPr id="29" name="Regra 5 número"/>
          <p:cNvSpPr txBox="1"/>
          <p:nvPr/>
        </p:nvSpPr>
        <p:spPr>
          <a:xfrm>
            <a:off x="8046720" y="47274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Regra 5"/>
          <p:cNvSpPr txBox="1"/>
          <p:nvPr/>
        </p:nvSpPr>
        <p:spPr>
          <a:xfrm>
            <a:off x="8503920" y="4690872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 do texto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Musgo no principal, ardósia no apoio.</a:t>
            </a:r>
            <a:endParaRPr lang="en-US" sz="1400" dirty="0"/>
          </a:p>
        </p:txBody>
      </p:sp>
      <p:sp>
        <p:nvSpPr>
          <p:cNvPr id="31" name="Regra 6 número"/>
          <p:cNvSpPr txBox="1"/>
          <p:nvPr/>
        </p:nvSpPr>
        <p:spPr>
          <a:xfrm>
            <a:off x="8046720" y="5349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Regra 6"/>
          <p:cNvSpPr txBox="1"/>
          <p:nvPr/>
        </p:nvSpPr>
        <p:spPr>
          <a:xfrm>
            <a:off x="8503920" y="5312664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Frases serenas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Títulos curtos e calmos.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malha"/>
          <p:cNvSpPr txBox="1"/>
          <p:nvPr/>
        </p:nvSpPr>
        <p:spPr>
          <a:xfrm>
            <a:off x="685800" y="868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09 · LOGOTIPO</a:t>
            </a:r>
            <a:endParaRPr lang="en-US" sz="1000" dirty="0"/>
          </a:p>
        </p:txBody>
      </p:sp>
      <p:sp>
        <p:nvSpPr>
          <p:cNvPr id="3" name="Legenda malha"/>
          <p:cNvSpPr txBox="1"/>
          <p:nvPr/>
        </p:nvSpPr>
        <p:spPr>
          <a:xfrm>
            <a:off x="68580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Curvas contínuas, sem quebra: o m que vira onda.</a:t>
            </a:r>
            <a:endParaRPr lang="en-US" sz="13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malha"/>
          <p:cNvSpPr txBox="1"/>
          <p:nvPr/>
        </p:nvSpPr>
        <p:spPr>
          <a:xfrm>
            <a:off x="685800" y="868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10 · SÍMBOLO</a:t>
            </a:r>
            <a:endParaRPr lang="en-US" sz="1000" dirty="0"/>
          </a:p>
        </p:txBody>
      </p:sp>
      <p:sp>
        <p:nvSpPr>
          <p:cNvPr id="3" name="Legenda malha"/>
          <p:cNvSpPr txBox="1"/>
          <p:nvPr/>
        </p:nvSpPr>
        <p:spPr>
          <a:xfrm>
            <a:off x="68580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 diagonais do m e do v seguem o mesmo ângulo de 69,5°.</a:t>
            </a:r>
            <a:endParaRPr lang="en-US" sz="13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11 · O PORQUÊ DO SÍMBOLO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Uma marca que pulsa.</a:t>
            </a:r>
            <a:endParaRPr lang="en-US" sz="3400" dirty="0"/>
          </a:p>
        </p:txBody>
      </p:sp>
      <p:pic>
        <p:nvPicPr>
          <p:cNvPr id="4" name="Símbol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3564893" cy="1554480"/>
          </a:xfrm>
          <a:prstGeom prst="rect">
            <a:avLst/>
          </a:prstGeom>
        </p:spPr>
      </p:pic>
      <p:sp>
        <p:nvSpPr>
          <p:cNvPr id="5" name="Equação 1"/>
          <p:cNvSpPr txBox="1"/>
          <p:nvPr/>
        </p:nvSpPr>
        <p:spPr>
          <a:xfrm>
            <a:off x="685800" y="4114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</a:t>
            </a:r>
            <a:endParaRPr lang="en-US" sz="5400" dirty="0"/>
          </a:p>
        </p:txBody>
      </p:sp>
      <p:sp>
        <p:nvSpPr>
          <p:cNvPr id="6" name="Equação 1 traço"/>
          <p:cNvSpPr/>
          <p:nvPr/>
        </p:nvSpPr>
        <p:spPr>
          <a:xfrm>
            <a:off x="685800" y="4983480"/>
            <a:ext cx="45720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Equação 1 legenda"/>
          <p:cNvSpPr txBox="1"/>
          <p:nvPr/>
        </p:nvSpPr>
        <p:spPr>
          <a:xfrm>
            <a:off x="68580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e marca</a:t>
            </a:r>
            <a:endParaRPr lang="en-US" sz="1300" dirty="0"/>
          </a:p>
        </p:txBody>
      </p:sp>
      <p:sp>
        <p:nvSpPr>
          <p:cNvPr id="8" name="Mais 1"/>
          <p:cNvSpPr txBox="1"/>
          <p:nvPr/>
        </p:nvSpPr>
        <p:spPr>
          <a:xfrm>
            <a:off x="173736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</a:t>
            </a:r>
            <a:endParaRPr lang="en-US" sz="4000" dirty="0"/>
          </a:p>
        </p:txBody>
      </p:sp>
      <p:sp>
        <p:nvSpPr>
          <p:cNvPr id="9" name="Equação 2"/>
          <p:cNvSpPr txBox="1"/>
          <p:nvPr/>
        </p:nvSpPr>
        <p:spPr>
          <a:xfrm>
            <a:off x="2834640" y="4114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</a:t>
            </a:r>
            <a:endParaRPr lang="en-US" sz="5400" dirty="0"/>
          </a:p>
        </p:txBody>
      </p:sp>
      <p:sp>
        <p:nvSpPr>
          <p:cNvPr id="10" name="Equação 2 traço"/>
          <p:cNvSpPr/>
          <p:nvPr/>
        </p:nvSpPr>
        <p:spPr>
          <a:xfrm>
            <a:off x="2834640" y="4983480"/>
            <a:ext cx="457200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Equação 2 legenda"/>
          <p:cNvSpPr txBox="1"/>
          <p:nvPr/>
        </p:nvSpPr>
        <p:spPr>
          <a:xfrm>
            <a:off x="283464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voz</a:t>
            </a:r>
            <a:endParaRPr lang="en-US" sz="1300" dirty="0"/>
          </a:p>
        </p:txBody>
      </p:sp>
      <p:sp>
        <p:nvSpPr>
          <p:cNvPr id="12" name="Mais 2"/>
          <p:cNvSpPr txBox="1"/>
          <p:nvPr/>
        </p:nvSpPr>
        <p:spPr>
          <a:xfrm>
            <a:off x="388620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</a:t>
            </a:r>
            <a:endParaRPr lang="en-US" sz="4000" dirty="0"/>
          </a:p>
        </p:txBody>
      </p:sp>
      <p:sp>
        <p:nvSpPr>
          <p:cNvPr id="13" name="Equação 3"/>
          <p:cNvSpPr txBox="1"/>
          <p:nvPr/>
        </p:nvSpPr>
        <p:spPr>
          <a:xfrm>
            <a:off x="4983480" y="4114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∿</a:t>
            </a:r>
            <a:endParaRPr lang="en-US" sz="5400" dirty="0"/>
          </a:p>
        </p:txBody>
      </p:sp>
      <p:sp>
        <p:nvSpPr>
          <p:cNvPr id="14" name="Equação 3 traço"/>
          <p:cNvSpPr/>
          <p:nvPr/>
        </p:nvSpPr>
        <p:spPr>
          <a:xfrm>
            <a:off x="4983480" y="4983480"/>
            <a:ext cx="45720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Equação 3 legenda"/>
          <p:cNvSpPr txBox="1"/>
          <p:nvPr/>
        </p:nvSpPr>
        <p:spPr>
          <a:xfrm>
            <a:off x="498348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batimento e onda sonora</a:t>
            </a:r>
            <a:endParaRPr lang="en-US" sz="1300" dirty="0"/>
          </a:p>
        </p:txBody>
      </p:sp>
      <p:sp>
        <p:nvSpPr>
          <p:cNvPr id="16" name="Quadro porquê"/>
          <p:cNvSpPr/>
          <p:nvPr/>
        </p:nvSpPr>
        <p:spPr>
          <a:xfrm>
            <a:off x="7086600" y="2011680"/>
            <a:ext cx="4419295" cy="402336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o porquê"/>
          <p:cNvSpPr txBox="1"/>
          <p:nvPr/>
        </p:nvSpPr>
        <p:spPr>
          <a:xfrm>
            <a:off x="7452360" y="2331720"/>
            <a:ext cx="368777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símbolo nasceu do m e do v de "meov", unidos por uma linha de batimento cardíaco: experiências que fazem o coração pulsar.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 Meov Marca Pessoal, a mesma linha ganha um segundo sentido: é a onda sonora da voz de cada cliente e o ritmo da presença constante nas redes.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 voz, no ritmo certo.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 1"/>
          <p:cNvSpPr/>
          <p:nvPr/>
        </p:nvSpPr>
        <p:spPr>
          <a:xfrm>
            <a:off x="0" y="0"/>
            <a:ext cx="6095848" cy="34290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pic>
        <p:nvPicPr>
          <p:cNvPr id="3" name="Logotip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9204" y="1401934"/>
            <a:ext cx="2377440" cy="625132"/>
          </a:xfrm>
          <a:prstGeom prst="rect">
            <a:avLst/>
          </a:prstGeom>
        </p:spPr>
      </p:pic>
      <p:sp>
        <p:nvSpPr>
          <p:cNvPr id="4" name="Fundo 2"/>
          <p:cNvSpPr/>
          <p:nvPr/>
        </p:nvSpPr>
        <p:spPr>
          <a:xfrm>
            <a:off x="6095848" y="0"/>
            <a:ext cx="6095848" cy="342900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5" name="Logotip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051" y="1401934"/>
            <a:ext cx="2377440" cy="625132"/>
          </a:xfrm>
          <a:prstGeom prst="rect">
            <a:avLst/>
          </a:prstGeom>
        </p:spPr>
      </p:pic>
      <p:sp>
        <p:nvSpPr>
          <p:cNvPr id="6" name="Fundo 3"/>
          <p:cNvSpPr/>
          <p:nvPr/>
        </p:nvSpPr>
        <p:spPr>
          <a:xfrm>
            <a:off x="0" y="3429000"/>
            <a:ext cx="6095848" cy="3429000"/>
          </a:xfrm>
          <a:prstGeom prst="rect">
            <a:avLst/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pic>
        <p:nvPicPr>
          <p:cNvPr id="7" name="Logotip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204" y="4830934"/>
            <a:ext cx="2377440" cy="625132"/>
          </a:xfrm>
          <a:prstGeom prst="rect">
            <a:avLst/>
          </a:prstGeom>
        </p:spPr>
      </p:pic>
      <p:sp>
        <p:nvSpPr>
          <p:cNvPr id="8" name="Fundo 4"/>
          <p:cNvSpPr/>
          <p:nvPr/>
        </p:nvSpPr>
        <p:spPr>
          <a:xfrm>
            <a:off x="6095848" y="3429000"/>
            <a:ext cx="6095848" cy="3429000"/>
          </a:xfrm>
          <a:prstGeom prst="rect">
            <a:avLst/>
          </a:prstGeom>
          <a:solidFill>
            <a:srgbClr val="D8DACD"/>
          </a:solidFill>
          <a:ln w="12700">
            <a:solidFill>
              <a:srgbClr val="D8DACD"/>
            </a:solidFill>
            <a:prstDash val="solid"/>
          </a:ln>
        </p:spPr>
      </p:sp>
      <p:pic>
        <p:nvPicPr>
          <p:cNvPr id="9" name="Logotip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051" y="4830934"/>
            <a:ext cx="2377440" cy="625132"/>
          </a:xfrm>
          <a:prstGeom prst="rect">
            <a:avLst/>
          </a:prstGeom>
        </p:spPr>
      </p:pic>
      <p:sp>
        <p:nvSpPr>
          <p:cNvPr id="10" name="Rótulo resultado"/>
          <p:cNvSpPr txBox="1"/>
          <p:nvPr/>
        </p:nvSpPr>
        <p:spPr>
          <a:xfrm>
            <a:off x="457200" y="365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 · RESULTADO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13 · VERSÕES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Logotipo para apresentar. Símbolo para assinar.</a:t>
            </a:r>
            <a:endParaRPr lang="en-US" sz="3400" dirty="0"/>
          </a:p>
        </p:txBody>
      </p:sp>
      <p:sp>
        <p:nvSpPr>
          <p:cNvPr id="4" name="Quadro principal"/>
          <p:cNvSpPr/>
          <p:nvPr/>
        </p:nvSpPr>
        <p:spPr>
          <a:xfrm>
            <a:off x="685800" y="2011680"/>
            <a:ext cx="6766560" cy="237744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Logotipo 10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697480"/>
            <a:ext cx="3291840" cy="865567"/>
          </a:xfrm>
          <a:prstGeom prst="rect">
            <a:avLst/>
          </a:prstGeom>
        </p:spPr>
      </p:pic>
      <p:pic>
        <p:nvPicPr>
          <p:cNvPr id="6" name="Símbolo 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743200"/>
            <a:ext cx="1992146" cy="868680"/>
          </a:xfrm>
          <a:prstGeom prst="rect">
            <a:avLst/>
          </a:prstGeom>
        </p:spPr>
      </p:pic>
      <p:sp>
        <p:nvSpPr>
          <p:cNvPr id="7" name="Régua 100"/>
          <p:cNvSpPr/>
          <p:nvPr/>
        </p:nvSpPr>
        <p:spPr>
          <a:xfrm>
            <a:off x="1417320" y="3931920"/>
            <a:ext cx="3291840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8" name="Régua 25"/>
          <p:cNvSpPr/>
          <p:nvPr/>
        </p:nvSpPr>
        <p:spPr>
          <a:xfrm>
            <a:off x="5440680" y="3931920"/>
            <a:ext cx="1992146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9" name="Medida 100"/>
          <p:cNvSpPr txBox="1"/>
          <p:nvPr/>
        </p:nvSpPr>
        <p:spPr>
          <a:xfrm>
            <a:off x="1417320" y="4005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100%</a:t>
            </a:r>
            <a:endParaRPr lang="en-US" sz="900" dirty="0"/>
          </a:p>
        </p:txBody>
      </p:sp>
      <p:sp>
        <p:nvSpPr>
          <p:cNvPr id="10" name="Medida 25"/>
          <p:cNvSpPr txBox="1"/>
          <p:nvPr/>
        </p:nvSpPr>
        <p:spPr>
          <a:xfrm>
            <a:off x="5440680" y="4005072"/>
            <a:ext cx="1992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25%</a:t>
            </a:r>
            <a:endParaRPr lang="en-US" sz="900" dirty="0"/>
          </a:p>
        </p:txBody>
      </p:sp>
      <p:sp>
        <p:nvSpPr>
          <p:cNvPr id="11" name="Versão 1"/>
          <p:cNvSpPr/>
          <p:nvPr/>
        </p:nvSpPr>
        <p:spPr>
          <a:xfrm>
            <a:off x="685800" y="457200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12" name="Versão 1 log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147237"/>
            <a:ext cx="1188720" cy="312566"/>
          </a:xfrm>
          <a:prstGeom prst="rect">
            <a:avLst/>
          </a:prstGeom>
        </p:spPr>
      </p:pic>
      <p:sp>
        <p:nvSpPr>
          <p:cNvPr id="13" name="Versão 2"/>
          <p:cNvSpPr/>
          <p:nvPr/>
        </p:nvSpPr>
        <p:spPr>
          <a:xfrm>
            <a:off x="2423160" y="457200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DBFF00"/>
          </a:solidFill>
          <a:ln w="12700">
            <a:solidFill>
              <a:srgbClr val="DBFF00"/>
            </a:solidFill>
            <a:prstDash val="solid"/>
          </a:ln>
        </p:spPr>
      </p:sp>
      <p:pic>
        <p:nvPicPr>
          <p:cNvPr id="14" name="Versão 2 log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5147237"/>
            <a:ext cx="1188720" cy="312566"/>
          </a:xfrm>
          <a:prstGeom prst="rect">
            <a:avLst/>
          </a:prstGeom>
        </p:spPr>
      </p:pic>
      <p:sp>
        <p:nvSpPr>
          <p:cNvPr id="15" name="Versão 3"/>
          <p:cNvSpPr/>
          <p:nvPr/>
        </p:nvSpPr>
        <p:spPr>
          <a:xfrm>
            <a:off x="4160520" y="457200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pic>
        <p:nvPicPr>
          <p:cNvPr id="16" name="Versão 3 log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6260" y="5147237"/>
            <a:ext cx="1188720" cy="312566"/>
          </a:xfrm>
          <a:prstGeom prst="rect">
            <a:avLst/>
          </a:prstGeom>
        </p:spPr>
      </p:pic>
      <p:sp>
        <p:nvSpPr>
          <p:cNvPr id="17" name="Versão 4"/>
          <p:cNvSpPr/>
          <p:nvPr/>
        </p:nvSpPr>
        <p:spPr>
          <a:xfrm>
            <a:off x="5897880" y="457200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18" name="Versão 4 log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5114125"/>
            <a:ext cx="868680" cy="378790"/>
          </a:xfrm>
          <a:prstGeom prst="rect">
            <a:avLst/>
          </a:prstGeom>
        </p:spPr>
      </p:pic>
      <p:sp>
        <p:nvSpPr>
          <p:cNvPr id="19" name="Usos"/>
          <p:cNvSpPr txBox="1"/>
          <p:nvPr/>
        </p:nvSpPr>
        <p:spPr>
          <a:xfrm>
            <a:off x="7818120" y="2011680"/>
            <a:ext cx="368777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Logotipo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Capas, site, assinaturas de e-mail e tudo que apresenta a Meov pela primeira vez.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Símbolo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Avatar, favicon, selos, rodapés e aplicações pequenas, a partir de 16 px.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 fundo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Musgo sobre claros; mineral ou verde sobre escuros. Os 26 arquivos estão em brand/meov/logo.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 · UNIVERSO VISUAL · INSTAGRAM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@meov.mp</a:t>
            </a:r>
            <a:endParaRPr lang="en-US" sz="3400" dirty="0"/>
          </a:p>
        </p:txBody>
      </p:sp>
      <p:sp>
        <p:nvSpPr>
          <p:cNvPr id="4" name="Perfil"/>
          <p:cNvSpPr/>
          <p:nvPr/>
        </p:nvSpPr>
        <p:spPr>
          <a:xfrm>
            <a:off x="685800" y="1965960"/>
            <a:ext cx="5669280" cy="420624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Avatar fundo"/>
          <p:cNvSpPr/>
          <p:nvPr/>
        </p:nvSpPr>
        <p:spPr>
          <a:xfrm>
            <a:off x="1051560" y="2331720"/>
            <a:ext cx="1143000" cy="11430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Avat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2743200"/>
            <a:ext cx="822960" cy="358854"/>
          </a:xfrm>
          <a:prstGeom prst="rect">
            <a:avLst/>
          </a:prstGeom>
        </p:spPr>
      </p:pic>
      <p:sp>
        <p:nvSpPr>
          <p:cNvPr id="7" name="Usuário"/>
          <p:cNvSpPr txBox="1"/>
          <p:nvPr/>
        </p:nvSpPr>
        <p:spPr>
          <a:xfrm>
            <a:off x="246888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meov.mp</a:t>
            </a:r>
            <a:endParaRPr lang="en-US" sz="1800" dirty="0"/>
          </a:p>
        </p:txBody>
      </p:sp>
      <p:sp>
        <p:nvSpPr>
          <p:cNvPr id="8" name="Nome"/>
          <p:cNvSpPr txBox="1"/>
          <p:nvPr/>
        </p:nvSpPr>
        <p:spPr>
          <a:xfrm>
            <a:off x="246888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| Marca Pessoal</a:t>
            </a:r>
            <a:endParaRPr lang="en-US" sz="1300" dirty="0"/>
          </a:p>
        </p:txBody>
      </p:sp>
      <p:sp>
        <p:nvSpPr>
          <p:cNvPr id="9" name="Bio"/>
          <p:cNvSpPr txBox="1"/>
          <p:nvPr/>
        </p:nvSpPr>
        <p:spPr>
          <a:xfrm>
            <a:off x="2468880" y="3044952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ajudamos especialistas a colocar sua voz no digital: estratégia, audiovisual e gestão das redes, com acolhimento do começo ao fim.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↓ fala com a Meov</a:t>
            </a:r>
            <a:endParaRPr lang="en-US" sz="1100" dirty="0"/>
          </a:p>
        </p:txBody>
      </p:sp>
      <p:sp>
        <p:nvSpPr>
          <p:cNvPr id="10" name="Link"/>
          <p:cNvSpPr txBox="1"/>
          <p:nvPr/>
        </p:nvSpPr>
        <p:spPr>
          <a:xfrm>
            <a:off x="2468880" y="3931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MEOV.COM.BR</a:t>
            </a:r>
            <a:endParaRPr lang="en-US" sz="900" dirty="0"/>
          </a:p>
        </p:txBody>
      </p:sp>
      <p:sp>
        <p:nvSpPr>
          <p:cNvPr id="11" name="Destaque 1"/>
          <p:cNvSpPr/>
          <p:nvPr/>
        </p:nvSpPr>
        <p:spPr>
          <a:xfrm>
            <a:off x="1051560" y="438912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2" name="Destaque 1 símbol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4676065"/>
            <a:ext cx="466344" cy="203350"/>
          </a:xfrm>
          <a:prstGeom prst="rect">
            <a:avLst/>
          </a:prstGeom>
        </p:spPr>
      </p:pic>
      <p:sp>
        <p:nvSpPr>
          <p:cNvPr id="13" name="Destaque 1 nome"/>
          <p:cNvSpPr txBox="1"/>
          <p:nvPr/>
        </p:nvSpPr>
        <p:spPr>
          <a:xfrm>
            <a:off x="868680" y="5257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nós</a:t>
            </a:r>
            <a:endParaRPr lang="en-US" sz="1100" dirty="0"/>
          </a:p>
        </p:txBody>
      </p:sp>
      <p:sp>
        <p:nvSpPr>
          <p:cNvPr id="14" name="Destaque 2"/>
          <p:cNvSpPr/>
          <p:nvPr/>
        </p:nvSpPr>
        <p:spPr>
          <a:xfrm>
            <a:off x="2331720" y="438912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Destaque 2 símbol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4676065"/>
            <a:ext cx="466344" cy="203350"/>
          </a:xfrm>
          <a:prstGeom prst="rect">
            <a:avLst/>
          </a:prstGeom>
        </p:spPr>
      </p:pic>
      <p:sp>
        <p:nvSpPr>
          <p:cNvPr id="16" name="Destaque 2 nome"/>
          <p:cNvSpPr txBox="1"/>
          <p:nvPr/>
        </p:nvSpPr>
        <p:spPr>
          <a:xfrm>
            <a:off x="2148840" y="5257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</a:t>
            </a:r>
            <a:endParaRPr lang="en-US" sz="1100" dirty="0"/>
          </a:p>
        </p:txBody>
      </p:sp>
      <p:sp>
        <p:nvSpPr>
          <p:cNvPr id="17" name="Destaque 3"/>
          <p:cNvSpPr/>
          <p:nvPr/>
        </p:nvSpPr>
        <p:spPr>
          <a:xfrm>
            <a:off x="3611880" y="4389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Destaque 3 símbol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4676065"/>
            <a:ext cx="466344" cy="203350"/>
          </a:xfrm>
          <a:prstGeom prst="rect">
            <a:avLst/>
          </a:prstGeom>
        </p:spPr>
      </p:pic>
      <p:sp>
        <p:nvSpPr>
          <p:cNvPr id="19" name="Destaque 3 nome"/>
          <p:cNvSpPr txBox="1"/>
          <p:nvPr/>
        </p:nvSpPr>
        <p:spPr>
          <a:xfrm>
            <a:off x="3429000" y="5257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clientes</a:t>
            </a:r>
            <a:endParaRPr lang="en-US" sz="1100" dirty="0"/>
          </a:p>
        </p:txBody>
      </p:sp>
      <p:sp>
        <p:nvSpPr>
          <p:cNvPr id="20" name="Destaque 4"/>
          <p:cNvSpPr/>
          <p:nvPr/>
        </p:nvSpPr>
        <p:spPr>
          <a:xfrm>
            <a:off x="4892040" y="43891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Destaque 4 símbol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4676065"/>
            <a:ext cx="466344" cy="203350"/>
          </a:xfrm>
          <a:prstGeom prst="rect">
            <a:avLst/>
          </a:prstGeom>
        </p:spPr>
      </p:pic>
      <p:sp>
        <p:nvSpPr>
          <p:cNvPr id="22" name="Destaque 4 nome"/>
          <p:cNvSpPr txBox="1"/>
          <p:nvPr/>
        </p:nvSpPr>
        <p:spPr>
          <a:xfrm>
            <a:off x="4709160" y="5257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bastidores</a:t>
            </a:r>
            <a:endParaRPr lang="en-US" sz="1100" dirty="0"/>
          </a:p>
        </p:txBody>
      </p:sp>
      <p:sp>
        <p:nvSpPr>
          <p:cNvPr id="23" name="Post 1"/>
          <p:cNvSpPr/>
          <p:nvPr/>
        </p:nvSpPr>
        <p:spPr>
          <a:xfrm>
            <a:off x="7208215" y="1965960"/>
            <a:ext cx="1371600" cy="13716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sp>
        <p:nvSpPr>
          <p:cNvPr id="24" name="Post 1 texto"/>
          <p:cNvSpPr txBox="1"/>
          <p:nvPr/>
        </p:nvSpPr>
        <p:spPr>
          <a:xfrm>
            <a:off x="7345375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Sua voz, no ritmo certo.</a:t>
            </a:r>
            <a:endParaRPr lang="en-US" sz="1300" dirty="0"/>
          </a:p>
        </p:txBody>
      </p:sp>
      <p:sp>
        <p:nvSpPr>
          <p:cNvPr id="25" name="Post 2"/>
          <p:cNvSpPr/>
          <p:nvPr/>
        </p:nvSpPr>
        <p:spPr>
          <a:xfrm>
            <a:off x="8671255" y="1965960"/>
            <a:ext cx="1371600" cy="1371600"/>
          </a:xfrm>
          <a:prstGeom prst="rect">
            <a:avLst/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pic>
        <p:nvPicPr>
          <p:cNvPr id="26" name="Post 2 símbol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295" y="2492269"/>
            <a:ext cx="731520" cy="318981"/>
          </a:xfrm>
          <a:prstGeom prst="rect">
            <a:avLst/>
          </a:prstGeom>
        </p:spPr>
      </p:pic>
      <p:sp>
        <p:nvSpPr>
          <p:cNvPr id="27" name="Post 3"/>
          <p:cNvSpPr/>
          <p:nvPr/>
        </p:nvSpPr>
        <p:spPr>
          <a:xfrm>
            <a:off x="10134295" y="1965960"/>
            <a:ext cx="1371600" cy="137160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28" name="Post 3 texto"/>
          <p:cNvSpPr txBox="1"/>
          <p:nvPr/>
        </p:nvSpPr>
        <p:spPr>
          <a:xfrm>
            <a:off x="10271455" y="2103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Raiz antes de vitrine.</a:t>
            </a:r>
            <a:endParaRPr lang="en-US" sz="1300" dirty="0"/>
          </a:p>
        </p:txBody>
      </p:sp>
      <p:sp>
        <p:nvSpPr>
          <p:cNvPr id="29" name="Post 4"/>
          <p:cNvSpPr/>
          <p:nvPr/>
        </p:nvSpPr>
        <p:spPr>
          <a:xfrm>
            <a:off x="7208215" y="3429000"/>
            <a:ext cx="1371600" cy="1371600"/>
          </a:xfrm>
          <a:prstGeom prst="rect">
            <a:avLst/>
          </a:prstGeom>
          <a:solidFill>
            <a:srgbClr val="DBFF00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30" name="Post 4 texto"/>
          <p:cNvSpPr txBox="1"/>
          <p:nvPr/>
        </p:nvSpPr>
        <p:spPr>
          <a:xfrm>
            <a:off x="7345375" y="35661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 sinais de que você precisa aparecer</a:t>
            </a:r>
            <a:endParaRPr lang="en-US" sz="1300" dirty="0"/>
          </a:p>
        </p:txBody>
      </p:sp>
      <p:sp>
        <p:nvSpPr>
          <p:cNvPr id="31" name="Post 5"/>
          <p:cNvSpPr/>
          <p:nvPr/>
        </p:nvSpPr>
        <p:spPr>
          <a:xfrm>
            <a:off x="8671255" y="3429000"/>
            <a:ext cx="1371600" cy="13716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pic>
        <p:nvPicPr>
          <p:cNvPr id="32" name="Post 5 símbol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1295" y="3955309"/>
            <a:ext cx="731520" cy="318981"/>
          </a:xfrm>
          <a:prstGeom prst="rect">
            <a:avLst/>
          </a:prstGeom>
        </p:spPr>
      </p:pic>
      <p:sp>
        <p:nvSpPr>
          <p:cNvPr id="33" name="Post 6"/>
          <p:cNvSpPr/>
          <p:nvPr/>
        </p:nvSpPr>
        <p:spPr>
          <a:xfrm>
            <a:off x="10134295" y="3429000"/>
            <a:ext cx="1371600" cy="1371600"/>
          </a:xfrm>
          <a:prstGeom prst="rect">
            <a:avLst/>
          </a:prstGeom>
          <a:solidFill>
            <a:srgbClr val="59625A"/>
          </a:solidFill>
          <a:ln w="12700">
            <a:solidFill>
              <a:srgbClr val="59625A"/>
            </a:solidFill>
            <a:prstDash val="solid"/>
          </a:ln>
        </p:spPr>
      </p:sp>
      <p:sp>
        <p:nvSpPr>
          <p:cNvPr id="34" name="Post 6 texto"/>
          <p:cNvSpPr txBox="1"/>
          <p:nvPr/>
        </p:nvSpPr>
        <p:spPr>
          <a:xfrm>
            <a:off x="10271455" y="35661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Verdade acima de pose.</a:t>
            </a:r>
            <a:endParaRPr lang="en-US" sz="1300" dirty="0"/>
          </a:p>
        </p:txBody>
      </p:sp>
      <p:sp>
        <p:nvSpPr>
          <p:cNvPr id="35" name="Post 7"/>
          <p:cNvSpPr/>
          <p:nvPr/>
        </p:nvSpPr>
        <p:spPr>
          <a:xfrm>
            <a:off x="7208215" y="4892040"/>
            <a:ext cx="1371600" cy="137160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36" name="Post 7 símbol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8255" y="5418349"/>
            <a:ext cx="731520" cy="318981"/>
          </a:xfrm>
          <a:prstGeom prst="rect">
            <a:avLst/>
          </a:prstGeom>
        </p:spPr>
      </p:pic>
      <p:sp>
        <p:nvSpPr>
          <p:cNvPr id="37" name="Post 8"/>
          <p:cNvSpPr/>
          <p:nvPr/>
        </p:nvSpPr>
        <p:spPr>
          <a:xfrm>
            <a:off x="8671255" y="4892040"/>
            <a:ext cx="1371600" cy="13716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sp>
        <p:nvSpPr>
          <p:cNvPr id="38" name="Post 8 texto"/>
          <p:cNvSpPr txBox="1"/>
          <p:nvPr/>
        </p:nvSpPr>
        <p:spPr>
          <a:xfrm>
            <a:off x="8808415" y="5029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gente cuida da técnica.</a:t>
            </a:r>
            <a:endParaRPr lang="en-US" sz="1300" dirty="0"/>
          </a:p>
        </p:txBody>
      </p:sp>
      <p:sp>
        <p:nvSpPr>
          <p:cNvPr id="39" name="Post 9"/>
          <p:cNvSpPr/>
          <p:nvPr/>
        </p:nvSpPr>
        <p:spPr>
          <a:xfrm>
            <a:off x="10134295" y="4892040"/>
            <a:ext cx="1371600" cy="1371600"/>
          </a:xfrm>
          <a:prstGeom prst="rect">
            <a:avLst/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sp>
        <p:nvSpPr>
          <p:cNvPr id="40" name="Post 9 texto"/>
          <p:cNvSpPr txBox="1"/>
          <p:nvPr/>
        </p:nvSpPr>
        <p:spPr>
          <a:xfrm>
            <a:off x="10271455" y="5029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Constância vence inspiração.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15 · UNIVERSO VISUAL · STORIES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Telas verticais, mesma voz.</a:t>
            </a:r>
            <a:endParaRPr lang="en-US" sz="3400" dirty="0"/>
          </a:p>
        </p:txBody>
      </p:sp>
      <p:sp>
        <p:nvSpPr>
          <p:cNvPr id="4" name="Celular 1"/>
          <p:cNvSpPr/>
          <p:nvPr/>
        </p:nvSpPr>
        <p:spPr>
          <a:xfrm>
            <a:off x="1976476" y="1938528"/>
            <a:ext cx="2478024" cy="4261104"/>
          </a:xfrm>
          <a:prstGeom prst="roundRect">
            <a:avLst>
              <a:gd name="adj" fmla="val 1107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5" name="Tela 1"/>
          <p:cNvSpPr/>
          <p:nvPr/>
        </p:nvSpPr>
        <p:spPr>
          <a:xfrm>
            <a:off x="2049628" y="2011680"/>
            <a:ext cx="2331720" cy="4114800"/>
          </a:xfrm>
          <a:prstGeom prst="roundRect">
            <a:avLst>
              <a:gd name="adj" fmla="val 9412"/>
            </a:avLst>
          </a:prstGeom>
          <a:solidFill>
            <a:srgbClr val="FAF8F4"/>
          </a:solidFill>
          <a:ln w="12700">
            <a:solidFill>
              <a:srgbClr val="FAF8F4"/>
            </a:solidFill>
            <a:prstDash val="solid"/>
          </a:ln>
        </p:spPr>
      </p:sp>
      <p:sp>
        <p:nvSpPr>
          <p:cNvPr id="6" name="Tela 1 texto"/>
          <p:cNvSpPr txBox="1"/>
          <p:nvPr/>
        </p:nvSpPr>
        <p:spPr>
          <a:xfrm>
            <a:off x="2323948" y="3108960"/>
            <a:ext cx="1783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C211E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Seja nas redes quem você já é na vida.</a:t>
            </a:r>
            <a:endParaRPr lang="en-US" sz="2000" dirty="0"/>
          </a:p>
        </p:txBody>
      </p:sp>
      <p:sp>
        <p:nvSpPr>
          <p:cNvPr id="7" name="Tela 1 rosa"/>
          <p:cNvSpPr/>
          <p:nvPr/>
        </p:nvSpPr>
        <p:spPr>
          <a:xfrm>
            <a:off x="2849728" y="5120640"/>
            <a:ext cx="36576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la 1 verde"/>
          <p:cNvSpPr/>
          <p:nvPr/>
        </p:nvSpPr>
        <p:spPr>
          <a:xfrm>
            <a:off x="3215488" y="5120640"/>
            <a:ext cx="36576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Tela 1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5577840"/>
            <a:ext cx="1005840" cy="264479"/>
          </a:xfrm>
          <a:prstGeom prst="rect">
            <a:avLst/>
          </a:prstGeom>
        </p:spPr>
      </p:pic>
      <p:sp>
        <p:nvSpPr>
          <p:cNvPr id="10" name="Celular 2"/>
          <p:cNvSpPr/>
          <p:nvPr/>
        </p:nvSpPr>
        <p:spPr>
          <a:xfrm>
            <a:off x="4856836" y="1938528"/>
            <a:ext cx="2478024" cy="4261104"/>
          </a:xfrm>
          <a:prstGeom prst="roundRect">
            <a:avLst>
              <a:gd name="adj" fmla="val 1107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11" name="Story foto" descr="Diogo e Rafael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29988" y="2011680"/>
            <a:ext cx="2331720" cy="4114800"/>
          </a:xfrm>
          <a:prstGeom prst="rect">
            <a:avLst/>
          </a:prstGeom>
        </p:spPr>
      </p:pic>
      <p:sp>
        <p:nvSpPr>
          <p:cNvPr id="12" name="Story faixa"/>
          <p:cNvSpPr/>
          <p:nvPr/>
        </p:nvSpPr>
        <p:spPr>
          <a:xfrm>
            <a:off x="4929988" y="5212080"/>
            <a:ext cx="2331720" cy="91440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13" name="Story log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588" y="5532120"/>
            <a:ext cx="1005840" cy="264479"/>
          </a:xfrm>
          <a:prstGeom prst="rect">
            <a:avLst/>
          </a:prstGeom>
        </p:spPr>
      </p:pic>
      <p:sp>
        <p:nvSpPr>
          <p:cNvPr id="14" name="Story arroba"/>
          <p:cNvSpPr txBox="1"/>
          <p:nvPr/>
        </p:nvSpPr>
        <p:spPr>
          <a:xfrm>
            <a:off x="6255868" y="555955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@MEOV.MP</a:t>
            </a:r>
            <a:endParaRPr lang="en-US" sz="800" dirty="0"/>
          </a:p>
        </p:txBody>
      </p:sp>
      <p:sp>
        <p:nvSpPr>
          <p:cNvPr id="15" name="Celular 3"/>
          <p:cNvSpPr/>
          <p:nvPr/>
        </p:nvSpPr>
        <p:spPr>
          <a:xfrm>
            <a:off x="7737196" y="1938528"/>
            <a:ext cx="2478024" cy="4261104"/>
          </a:xfrm>
          <a:prstGeom prst="roundRect">
            <a:avLst>
              <a:gd name="adj" fmla="val 1107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16" name="Tela 3"/>
          <p:cNvSpPr/>
          <p:nvPr/>
        </p:nvSpPr>
        <p:spPr>
          <a:xfrm>
            <a:off x="7810348" y="2011680"/>
            <a:ext cx="2331720" cy="4114800"/>
          </a:xfrm>
          <a:prstGeom prst="roundRect">
            <a:avLst>
              <a:gd name="adj" fmla="val 9412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17" name="Tela 3 texto"/>
          <p:cNvSpPr txBox="1"/>
          <p:nvPr/>
        </p:nvSpPr>
        <p:spPr>
          <a:xfrm>
            <a:off x="8084668" y="3108960"/>
            <a:ext cx="1783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AF8F4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gente cuida da técnica. Você aparece com verdade.</a:t>
            </a:r>
            <a:endParaRPr lang="en-US" sz="2000" dirty="0"/>
          </a:p>
        </p:txBody>
      </p:sp>
      <p:sp>
        <p:nvSpPr>
          <p:cNvPr id="18" name="Tela 3 rosa"/>
          <p:cNvSpPr/>
          <p:nvPr/>
        </p:nvSpPr>
        <p:spPr>
          <a:xfrm>
            <a:off x="8610448" y="5120640"/>
            <a:ext cx="36576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la 3 verde"/>
          <p:cNvSpPr/>
          <p:nvPr/>
        </p:nvSpPr>
        <p:spPr>
          <a:xfrm>
            <a:off x="8976208" y="5120640"/>
            <a:ext cx="365760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Tela 3 log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3288" y="5577840"/>
            <a:ext cx="1005840" cy="2644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16 · UNIVERSO VISUAL · SITE E LINKEDIN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meov.com.br</a:t>
            </a:r>
            <a:endParaRPr lang="en-US" sz="3400" dirty="0"/>
          </a:p>
        </p:txBody>
      </p:sp>
      <p:sp>
        <p:nvSpPr>
          <p:cNvPr id="4" name="Navegador"/>
          <p:cNvSpPr/>
          <p:nvPr/>
        </p:nvSpPr>
        <p:spPr>
          <a:xfrm>
            <a:off x="685800" y="1965960"/>
            <a:ext cx="6766560" cy="41605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Botão 1"/>
          <p:cNvSpPr/>
          <p:nvPr/>
        </p:nvSpPr>
        <p:spPr>
          <a:xfrm>
            <a:off x="914400" y="2148840"/>
            <a:ext cx="118872" cy="118872"/>
          </a:xfrm>
          <a:prstGeom prst="ellipse">
            <a:avLst/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sp>
        <p:nvSpPr>
          <p:cNvPr id="6" name="Botão 2"/>
          <p:cNvSpPr/>
          <p:nvPr/>
        </p:nvSpPr>
        <p:spPr>
          <a:xfrm>
            <a:off x="1115568" y="2148840"/>
            <a:ext cx="118872" cy="118872"/>
          </a:xfrm>
          <a:prstGeom prst="ellipse">
            <a:avLst/>
          </a:prstGeom>
          <a:solidFill>
            <a:srgbClr val="DBFF00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7" name="Botão 3"/>
          <p:cNvSpPr/>
          <p:nvPr/>
        </p:nvSpPr>
        <p:spPr>
          <a:xfrm>
            <a:off x="1316736" y="2148840"/>
            <a:ext cx="118872" cy="118872"/>
          </a:xfrm>
          <a:prstGeom prst="ellipse">
            <a:avLst/>
          </a:prstGeom>
          <a:solidFill>
            <a:srgbClr val="D8DACD"/>
          </a:solidFill>
          <a:ln w="12700">
            <a:solidFill>
              <a:srgbClr val="D8DACD"/>
            </a:solidFill>
            <a:prstDash val="solid"/>
          </a:ln>
        </p:spPr>
      </p:sp>
      <p:sp>
        <p:nvSpPr>
          <p:cNvPr id="8" name="Endereço"/>
          <p:cNvSpPr/>
          <p:nvPr/>
        </p:nvSpPr>
        <p:spPr>
          <a:xfrm>
            <a:off x="1691640" y="2084832"/>
            <a:ext cx="2743200" cy="246888"/>
          </a:xfrm>
          <a:prstGeom prst="roundRect">
            <a:avLst>
              <a:gd name="adj" fmla="val 481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URL"/>
          <p:cNvSpPr txBox="1"/>
          <p:nvPr/>
        </p:nvSpPr>
        <p:spPr>
          <a:xfrm>
            <a:off x="1828800" y="2084832"/>
            <a:ext cx="2560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meov.com.br</a:t>
            </a:r>
            <a:endParaRPr lang="en-US" sz="900" dirty="0"/>
          </a:p>
        </p:txBody>
      </p:sp>
      <p:pic>
        <p:nvPicPr>
          <p:cNvPr id="10" name="Site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651760"/>
            <a:ext cx="834613" cy="219456"/>
          </a:xfrm>
          <a:prstGeom prst="rect">
            <a:avLst/>
          </a:prstGeom>
        </p:spPr>
      </p:pic>
      <p:sp>
        <p:nvSpPr>
          <p:cNvPr id="11" name="Menu"/>
          <p:cNvSpPr txBox="1"/>
          <p:nvPr/>
        </p:nvSpPr>
        <p:spPr>
          <a:xfrm>
            <a:off x="3794760" y="26517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MÉTODO   SERVIÇOS   CLIENTES   CONTATO</a:t>
            </a:r>
            <a:endParaRPr lang="en-US" sz="800" dirty="0"/>
          </a:p>
        </p:txBody>
      </p:sp>
      <p:sp>
        <p:nvSpPr>
          <p:cNvPr id="12" name="Site título"/>
          <p:cNvSpPr txBox="1"/>
          <p:nvPr/>
        </p:nvSpPr>
        <p:spPr>
          <a:xfrm>
            <a:off x="1051560" y="3337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spc="-8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Sua voz, no ritmo certo.</a:t>
            </a:r>
            <a:endParaRPr lang="en-US" sz="3600" dirty="0"/>
          </a:p>
        </p:txBody>
      </p:sp>
      <p:sp>
        <p:nvSpPr>
          <p:cNvPr id="13" name="Site texto"/>
          <p:cNvSpPr txBox="1"/>
          <p:nvPr/>
        </p:nvSpPr>
        <p:spPr>
          <a:xfrm>
            <a:off x="10515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Estratégia, audiovisual e gestão das redes para especialistas que já são referência.</a:t>
            </a:r>
            <a:endParaRPr lang="en-US" sz="1200" dirty="0"/>
          </a:p>
        </p:txBody>
      </p:sp>
      <p:sp>
        <p:nvSpPr>
          <p:cNvPr id="14" name="Site botão"/>
          <p:cNvSpPr/>
          <p:nvPr/>
        </p:nvSpPr>
        <p:spPr>
          <a:xfrm>
            <a:off x="1051560" y="5349240"/>
            <a:ext cx="1600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ite botão texto"/>
          <p:cNvSpPr txBox="1"/>
          <p:nvPr/>
        </p:nvSpPr>
        <p:spPr>
          <a:xfrm>
            <a:off x="1051560" y="5349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fala com a Meov</a:t>
            </a:r>
            <a:endParaRPr lang="en-US" sz="1100" dirty="0"/>
          </a:p>
        </p:txBody>
      </p:sp>
      <p:pic>
        <p:nvPicPr>
          <p:cNvPr id="16" name="Site foto" descr="Diogo e Rafael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3154680"/>
            <a:ext cx="1691640" cy="2606040"/>
          </a:xfrm>
          <a:prstGeom prst="rect">
            <a:avLst/>
          </a:prstGeom>
        </p:spPr>
      </p:pic>
      <p:sp>
        <p:nvSpPr>
          <p:cNvPr id="17" name="LinkedIn"/>
          <p:cNvSpPr/>
          <p:nvPr/>
        </p:nvSpPr>
        <p:spPr>
          <a:xfrm>
            <a:off x="7726680" y="1965960"/>
            <a:ext cx="3779215" cy="4160520"/>
          </a:xfrm>
          <a:prstGeom prst="roundRect">
            <a:avLst>
              <a:gd name="adj" fmla="val 338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LinkedIn banner"/>
          <p:cNvSpPr/>
          <p:nvPr/>
        </p:nvSpPr>
        <p:spPr>
          <a:xfrm>
            <a:off x="7726680" y="1965960"/>
            <a:ext cx="3779215" cy="1188720"/>
          </a:xfrm>
          <a:prstGeom prst="rect">
            <a:avLst/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sp>
        <p:nvSpPr>
          <p:cNvPr id="19" name="Banner texto"/>
          <p:cNvSpPr txBox="1"/>
          <p:nvPr/>
        </p:nvSpPr>
        <p:spPr>
          <a:xfrm>
            <a:off x="9235440" y="2148840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Ajudamos especialistas a colocar sua voz no mundo digital.</a:t>
            </a:r>
            <a:endParaRPr lang="en-US" sz="1300" dirty="0"/>
          </a:p>
        </p:txBody>
      </p:sp>
      <p:sp>
        <p:nvSpPr>
          <p:cNvPr id="20" name="LinkedIn avatar"/>
          <p:cNvSpPr/>
          <p:nvPr/>
        </p:nvSpPr>
        <p:spPr>
          <a:xfrm>
            <a:off x="8001000" y="2697480"/>
            <a:ext cx="1051560" cy="10515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LinkedIn símbol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3061776"/>
            <a:ext cx="740664" cy="322968"/>
          </a:xfrm>
          <a:prstGeom prst="rect">
            <a:avLst/>
          </a:prstGeom>
        </p:spPr>
      </p:pic>
      <p:sp>
        <p:nvSpPr>
          <p:cNvPr id="22" name="LinkedIn nome"/>
          <p:cNvSpPr txBox="1"/>
          <p:nvPr/>
        </p:nvSpPr>
        <p:spPr>
          <a:xfrm>
            <a:off x="8001000" y="38862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</a:t>
            </a:r>
            <a:endParaRPr lang="en-US" sz="1800" dirty="0"/>
          </a:p>
        </p:txBody>
      </p:sp>
      <p:sp>
        <p:nvSpPr>
          <p:cNvPr id="23" name="LinkedIn slogan"/>
          <p:cNvSpPr txBox="1"/>
          <p:nvPr/>
        </p:nvSpPr>
        <p:spPr>
          <a:xfrm>
            <a:off x="8001000" y="4251960"/>
            <a:ext cx="3230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Ajudamos especialistas a colocar sua voz no mundo digital, com estratégia, audiovisual, gestão das redes e acolhimento.</a:t>
            </a:r>
            <a:endParaRPr lang="en-US" sz="1100" dirty="0"/>
          </a:p>
        </p:txBody>
      </p:sp>
      <p:sp>
        <p:nvSpPr>
          <p:cNvPr id="24" name="LinkedIn setor"/>
          <p:cNvSpPr txBox="1"/>
          <p:nvPr/>
        </p:nvSpPr>
        <p:spPr>
          <a:xfrm>
            <a:off x="8001000" y="5074920"/>
            <a:ext cx="323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MARKETING · GRANDE SÃO PAULO</a:t>
            </a:r>
            <a:endParaRPr lang="en-US" sz="800" dirty="0"/>
          </a:p>
        </p:txBody>
      </p:sp>
      <p:sp>
        <p:nvSpPr>
          <p:cNvPr id="25" name="LinkedIn seguir"/>
          <p:cNvSpPr/>
          <p:nvPr/>
        </p:nvSpPr>
        <p:spPr>
          <a:xfrm>
            <a:off x="8001000" y="5440680"/>
            <a:ext cx="1097280" cy="34747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LinkedIn seguir texto"/>
          <p:cNvSpPr txBox="1"/>
          <p:nvPr/>
        </p:nvSpPr>
        <p:spPr>
          <a:xfrm>
            <a:off x="8001000" y="54406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seguir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17 · UNIVERSO VISUAL · PAPELARIA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Cartões que já dizem quem somos.</a:t>
            </a:r>
            <a:endParaRPr lang="en-US" sz="3400" dirty="0"/>
          </a:p>
        </p:txBody>
      </p:sp>
      <p:sp>
        <p:nvSpPr>
          <p:cNvPr id="4" name="Cartão 1"/>
          <p:cNvSpPr/>
          <p:nvPr/>
        </p:nvSpPr>
        <p:spPr>
          <a:xfrm>
            <a:off x="68580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DBFF00"/>
          </a:solidFill>
          <a:ln w="12700">
            <a:solidFill>
              <a:srgbClr val="DBFF00"/>
            </a:solidFill>
            <a:prstDash val="solid"/>
          </a:ln>
        </p:spPr>
      </p:sp>
      <p:pic>
        <p:nvPicPr>
          <p:cNvPr id="5" name="Cartão 1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1371600" cy="360653"/>
          </a:xfrm>
          <a:prstGeom prst="rect">
            <a:avLst/>
          </a:prstGeom>
        </p:spPr>
      </p:pic>
      <p:sp>
        <p:nvSpPr>
          <p:cNvPr id="6" name="Cartão 1 nomes"/>
          <p:cNvSpPr txBox="1"/>
          <p:nvPr/>
        </p:nvSpPr>
        <p:spPr>
          <a:xfrm>
            <a:off x="9601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Diogo &amp; Rafael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11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Marca Pessoal</a:t>
            </a:r>
            <a:endParaRPr lang="en-US" sz="1000" dirty="0"/>
          </a:p>
        </p:txBody>
      </p:sp>
      <p:sp>
        <p:nvSpPr>
          <p:cNvPr id="7" name="Cartão 1 contatos"/>
          <p:cNvSpPr txBox="1"/>
          <p:nvPr/>
        </p:nvSpPr>
        <p:spPr>
          <a:xfrm>
            <a:off x="960120" y="3566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1C211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@MEOV.MP · MEOV.COM.BR</a:t>
            </a:r>
            <a:endParaRPr lang="en-US" sz="800" dirty="0"/>
          </a:p>
        </p:txBody>
      </p:sp>
      <p:sp>
        <p:nvSpPr>
          <p:cNvPr id="8" name="Cartão 2"/>
          <p:cNvSpPr/>
          <p:nvPr/>
        </p:nvSpPr>
        <p:spPr>
          <a:xfrm>
            <a:off x="420624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F19B1"/>
          </a:solidFill>
          <a:ln w="12700">
            <a:solidFill>
              <a:srgbClr val="FF19B1"/>
            </a:solidFill>
            <a:prstDash val="solid"/>
          </a:ln>
        </p:spPr>
      </p:sp>
      <p:pic>
        <p:nvPicPr>
          <p:cNvPr id="9" name="Cartão 2 símbol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758348"/>
            <a:ext cx="1188720" cy="518344"/>
          </a:xfrm>
          <a:prstGeom prst="rect">
            <a:avLst/>
          </a:prstGeom>
        </p:spPr>
      </p:pic>
      <p:sp>
        <p:nvSpPr>
          <p:cNvPr id="10" name="Cartão 3"/>
          <p:cNvSpPr/>
          <p:nvPr/>
        </p:nvSpPr>
        <p:spPr>
          <a:xfrm>
            <a:off x="1234440" y="420624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1C211E"/>
          </a:solidFill>
          <a:ln w="12700">
            <a:solidFill>
              <a:srgbClr val="1C211E"/>
            </a:solidFill>
            <a:prstDash val="solid"/>
          </a:ln>
        </p:spPr>
      </p:sp>
      <p:pic>
        <p:nvPicPr>
          <p:cNvPr id="11" name="Cartão 3 log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4480560"/>
            <a:ext cx="1371600" cy="360653"/>
          </a:xfrm>
          <a:prstGeom prst="rect">
            <a:avLst/>
          </a:prstGeom>
        </p:spPr>
      </p:pic>
      <p:sp>
        <p:nvSpPr>
          <p:cNvPr id="12" name="Cartão 3 nomes"/>
          <p:cNvSpPr txBox="1"/>
          <p:nvPr/>
        </p:nvSpPr>
        <p:spPr>
          <a:xfrm>
            <a:off x="1508760" y="5166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AF8F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Diogo &amp; Rafael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Marca Pessoal</a:t>
            </a:r>
            <a:endParaRPr lang="en-US" sz="1000" dirty="0"/>
          </a:p>
        </p:txBody>
      </p:sp>
      <p:sp>
        <p:nvSpPr>
          <p:cNvPr id="13" name="Cartão 3 contatos"/>
          <p:cNvSpPr txBox="1"/>
          <p:nvPr/>
        </p:nvSpPr>
        <p:spPr>
          <a:xfrm>
            <a:off x="1508760" y="56692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FAF8F4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@MEOV.MP · MEOV.COM.BR</a:t>
            </a:r>
            <a:endParaRPr lang="en-US" sz="800" dirty="0"/>
          </a:p>
        </p:txBody>
      </p:sp>
      <p:sp>
        <p:nvSpPr>
          <p:cNvPr id="14" name="Cartão 4"/>
          <p:cNvSpPr/>
          <p:nvPr/>
        </p:nvSpPr>
        <p:spPr>
          <a:xfrm>
            <a:off x="4754880" y="420624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AF8F4"/>
          </a:solidFill>
          <a:ln w="12700">
            <a:solidFill>
              <a:srgbClr val="D8DACD"/>
            </a:solidFill>
            <a:prstDash val="solid"/>
          </a:ln>
        </p:spPr>
      </p:sp>
      <p:pic>
        <p:nvPicPr>
          <p:cNvPr id="15" name="Cartão 4 símbol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4861468"/>
            <a:ext cx="1188720" cy="518344"/>
          </a:xfrm>
          <a:prstGeom prst="rect">
            <a:avLst/>
          </a:prstGeom>
        </p:spPr>
      </p:pic>
      <p:sp>
        <p:nvSpPr>
          <p:cNvPr id="16" name="Texto papelaria"/>
          <p:cNvSpPr txBox="1"/>
          <p:nvPr/>
        </p:nvSpPr>
        <p:spPr>
          <a:xfrm>
            <a:off x="8092440" y="2103120"/>
            <a:ext cx="34134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Frente e verso em par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Verde com rosa, musgo com mineral. A soma das duas cores aparece até no bolso.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Pouco texto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Nome, marca e contatos em Geist Mono. O resto é respiro.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18 · UNIVERSO VISUAL · PROPOSTAS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identidade em uso real.</a:t>
            </a:r>
            <a:endParaRPr lang="en-US" sz="3400" dirty="0"/>
          </a:p>
        </p:txBody>
      </p:sp>
      <p:sp>
        <p:nvSpPr>
          <p:cNvPr id="4" name="Intro propostas"/>
          <p:cNvSpPr txBox="1"/>
          <p:nvPr/>
        </p:nvSpPr>
        <p:spPr>
          <a:xfrm>
            <a:off x="685800" y="17830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primeira proposta na nova identidade foi para Fernando Lohmann: diagnóstico anotado dos canais, Brandbook, plano de 6 meses e investimento, tudo na mesma voz.</a:t>
            </a:r>
            <a:endParaRPr lang="en-US" sz="1400" dirty="0"/>
          </a:p>
        </p:txBody>
      </p:sp>
      <p:pic>
        <p:nvPicPr>
          <p:cNvPr id="5" name="Proposta 1" descr="Slide da proposta Fernando Lohma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3129280" cy="1760220"/>
          </a:xfrm>
          <a:prstGeom prst="rect">
            <a:avLst/>
          </a:prstGeom>
        </p:spPr>
      </p:pic>
      <p:pic>
        <p:nvPicPr>
          <p:cNvPr id="6" name="Proposta 2" descr="Slide da proposta Fernando Lohman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0" y="2468880"/>
            <a:ext cx="3129280" cy="1760220"/>
          </a:xfrm>
          <a:prstGeom prst="rect">
            <a:avLst/>
          </a:prstGeom>
        </p:spPr>
      </p:pic>
      <p:pic>
        <p:nvPicPr>
          <p:cNvPr id="7" name="Proposta 3" descr="Slide da proposta Fernando Lohman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11980"/>
            <a:ext cx="3129280" cy="1760220"/>
          </a:xfrm>
          <a:prstGeom prst="rect">
            <a:avLst/>
          </a:prstGeom>
        </p:spPr>
      </p:pic>
      <p:pic>
        <p:nvPicPr>
          <p:cNvPr id="8" name="Proposta 4" descr="Slide da proposta Fernando Lohman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4411980"/>
            <a:ext cx="3129280" cy="1760220"/>
          </a:xfrm>
          <a:prstGeom prst="rect">
            <a:avLst/>
          </a:prstGeom>
        </p:spPr>
      </p:pic>
      <p:sp>
        <p:nvSpPr>
          <p:cNvPr id="9" name="Notas propostas"/>
          <p:cNvSpPr txBox="1"/>
          <p:nvPr/>
        </p:nvSpPr>
        <p:spPr>
          <a:xfrm>
            <a:off x="7493000" y="2468880"/>
            <a:ext cx="40128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Capa com retrato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cliente é a marca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Prints anotados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onde vamos mexer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Rosa e verde em par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 todos os slides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tip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1321471" cy="347472"/>
          </a:xfrm>
          <a:prstGeom prst="rect">
            <a:avLst/>
          </a:prstGeom>
        </p:spPr>
      </p:pic>
      <p:sp>
        <p:nvSpPr>
          <p:cNvPr id="3" name="Obrigado"/>
          <p:cNvSpPr txBox="1"/>
          <p:nvPr/>
        </p:nvSpPr>
        <p:spPr>
          <a:xfrm>
            <a:off x="685800" y="20116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spc="-12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Obrigado.</a:t>
            </a:r>
            <a:endParaRPr lang="en-US" sz="5400" dirty="0"/>
          </a:p>
        </p:txBody>
      </p:sp>
      <p:sp>
        <p:nvSpPr>
          <p:cNvPr id="4" name="Frase"/>
          <p:cNvSpPr txBox="1"/>
          <p:nvPr/>
        </p:nvSpPr>
        <p:spPr>
          <a:xfrm>
            <a:off x="68580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Você já tem a voz. A gente ajuda você a colocá-la no mundo.</a:t>
            </a:r>
            <a:endParaRPr lang="en-US" sz="2200" dirty="0"/>
          </a:p>
        </p:txBody>
      </p:sp>
      <p:sp>
        <p:nvSpPr>
          <p:cNvPr id="5" name="Autoria"/>
          <p:cNvSpPr txBox="1"/>
          <p:nvPr/>
        </p:nvSpPr>
        <p:spPr>
          <a:xfrm>
            <a:off x="68580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Marca criada e cuidada pela própria Meov.</a:t>
            </a:r>
            <a:endParaRPr lang="en-US" sz="1400" dirty="0"/>
          </a:p>
        </p:txBody>
      </p:sp>
      <p:sp>
        <p:nvSpPr>
          <p:cNvPr id="6" name="Contatos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MEOV.COM.BR  ·  @MEOV.MP</a:t>
            </a:r>
            <a:endParaRPr lang="en-US" sz="1000" dirty="0"/>
          </a:p>
        </p:txBody>
      </p:sp>
      <p:sp>
        <p:nvSpPr>
          <p:cNvPr id="7" name="Anel rosa"/>
          <p:cNvSpPr/>
          <p:nvPr/>
        </p:nvSpPr>
        <p:spPr>
          <a:xfrm>
            <a:off x="7589520" y="1143000"/>
            <a:ext cx="3108960" cy="3108960"/>
          </a:xfrm>
          <a:prstGeom prst="blockArc">
            <a:avLst>
              <a:gd name="adj1" fmla="val 5400000"/>
              <a:gd name="adj2" fmla="val 16200000"/>
              <a:gd name="adj3" fmla="val 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el verde"/>
          <p:cNvSpPr/>
          <p:nvPr/>
        </p:nvSpPr>
        <p:spPr>
          <a:xfrm>
            <a:off x="7589520" y="1143000"/>
            <a:ext cx="3108960" cy="3108960"/>
          </a:xfrm>
          <a:prstGeom prst="blockArc">
            <a:avLst>
              <a:gd name="adj1" fmla="val 16200000"/>
              <a:gd name="adj2" fmla="val 5400000"/>
              <a:gd name="adj3" fmla="val 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Foto Diogo e Rafael" descr="Diogo e Rafael, da Meo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25880"/>
            <a:ext cx="2743200" cy="2743200"/>
          </a:xfrm>
          <a:prstGeom prst="ellipse">
            <a:avLst/>
          </a:prstGeom>
        </p:spPr>
      </p:pic>
      <p:sp>
        <p:nvSpPr>
          <p:cNvPr id="10" name="Nomes"/>
          <p:cNvSpPr txBox="1"/>
          <p:nvPr/>
        </p:nvSpPr>
        <p:spPr>
          <a:xfrm>
            <a:off x="6858000" y="4526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Diogo &amp; Rafael</a:t>
            </a:r>
            <a:endParaRPr lang="en-US" sz="2000" dirty="0"/>
          </a:p>
        </p:txBody>
      </p:sp>
      <p:sp>
        <p:nvSpPr>
          <p:cNvPr id="11" name="Marca"/>
          <p:cNvSpPr txBox="1"/>
          <p:nvPr/>
        </p:nvSpPr>
        <p:spPr>
          <a:xfrm>
            <a:off x="6858000" y="4937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Marca Pessoal</a:t>
            </a:r>
            <a:endParaRPr lang="en-US" sz="1400" dirty="0"/>
          </a:p>
        </p:txBody>
      </p:sp>
      <p:sp>
        <p:nvSpPr>
          <p:cNvPr id="1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5508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ov MP">
  <a:themeElements>
    <a:clrScheme name="Meov MP">
      <a:dk1>
        <a:srgbClr val="1C211E"/>
      </a:dk1>
      <a:lt1>
        <a:srgbClr val="FAF8F4"/>
      </a:lt1>
      <a:dk2>
        <a:srgbClr val="59625A"/>
      </a:dk2>
      <a:lt2>
        <a:srgbClr val="D8DACD"/>
      </a:lt2>
      <a:accent1>
        <a:srgbClr val="FF19B1"/>
      </a:accent1>
      <a:accent2>
        <a:srgbClr val="DBFF00"/>
      </a:accent2>
      <a:accent3>
        <a:srgbClr val="D8DACD"/>
      </a:accent3>
      <a:accent4>
        <a:srgbClr val="59625A"/>
      </a:accent4>
      <a:accent5>
        <a:srgbClr val="1C211E"/>
      </a:accent5>
      <a:accent6>
        <a:srgbClr val="FFFFFF"/>
      </a:accent6>
      <a:hlink>
        <a:srgbClr val="FF19B1"/>
      </a:hlink>
      <a:folHlink>
        <a:srgbClr val="59625A"/>
      </a:folHlink>
    </a:clrScheme>
    <a:fontScheme name="Meov MP">
      <a:majorFont>
        <a:latin typeface="Manrope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Meov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Meov · Identidade de marca 2026</dc:title>
  <dc:subject>PptxGenJS Presentation</dc:subject>
  <dc:creator>Diogo &amp;amp; Rafael | Meov Marca Pessoal</dc:creator>
  <cp:lastModifiedBy>Diogo &amp;amp; Rafael | Meov Marca Pessoal</cp:lastModifiedBy>
  <cp:revision>1</cp:revision>
  <dcterms:created xsi:type="dcterms:W3CDTF">2026-10-29T03:20:21Z</dcterms:created>
  <dcterms:modified xsi:type="dcterms:W3CDTF">2026-10-29T03:20:21Z</dcterms:modified>
</cp:coreProperties>
</file>