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</p:sldIdLst>
  <p:notesMasterIdLst>
    <p:notesMasterId r:id="rId5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39f31ed1-b0d0-d75a-0731-cfaf05263d3d}">
          <p14:sldIdLst>
            <p14:sldId id="256"/>
            <p14:sldId id="257"/>
          </p14:sldIdLst>
        </p14:section>
        <p14:section name="Estratégia" id="{1bdbd8f3-f0cd-4111-aed3-717979453b78}">
          <p14:sldIdLst>
            <p14:sldId id="258"/>
            <p14:sldId id="259"/>
            <p14:sldId id="260"/>
            <p14:sldId id="261"/>
            <p14:sldId id="262"/>
          </p14:sldIdLst>
        </p14:section>
        <p14:section name="Identidade visual" id="{36e3a865-3ef4-6c00-5f74-171b4005147c}">
          <p14:sldIdLst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</p14:sldIdLst>
        </p14:section>
        <p14:section name="Universo visual" id="{5544d262-6e60-2d2a-a9ee-7721216ce31f}">
          <p14:sldIdLst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  <p14:sldId id="308"/>
            <p14:sldId id="309"/>
            <p14:sldId id="310"/>
            <p14:sldId id="311"/>
          </p14:sldIdLst>
        </p14:section>
        <p14:section name="Encerramento" id="{fc9bd890-3a30-54e5-39a8-073eaef94ed9}">
          <p14:sldIdLst>
            <p14:sldId id="31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notesMaster" Target="notesMasters/notesMaster1.xml"/><Relationship Id="rId60" Type="http://schemas.openxmlformats.org/officeDocument/2006/relationships/presProps" Target="presProps.xml"/><Relationship Id="rId61" Type="http://schemas.openxmlformats.org/officeDocument/2006/relationships/viewProps" Target="viewProps.xml"/><Relationship Id="rId62" Type="http://schemas.openxmlformats.org/officeDocument/2006/relationships/theme" Target="theme/theme1.xml"/><Relationship Id="rId6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ar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84048"/>
            <a:ext cx="377459" cy="1645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33895" y="32918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Sua voz, no ritmo certo.</a:t>
            </a:r>
            <a:endParaRPr lang="en-US" sz="11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68580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spc="150" kern="0" dirty="0">
                <a:solidFill>
                  <a:schemeClr val="accent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685800" y="1143000"/>
            <a:ext cx="1082009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spc="-60" kern="0" dirty="0">
                <a:solidFill>
                  <a:schemeClr val="tx1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35508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tx2"/>
                </a:solidFill>
                <a:latin typeface="Geist Mono"/>
                <a:ea typeface="Geist Mono"/>
                <a:cs typeface="Geist Mono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edra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84048"/>
            <a:ext cx="377459" cy="1645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33895" y="32918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Sua voz, no ritmo certo.</a:t>
            </a:r>
            <a:endParaRPr lang="en-US" sz="11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68580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spc="150" kern="0" dirty="0">
                <a:solidFill>
                  <a:schemeClr val="tx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685800" y="1143000"/>
            <a:ext cx="1082009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spc="-60" kern="0" dirty="0">
                <a:solidFill>
                  <a:schemeClr val="tx1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35508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tx2"/>
                </a:solidFill>
                <a:latin typeface="Geist Mono"/>
                <a:ea typeface="Geist Mono"/>
                <a:cs typeface="Geist Mono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84048"/>
            <a:ext cx="377459" cy="1645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33895" y="32918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Sua voz, no ritmo certo.</a:t>
            </a:r>
            <a:endParaRPr lang="en-US" sz="11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68580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spc="150" kern="0" dirty="0">
                <a:solidFill>
                  <a:schemeClr val="accent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685800" y="1143000"/>
            <a:ext cx="1082009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spc="-60" kern="0" dirty="0">
                <a:solidFill>
                  <a:schemeClr val="bg1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35508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bg2"/>
                </a:solidFill>
                <a:latin typeface="Geist Mono"/>
                <a:ea typeface="Geist Mono"/>
                <a:cs typeface="Geist Mono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vre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rca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84048"/>
            <a:ext cx="377459" cy="1645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33895" y="32918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Sua voz, no ritmo certo.</a:t>
            </a:r>
            <a:endParaRPr lang="en-US" sz="11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35508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tx2"/>
                </a:solidFill>
                <a:latin typeface="Geist Mono"/>
                <a:ea typeface="Geist Mono"/>
                <a:cs typeface="Geist Mon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jpe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png"/><Relationship Id="rId3" Type="http://schemas.openxmlformats.org/officeDocument/2006/relationships/image" Target="../media/image-42-3.png"/><Relationship Id="rId4" Type="http://schemas.openxmlformats.org/officeDocument/2006/relationships/image" Target="../media/image-42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image" Target="../media/image-57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5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D8DA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"/>
          <p:cNvSpPr txBox="1"/>
          <p:nvPr/>
        </p:nvSpPr>
        <p:spPr>
          <a:xfrm>
            <a:off x="685800" y="6400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spc="-80" kern="0" dirty="0">
                <a:solidFill>
                  <a:schemeClr val="tx1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Meov</a:t>
            </a:r>
            <a:endParaRPr lang="en-US" sz="4000" dirty="0"/>
          </a:p>
        </p:txBody>
      </p:sp>
      <p:sp>
        <p:nvSpPr>
          <p:cNvPr id="3" name="Cliente e serviço"/>
          <p:cNvSpPr txBox="1"/>
          <p:nvPr/>
        </p:nvSpPr>
        <p:spPr>
          <a:xfrm>
            <a:off x="7665415" y="68580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Cliente: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Meov Marca Pessoal.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Serviço: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Estratégia &amp; Identidade Visual.</a:t>
            </a:r>
            <a:endParaRPr lang="en-US" sz="1300" dirty="0"/>
          </a:p>
        </p:txBody>
      </p:sp>
      <p:sp>
        <p:nvSpPr>
          <p:cNvPr id="4" name="Título"/>
          <p:cNvSpPr txBox="1"/>
          <p:nvPr/>
        </p:nvSpPr>
        <p:spPr>
          <a:xfrm>
            <a:off x="0" y="297180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chemeClr val="tx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"Apresentação"</a:t>
            </a:r>
            <a:endParaRPr lang="en-US" sz="4000" dirty="0"/>
          </a:p>
        </p:txBody>
      </p:sp>
      <p:sp>
        <p:nvSpPr>
          <p:cNvPr id="5" name="Contatos"/>
          <p:cNvSpPr txBox="1"/>
          <p:nvPr/>
        </p:nvSpPr>
        <p:spPr>
          <a:xfrm>
            <a:off x="685800" y="59436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meov.com.br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@meov.mp</a:t>
            </a:r>
            <a:endParaRPr lang="en-US" sz="1200" dirty="0"/>
          </a:p>
        </p:txBody>
      </p:sp>
      <p:sp>
        <p:nvSpPr>
          <p:cNvPr id="6" name="Ano"/>
          <p:cNvSpPr txBox="1"/>
          <p:nvPr/>
        </p:nvSpPr>
        <p:spPr>
          <a:xfrm>
            <a:off x="5181448" y="6172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2026</a:t>
            </a:r>
            <a:endParaRPr lang="en-US" sz="1200" dirty="0"/>
          </a:p>
        </p:txBody>
      </p:sp>
      <p:pic>
        <p:nvPicPr>
          <p:cNvPr id="7" name="Símbol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5157" y="5989320"/>
            <a:ext cx="880738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se"/>
          <p:cNvSpPr txBox="1"/>
          <p:nvPr/>
        </p:nvSpPr>
        <p:spPr>
          <a:xfrm>
            <a:off x="685800" y="3931920"/>
            <a:ext cx="8686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spc="-100" kern="0" dirty="0">
                <a:solidFill>
                  <a:schemeClr val="tx1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Vamos conhecer o time que ajuda especialistas a </a:t>
            </a:r>
            <a:pPr indent="0" marL="0">
              <a:buNone/>
            </a:pPr>
            <a:r>
              <a:rPr lang="en-US" sz="4000" spc="-100" kern="0" dirty="0">
                <a:solidFill>
                  <a:schemeClr val="accent1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colocar a própria voz no mundo.</a:t>
            </a:r>
            <a:endParaRPr lang="en-US" sz="4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685800" y="466344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spc="-120" kern="0" dirty="0">
                <a:solidFill>
                  <a:schemeClr val="tx1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Estratégia</a:t>
            </a:r>
            <a:endParaRPr lang="en-US" sz="5400" dirty="0"/>
          </a:p>
        </p:txBody>
      </p:sp>
      <p:sp>
        <p:nvSpPr>
          <p:cNvPr id="3" name="Subtítulo"/>
          <p:cNvSpPr txBox="1"/>
          <p:nvPr/>
        </p:nvSpPr>
        <p:spPr>
          <a:xfrm>
            <a:off x="685800" y="56692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Posicionamento, serviços e tom de voz.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extura" descr="Textur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ótulo"/>
          <p:cNvSpPr txBox="1"/>
          <p:nvPr/>
        </p:nvSpPr>
        <p:spPr>
          <a:xfrm>
            <a:off x="685800" y="86868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50" kern="0" dirty="0">
                <a:solidFill>
                  <a:schemeClr val="accent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POSICIONAMENTO</a:t>
            </a:r>
            <a:endParaRPr lang="en-US" sz="1000" dirty="0"/>
          </a:p>
        </p:txBody>
      </p:sp>
      <p:sp>
        <p:nvSpPr>
          <p:cNvPr id="4" name="Manifesto"/>
          <p:cNvSpPr txBox="1"/>
          <p:nvPr/>
        </p:nvSpPr>
        <p:spPr>
          <a:xfrm>
            <a:off x="685800" y="1371600"/>
            <a:ext cx="8412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600" spc="-80" kern="0" dirty="0">
                <a:solidFill>
                  <a:schemeClr val="bg1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Não somos uma agência de marketing. Somos um time que apoia técnica e emocionalmente quem decide colocar a própria voz no mundo.</a:t>
            </a:r>
            <a:endParaRPr lang="en-US" sz="3600" dirty="0"/>
          </a:p>
        </p:txBody>
      </p:sp>
      <p:sp>
        <p:nvSpPr>
          <p:cNvPr id="5" name="Complemento"/>
          <p:cNvSpPr txBox="1"/>
          <p:nvPr/>
        </p:nvSpPr>
        <p:spPr>
          <a:xfrm>
            <a:off x="685800" y="5669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Da estratégia à câmera e à gestão das redes, com acolhimento do começo ao fim.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6858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spc="150" kern="0" dirty="0">
                <a:solidFill>
                  <a:schemeClr val="accent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O QUE FAZEMOS</a:t>
            </a:r>
            <a:endParaRPr lang="en-US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685800" y="1143000"/>
            <a:ext cx="10820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spc="-60" kern="0" dirty="0">
                <a:solidFill>
                  <a:schemeClr val="tx1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Três frentes, um mesmo time.</a:t>
            </a:r>
            <a:endParaRPr lang="en-US" sz="3400" dirty="0"/>
          </a:p>
        </p:txBody>
      </p:sp>
      <p:sp>
        <p:nvSpPr>
          <p:cNvPr id="4" name="Linha 1"/>
          <p:cNvSpPr/>
          <p:nvPr/>
        </p:nvSpPr>
        <p:spPr>
          <a:xfrm>
            <a:off x="685800" y="2148840"/>
            <a:ext cx="3423818" cy="0"/>
          </a:xfrm>
          <a:prstGeom prst="line">
            <a:avLst/>
          </a:prstGeom>
          <a:noFill/>
          <a:ln w="9525">
            <a:solidFill>
              <a:srgbClr val="1C211E"/>
            </a:solidFill>
            <a:prstDash val="solid"/>
          </a:ln>
        </p:spPr>
      </p:sp>
      <p:sp>
        <p:nvSpPr>
          <p:cNvPr id="5" name="Número 1"/>
          <p:cNvSpPr txBox="1"/>
          <p:nvPr/>
        </p:nvSpPr>
        <p:spPr>
          <a:xfrm>
            <a:off x="685800" y="233172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spc="-150" kern="0" dirty="0">
                <a:solidFill>
                  <a:schemeClr val="tx1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01</a:t>
            </a:r>
            <a:endParaRPr lang="en-US" sz="6400" dirty="0"/>
          </a:p>
        </p:txBody>
      </p:sp>
      <p:sp>
        <p:nvSpPr>
          <p:cNvPr id="6" name="Ponto 1"/>
          <p:cNvSpPr/>
          <p:nvPr/>
        </p:nvSpPr>
        <p:spPr>
          <a:xfrm>
            <a:off x="2103120" y="2606040"/>
            <a:ext cx="182880" cy="1828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Frente 1"/>
          <p:cNvSpPr txBox="1"/>
          <p:nvPr/>
        </p:nvSpPr>
        <p:spPr>
          <a:xfrm>
            <a:off x="685800" y="3520440"/>
            <a:ext cx="34238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tx1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Estratégia</a:t>
            </a:r>
            <a:endParaRPr lang="en-US" sz="2600" dirty="0"/>
          </a:p>
        </p:txBody>
      </p:sp>
      <p:sp>
        <p:nvSpPr>
          <p:cNvPr id="8" name="Frente 1 texto"/>
          <p:cNvSpPr txBox="1"/>
          <p:nvPr/>
        </p:nvSpPr>
        <p:spPr>
          <a:xfrm>
            <a:off x="685800" y="4114800"/>
            <a:ext cx="333237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 Método Meov: diagnóstico, imersão presencial e um Brandbook que organiza quem você é, para quem fala e como se diferencia.</a:t>
            </a:r>
            <a:endParaRPr lang="en-US" sz="1400" dirty="0"/>
          </a:p>
        </p:txBody>
      </p:sp>
      <p:sp>
        <p:nvSpPr>
          <p:cNvPr id="9" name="Frente 1 tags"/>
          <p:cNvSpPr txBox="1"/>
          <p:nvPr/>
        </p:nvSpPr>
        <p:spPr>
          <a:xfrm>
            <a:off x="685800" y="5623560"/>
            <a:ext cx="34238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chemeClr val="tx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MÉTODO MEOV · BRANDBOOK · 6 MESES</a:t>
            </a:r>
            <a:endParaRPr lang="en-US" sz="900" dirty="0"/>
          </a:p>
        </p:txBody>
      </p:sp>
      <p:sp>
        <p:nvSpPr>
          <p:cNvPr id="10" name="Linha 2"/>
          <p:cNvSpPr/>
          <p:nvPr/>
        </p:nvSpPr>
        <p:spPr>
          <a:xfrm>
            <a:off x="4383938" y="2148840"/>
            <a:ext cx="3423818" cy="0"/>
          </a:xfrm>
          <a:prstGeom prst="line">
            <a:avLst/>
          </a:prstGeom>
          <a:noFill/>
          <a:ln w="9525">
            <a:solidFill>
              <a:srgbClr val="1C211E"/>
            </a:solidFill>
            <a:prstDash val="solid"/>
          </a:ln>
        </p:spPr>
      </p:sp>
      <p:sp>
        <p:nvSpPr>
          <p:cNvPr id="11" name="Número 2"/>
          <p:cNvSpPr txBox="1"/>
          <p:nvPr/>
        </p:nvSpPr>
        <p:spPr>
          <a:xfrm>
            <a:off x="4383938" y="233172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spc="-150" kern="0" dirty="0">
                <a:solidFill>
                  <a:schemeClr val="tx1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02</a:t>
            </a:r>
            <a:endParaRPr lang="en-US" sz="6400" dirty="0"/>
          </a:p>
        </p:txBody>
      </p:sp>
      <p:sp>
        <p:nvSpPr>
          <p:cNvPr id="12" name="Ponto 2"/>
          <p:cNvSpPr/>
          <p:nvPr/>
        </p:nvSpPr>
        <p:spPr>
          <a:xfrm>
            <a:off x="5801258" y="2606040"/>
            <a:ext cx="182880" cy="1828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Frente 2"/>
          <p:cNvSpPr txBox="1"/>
          <p:nvPr/>
        </p:nvSpPr>
        <p:spPr>
          <a:xfrm>
            <a:off x="4383938" y="3520440"/>
            <a:ext cx="34238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tx1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Audiovisual</a:t>
            </a:r>
            <a:endParaRPr lang="en-US" sz="2600" dirty="0"/>
          </a:p>
        </p:txBody>
      </p:sp>
      <p:sp>
        <p:nvSpPr>
          <p:cNvPr id="14" name="Frente 2 texto"/>
          <p:cNvSpPr txBox="1"/>
          <p:nvPr/>
        </p:nvSpPr>
        <p:spPr>
          <a:xfrm>
            <a:off x="4383938" y="4114800"/>
            <a:ext cx="333237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Direção de imagem, ensaio, gravação e edição, em dias de gravação semanais, quinzenais ou mensais. O fino trato que nasceu com a Meov.</a:t>
            </a:r>
            <a:endParaRPr lang="en-US" sz="1400" dirty="0"/>
          </a:p>
        </p:txBody>
      </p:sp>
      <p:sp>
        <p:nvSpPr>
          <p:cNvPr id="15" name="Frente 2 tags"/>
          <p:cNvSpPr txBox="1"/>
          <p:nvPr/>
        </p:nvSpPr>
        <p:spPr>
          <a:xfrm>
            <a:off x="4383938" y="5623560"/>
            <a:ext cx="34238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chemeClr val="tx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ENSAIO · VLOGCAST · REELS</a:t>
            </a:r>
            <a:endParaRPr lang="en-US" sz="900" dirty="0"/>
          </a:p>
        </p:txBody>
      </p:sp>
      <p:sp>
        <p:nvSpPr>
          <p:cNvPr id="16" name="Linha 3"/>
          <p:cNvSpPr/>
          <p:nvPr/>
        </p:nvSpPr>
        <p:spPr>
          <a:xfrm>
            <a:off x="8082077" y="2148840"/>
            <a:ext cx="3423818" cy="0"/>
          </a:xfrm>
          <a:prstGeom prst="line">
            <a:avLst/>
          </a:prstGeom>
          <a:noFill/>
          <a:ln w="9525">
            <a:solidFill>
              <a:srgbClr val="1C211E"/>
            </a:solidFill>
            <a:prstDash val="solid"/>
          </a:ln>
        </p:spPr>
      </p:sp>
      <p:sp>
        <p:nvSpPr>
          <p:cNvPr id="17" name="Número 3"/>
          <p:cNvSpPr txBox="1"/>
          <p:nvPr/>
        </p:nvSpPr>
        <p:spPr>
          <a:xfrm>
            <a:off x="8082077" y="233172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spc="-150" kern="0" dirty="0">
                <a:solidFill>
                  <a:schemeClr val="tx1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03</a:t>
            </a:r>
            <a:endParaRPr lang="en-US" sz="6400" dirty="0"/>
          </a:p>
        </p:txBody>
      </p:sp>
      <p:sp>
        <p:nvSpPr>
          <p:cNvPr id="18" name="Ponto 3"/>
          <p:cNvSpPr/>
          <p:nvPr/>
        </p:nvSpPr>
        <p:spPr>
          <a:xfrm>
            <a:off x="9499397" y="2606040"/>
            <a:ext cx="182880" cy="18288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9" name="Frente 3"/>
          <p:cNvSpPr txBox="1"/>
          <p:nvPr/>
        </p:nvSpPr>
        <p:spPr>
          <a:xfrm>
            <a:off x="8082077" y="3520440"/>
            <a:ext cx="34238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tx1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Gestão das redes</a:t>
            </a:r>
            <a:endParaRPr lang="en-US" sz="2600" dirty="0"/>
          </a:p>
        </p:txBody>
      </p:sp>
      <p:sp>
        <p:nvSpPr>
          <p:cNvPr id="20" name="Frente 3 texto"/>
          <p:cNvSpPr txBox="1"/>
          <p:nvPr/>
        </p:nvSpPr>
        <p:spPr>
          <a:xfrm>
            <a:off x="8082077" y="4114800"/>
            <a:ext cx="333237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Instagram, LinkedIn e Site/LP com calendário, roteiros, legendas, design, publicação e relatórios. Você grava e aprova.</a:t>
            </a:r>
            <a:endParaRPr lang="en-US" sz="1400" dirty="0"/>
          </a:p>
        </p:txBody>
      </p:sp>
      <p:sp>
        <p:nvSpPr>
          <p:cNvPr id="21" name="Frente 3 tags"/>
          <p:cNvSpPr txBox="1"/>
          <p:nvPr/>
        </p:nvSpPr>
        <p:spPr>
          <a:xfrm>
            <a:off x="8082077" y="5623560"/>
            <a:ext cx="34238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chemeClr val="tx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INSTAGRAM · LINKEDIN · SITE/LP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35508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tx2"/>
                </a:solidFill>
                <a:latin typeface="Geist Mono"/>
                <a:ea typeface="Geist Mono"/>
                <a:cs typeface="Geist Mono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extura" descr="Textur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ótulo público"/>
          <p:cNvSpPr txBox="1"/>
          <p:nvPr/>
        </p:nvSpPr>
        <p:spPr>
          <a:xfrm>
            <a:off x="685800" y="86868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50" kern="0" dirty="0">
                <a:solidFill>
                  <a:schemeClr val="accent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PARA QUEM</a:t>
            </a:r>
            <a:endParaRPr lang="en-US" sz="1000" dirty="0"/>
          </a:p>
        </p:txBody>
      </p:sp>
      <p:sp>
        <p:nvSpPr>
          <p:cNvPr id="4" name="Público"/>
          <p:cNvSpPr txBox="1"/>
          <p:nvPr/>
        </p:nvSpPr>
        <p:spPr>
          <a:xfrm>
            <a:off x="685800" y="123444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Empresários e especialistas que já são referência fora das redes e ainda não conseguiram se posicionar no digital.</a:t>
            </a:r>
            <a:endParaRPr lang="en-US" sz="2200" dirty="0"/>
          </a:p>
        </p:txBody>
      </p:sp>
      <p:sp>
        <p:nvSpPr>
          <p:cNvPr id="5" name="Rótulo princípios"/>
          <p:cNvSpPr txBox="1"/>
          <p:nvPr/>
        </p:nvSpPr>
        <p:spPr>
          <a:xfrm>
            <a:off x="685800" y="420624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50" kern="0" dirty="0">
                <a:solidFill>
                  <a:schemeClr val="accent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PRINCÍPIOS</a:t>
            </a:r>
            <a:endParaRPr lang="en-US" sz="1000" dirty="0"/>
          </a:p>
        </p:txBody>
      </p:sp>
      <p:sp>
        <p:nvSpPr>
          <p:cNvPr id="6" name="Princípios"/>
          <p:cNvSpPr txBox="1"/>
          <p:nvPr/>
        </p:nvSpPr>
        <p:spPr>
          <a:xfrm>
            <a:off x="685800" y="452628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spc="-60" kern="0" dirty="0">
                <a:solidFill>
                  <a:schemeClr val="bg1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Raiz antes de vitrine.</a:t>
            </a:r>
            <a:endParaRPr lang="en-US" sz="3000" dirty="0"/>
          </a:p>
          <a:p>
            <a:pPr indent="0" marL="0">
              <a:buNone/>
            </a:pPr>
            <a:r>
              <a:rPr lang="en-US" sz="3000" spc="-60" kern="0" dirty="0">
                <a:solidFill>
                  <a:schemeClr val="bg1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Verdade acima de pose.</a:t>
            </a:r>
            <a:endParaRPr lang="en-US" sz="3000" dirty="0"/>
          </a:p>
          <a:p>
            <a:pPr indent="0" marL="0">
              <a:buNone/>
            </a:pPr>
            <a:r>
              <a:rPr lang="en-US" sz="3000" spc="-60" kern="0" dirty="0">
                <a:solidFill>
                  <a:schemeClr val="bg1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Constância no lugar de inspiração.</a:t>
            </a:r>
            <a:endParaRPr lang="en-US" sz="3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ótulo"/>
          <p:cNvSpPr txBox="1"/>
          <p:nvPr/>
        </p:nvSpPr>
        <p:spPr>
          <a:xfrm>
            <a:off x="685800" y="86868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50" kern="0" dirty="0">
                <a:solidFill>
                  <a:schemeClr val="accent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TOM DE VOZ</a:t>
            </a:r>
            <a:endParaRPr lang="en-US" sz="1000" dirty="0"/>
          </a:p>
        </p:txBody>
      </p:sp>
      <p:sp>
        <p:nvSpPr>
          <p:cNvPr id="3" name="Tom"/>
          <p:cNvSpPr txBox="1"/>
          <p:nvPr/>
        </p:nvSpPr>
        <p:spPr>
          <a:xfrm>
            <a:off x="685800" y="1234440"/>
            <a:ext cx="54864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5200" spc="-140" kern="0" dirty="0">
                <a:solidFill>
                  <a:schemeClr val="tx1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Acolhedores.</a:t>
            </a:r>
            <a:endParaRPr lang="en-US" sz="52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5200" spc="-140" kern="0" dirty="0">
                <a:solidFill>
                  <a:schemeClr val="tx1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Claros.</a:t>
            </a:r>
            <a:endParaRPr lang="en-US" sz="52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5200" spc="-140" kern="0" dirty="0">
                <a:solidFill>
                  <a:schemeClr val="tx1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Verdadeiros.</a:t>
            </a:r>
            <a:endParaRPr lang="en-US" sz="52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5200" spc="-140" kern="0" dirty="0">
                <a:solidFill>
                  <a:schemeClr val="accent1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Nunca guru.</a:t>
            </a:r>
            <a:endParaRPr lang="en-US" sz="5200" dirty="0"/>
          </a:p>
        </p:txBody>
      </p:sp>
      <p:sp>
        <p:nvSpPr>
          <p:cNvPr id="4" name="Linha 1"/>
          <p:cNvSpPr/>
          <p:nvPr/>
        </p:nvSpPr>
        <p:spPr>
          <a:xfrm>
            <a:off x="6583680" y="1325880"/>
            <a:ext cx="4922215" cy="0"/>
          </a:xfrm>
          <a:prstGeom prst="line">
            <a:avLst/>
          </a:prstGeom>
          <a:noFill/>
          <a:ln w="9525">
            <a:solidFill>
              <a:srgbClr val="59625A"/>
            </a:solidFill>
            <a:prstDash val="solid"/>
          </a:ln>
        </p:spPr>
      </p:sp>
      <p:sp>
        <p:nvSpPr>
          <p:cNvPr id="5" name="Pilar 1"/>
          <p:cNvSpPr txBox="1"/>
          <p:nvPr/>
        </p:nvSpPr>
        <p:spPr>
          <a:xfrm>
            <a:off x="6583680" y="1435608"/>
            <a:ext cx="49222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Acolhedores 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falamos com quem tem medo de se expor como quem entende esse medo.</a:t>
            </a:r>
            <a:endParaRPr lang="en-US" sz="1400" dirty="0"/>
          </a:p>
        </p:txBody>
      </p:sp>
      <p:sp>
        <p:nvSpPr>
          <p:cNvPr id="6" name="Linha 2"/>
          <p:cNvSpPr/>
          <p:nvPr/>
        </p:nvSpPr>
        <p:spPr>
          <a:xfrm>
            <a:off x="6583680" y="2194560"/>
            <a:ext cx="4922215" cy="0"/>
          </a:xfrm>
          <a:prstGeom prst="line">
            <a:avLst/>
          </a:prstGeom>
          <a:noFill/>
          <a:ln w="9525">
            <a:solidFill>
              <a:srgbClr val="59625A"/>
            </a:solidFill>
            <a:prstDash val="solid"/>
          </a:ln>
        </p:spPr>
      </p:sp>
      <p:sp>
        <p:nvSpPr>
          <p:cNvPr id="7" name="Pilar 2"/>
          <p:cNvSpPr txBox="1"/>
          <p:nvPr/>
        </p:nvSpPr>
        <p:spPr>
          <a:xfrm>
            <a:off x="6583680" y="2304288"/>
            <a:ext cx="49222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Claros 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frases curtas, palavras simples, nada de jargão de marketing.</a:t>
            </a:r>
            <a:endParaRPr lang="en-US" sz="1400" dirty="0"/>
          </a:p>
        </p:txBody>
      </p:sp>
      <p:sp>
        <p:nvSpPr>
          <p:cNvPr id="8" name="Linha 3"/>
          <p:cNvSpPr/>
          <p:nvPr/>
        </p:nvSpPr>
        <p:spPr>
          <a:xfrm>
            <a:off x="6583680" y="3063240"/>
            <a:ext cx="4922215" cy="0"/>
          </a:xfrm>
          <a:prstGeom prst="line">
            <a:avLst/>
          </a:prstGeom>
          <a:noFill/>
          <a:ln w="9525">
            <a:solidFill>
              <a:srgbClr val="59625A"/>
            </a:solidFill>
            <a:prstDash val="solid"/>
          </a:ln>
        </p:spPr>
      </p:sp>
      <p:sp>
        <p:nvSpPr>
          <p:cNvPr id="9" name="Pilar 3"/>
          <p:cNvSpPr txBox="1"/>
          <p:nvPr/>
        </p:nvSpPr>
        <p:spPr>
          <a:xfrm>
            <a:off x="6583680" y="3172968"/>
            <a:ext cx="49222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Verdadeiros 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nada de fórmula, promessa de viral ou personagem.</a:t>
            </a:r>
            <a:endParaRPr lang="en-US" sz="1400" dirty="0"/>
          </a:p>
        </p:txBody>
      </p:sp>
      <p:sp>
        <p:nvSpPr>
          <p:cNvPr id="10" name="Rótulo assim"/>
          <p:cNvSpPr txBox="1"/>
          <p:nvPr/>
        </p:nvSpPr>
        <p:spPr>
          <a:xfrm>
            <a:off x="6583680" y="406908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50" kern="0" dirty="0">
                <a:solidFill>
                  <a:srgbClr val="4F7A4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ASSIM</a:t>
            </a:r>
            <a:endParaRPr lang="en-US" sz="1000" dirty="0"/>
          </a:p>
        </p:txBody>
      </p:sp>
      <p:sp>
        <p:nvSpPr>
          <p:cNvPr id="11" name="Assim"/>
          <p:cNvSpPr txBox="1"/>
          <p:nvPr/>
        </p:nvSpPr>
        <p:spPr>
          <a:xfrm>
            <a:off x="6583680" y="4343400"/>
            <a:ext cx="49222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Você já tem a voz. A gente ajuda você a colocá-la no mundo.</a:t>
            </a:r>
            <a:endParaRPr lang="en-US" sz="1800" dirty="0"/>
          </a:p>
        </p:txBody>
      </p:sp>
      <p:sp>
        <p:nvSpPr>
          <p:cNvPr id="12" name="Rótulo não assim"/>
          <p:cNvSpPr txBox="1"/>
          <p:nvPr/>
        </p:nvSpPr>
        <p:spPr>
          <a:xfrm>
            <a:off x="6583680" y="516636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50" kern="0" dirty="0">
                <a:solidFill>
                  <a:srgbClr val="B23A3A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NÃO ASSIM</a:t>
            </a:r>
            <a:endParaRPr lang="en-US" sz="1000" dirty="0"/>
          </a:p>
        </p:txBody>
      </p:sp>
      <p:sp>
        <p:nvSpPr>
          <p:cNvPr id="13" name="Não assim"/>
          <p:cNvSpPr txBox="1"/>
          <p:nvPr/>
        </p:nvSpPr>
        <p:spPr>
          <a:xfrm>
            <a:off x="6583680" y="5440680"/>
            <a:ext cx="49222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trike="sngStrike" dirty="0">
                <a:solidFill>
                  <a:schemeClr val="tx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VIRALIZE EM 7 DIAS!  ·  o hack secreto para bombar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685800" y="466344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spc="-120" kern="0" dirty="0">
                <a:solidFill>
                  <a:schemeClr val="tx1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Identidade Visual</a:t>
            </a:r>
            <a:endParaRPr lang="en-US" sz="5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0" y="297180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spc="-80" kern="0" dirty="0">
                <a:solidFill>
                  <a:schemeClr val="tx1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"Cores"</a:t>
            </a:r>
            <a:endParaRPr lang="en-US" sz="4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r 1"/>
          <p:cNvSpPr/>
          <p:nvPr/>
        </p:nvSpPr>
        <p:spPr>
          <a:xfrm>
            <a:off x="0" y="0"/>
            <a:ext cx="7616952" cy="3840480"/>
          </a:xfrm>
          <a:prstGeom prst="rect">
            <a:avLst/>
          </a:prstGeom>
          <a:solidFill>
            <a:srgbClr val="FAF8F4"/>
          </a:solidFill>
          <a:ln w="12700">
            <a:solidFill>
              <a:srgbClr val="FAF8F4"/>
            </a:solidFill>
            <a:prstDash val="solid"/>
          </a:ln>
        </p:spPr>
      </p:sp>
      <p:sp>
        <p:nvSpPr>
          <p:cNvPr id="3" name="Cor 1 nome"/>
          <p:cNvSpPr txBox="1"/>
          <p:nvPr/>
        </p:nvSpPr>
        <p:spPr>
          <a:xfrm>
            <a:off x="365760" y="365760"/>
            <a:ext cx="7068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C211E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Branco mineral</a:t>
            </a:r>
            <a:endParaRPr lang="en-US" sz="2400" dirty="0"/>
          </a:p>
        </p:txBody>
      </p:sp>
      <p:sp>
        <p:nvSpPr>
          <p:cNvPr id="4" name="Cor 1 hex"/>
          <p:cNvSpPr txBox="1"/>
          <p:nvPr/>
        </p:nvSpPr>
        <p:spPr>
          <a:xfrm>
            <a:off x="365760" y="777240"/>
            <a:ext cx="7068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1C211E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#FAF8F4</a:t>
            </a:r>
            <a:endParaRPr lang="en-US" sz="1100" dirty="0"/>
          </a:p>
        </p:txBody>
      </p:sp>
      <p:sp>
        <p:nvSpPr>
          <p:cNvPr id="5" name="Cor 1 proporção"/>
          <p:cNvSpPr txBox="1"/>
          <p:nvPr/>
        </p:nvSpPr>
        <p:spPr>
          <a:xfrm>
            <a:off x="365760" y="2697480"/>
            <a:ext cx="70683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000" dirty="0">
                <a:solidFill>
                  <a:srgbClr val="1C211E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50%</a:t>
            </a:r>
            <a:endParaRPr lang="en-US" sz="6000" dirty="0"/>
          </a:p>
        </p:txBody>
      </p:sp>
      <p:sp>
        <p:nvSpPr>
          <p:cNvPr id="6" name="Cor 2"/>
          <p:cNvSpPr/>
          <p:nvPr/>
        </p:nvSpPr>
        <p:spPr>
          <a:xfrm>
            <a:off x="7616952" y="0"/>
            <a:ext cx="4572000" cy="3840480"/>
          </a:xfrm>
          <a:prstGeom prst="rect">
            <a:avLst/>
          </a:prstGeom>
          <a:solidFill>
            <a:srgbClr val="D8DACD"/>
          </a:solidFill>
          <a:ln w="12700">
            <a:solidFill>
              <a:srgbClr val="D8DACD"/>
            </a:solidFill>
            <a:prstDash val="solid"/>
          </a:ln>
        </p:spPr>
      </p:sp>
      <p:sp>
        <p:nvSpPr>
          <p:cNvPr id="7" name="Cor 2 nome"/>
          <p:cNvSpPr txBox="1"/>
          <p:nvPr/>
        </p:nvSpPr>
        <p:spPr>
          <a:xfrm>
            <a:off x="7982712" y="36576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C211E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Pedra líquen</a:t>
            </a:r>
            <a:endParaRPr lang="en-US" sz="2400" dirty="0"/>
          </a:p>
        </p:txBody>
      </p:sp>
      <p:sp>
        <p:nvSpPr>
          <p:cNvPr id="8" name="Cor 2 hex"/>
          <p:cNvSpPr txBox="1"/>
          <p:nvPr/>
        </p:nvSpPr>
        <p:spPr>
          <a:xfrm>
            <a:off x="7982712" y="7772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1C211E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#D8DACD</a:t>
            </a:r>
            <a:endParaRPr lang="en-US" sz="1100" dirty="0"/>
          </a:p>
        </p:txBody>
      </p:sp>
      <p:sp>
        <p:nvSpPr>
          <p:cNvPr id="9" name="Cor 2 proporção"/>
          <p:cNvSpPr txBox="1"/>
          <p:nvPr/>
        </p:nvSpPr>
        <p:spPr>
          <a:xfrm>
            <a:off x="7982712" y="2697480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000" dirty="0">
                <a:solidFill>
                  <a:srgbClr val="1C211E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30%</a:t>
            </a:r>
            <a:endParaRPr lang="en-US" sz="6000" dirty="0"/>
          </a:p>
        </p:txBody>
      </p:sp>
      <p:sp>
        <p:nvSpPr>
          <p:cNvPr id="10" name="Cor 3"/>
          <p:cNvSpPr/>
          <p:nvPr/>
        </p:nvSpPr>
        <p:spPr>
          <a:xfrm>
            <a:off x="0" y="3840480"/>
            <a:ext cx="4023360" cy="3017520"/>
          </a:xfrm>
          <a:prstGeom prst="rect">
            <a:avLst/>
          </a:prstGeom>
          <a:solidFill>
            <a:srgbClr val="1C211E"/>
          </a:solidFill>
          <a:ln w="12700">
            <a:solidFill>
              <a:srgbClr val="1C211E"/>
            </a:solidFill>
            <a:prstDash val="solid"/>
          </a:ln>
        </p:spPr>
      </p:sp>
      <p:sp>
        <p:nvSpPr>
          <p:cNvPr id="11" name="Cor 3 nome"/>
          <p:cNvSpPr txBox="1"/>
          <p:nvPr/>
        </p:nvSpPr>
        <p:spPr>
          <a:xfrm>
            <a:off x="365760" y="42062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AF8F4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Preto musgo</a:t>
            </a:r>
            <a:endParaRPr lang="en-US" sz="1800" dirty="0"/>
          </a:p>
        </p:txBody>
      </p:sp>
      <p:sp>
        <p:nvSpPr>
          <p:cNvPr id="12" name="Cor 3 hex"/>
          <p:cNvSpPr txBox="1"/>
          <p:nvPr/>
        </p:nvSpPr>
        <p:spPr>
          <a:xfrm>
            <a:off x="365760" y="46177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FAF8F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#1C211E</a:t>
            </a:r>
            <a:endParaRPr lang="en-US" sz="1100" dirty="0"/>
          </a:p>
        </p:txBody>
      </p:sp>
      <p:sp>
        <p:nvSpPr>
          <p:cNvPr id="13" name="Cor 3 proporção"/>
          <p:cNvSpPr txBox="1"/>
          <p:nvPr/>
        </p:nvSpPr>
        <p:spPr>
          <a:xfrm>
            <a:off x="365760" y="571500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dirty="0">
                <a:solidFill>
                  <a:srgbClr val="FAF8F4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9%</a:t>
            </a:r>
            <a:endParaRPr lang="en-US" sz="4400" dirty="0"/>
          </a:p>
        </p:txBody>
      </p:sp>
      <p:sp>
        <p:nvSpPr>
          <p:cNvPr id="14" name="Cor 4"/>
          <p:cNvSpPr/>
          <p:nvPr/>
        </p:nvSpPr>
        <p:spPr>
          <a:xfrm>
            <a:off x="4023360" y="3840480"/>
            <a:ext cx="3657600" cy="3017520"/>
          </a:xfrm>
          <a:prstGeom prst="rect">
            <a:avLst/>
          </a:prstGeom>
          <a:solidFill>
            <a:srgbClr val="59625A"/>
          </a:solidFill>
          <a:ln w="12700">
            <a:solidFill>
              <a:srgbClr val="59625A"/>
            </a:solidFill>
            <a:prstDash val="solid"/>
          </a:ln>
        </p:spPr>
      </p:sp>
      <p:sp>
        <p:nvSpPr>
          <p:cNvPr id="15" name="Cor 4 nome"/>
          <p:cNvSpPr txBox="1"/>
          <p:nvPr/>
        </p:nvSpPr>
        <p:spPr>
          <a:xfrm>
            <a:off x="4389120" y="42062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AF8F4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Cinza ardósia verde</a:t>
            </a:r>
            <a:endParaRPr lang="en-US" sz="1800" dirty="0"/>
          </a:p>
        </p:txBody>
      </p:sp>
      <p:sp>
        <p:nvSpPr>
          <p:cNvPr id="16" name="Cor 4 hex"/>
          <p:cNvSpPr txBox="1"/>
          <p:nvPr/>
        </p:nvSpPr>
        <p:spPr>
          <a:xfrm>
            <a:off x="4389120" y="46177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FAF8F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#59625A</a:t>
            </a:r>
            <a:endParaRPr lang="en-US" sz="1100" dirty="0"/>
          </a:p>
        </p:txBody>
      </p:sp>
      <p:sp>
        <p:nvSpPr>
          <p:cNvPr id="17" name="Cor 4 proporção"/>
          <p:cNvSpPr txBox="1"/>
          <p:nvPr/>
        </p:nvSpPr>
        <p:spPr>
          <a:xfrm>
            <a:off x="4389120" y="571500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dirty="0">
                <a:solidFill>
                  <a:srgbClr val="FAF8F4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8%</a:t>
            </a:r>
            <a:endParaRPr lang="en-US" sz="4400" dirty="0"/>
          </a:p>
        </p:txBody>
      </p:sp>
      <p:sp>
        <p:nvSpPr>
          <p:cNvPr id="18" name="Cor 5"/>
          <p:cNvSpPr/>
          <p:nvPr/>
        </p:nvSpPr>
        <p:spPr>
          <a:xfrm>
            <a:off x="7680960" y="3840480"/>
            <a:ext cx="2258568" cy="3017520"/>
          </a:xfrm>
          <a:prstGeom prst="rect">
            <a:avLst/>
          </a:prstGeom>
          <a:solidFill>
            <a:srgbClr val="FF19B1"/>
          </a:solidFill>
          <a:ln w="12700">
            <a:solidFill>
              <a:srgbClr val="FF19B1"/>
            </a:solidFill>
            <a:prstDash val="solid"/>
          </a:ln>
        </p:spPr>
      </p:sp>
      <p:sp>
        <p:nvSpPr>
          <p:cNvPr id="19" name="Cor 5 nome"/>
          <p:cNvSpPr txBox="1"/>
          <p:nvPr/>
        </p:nvSpPr>
        <p:spPr>
          <a:xfrm>
            <a:off x="8046720" y="4206240"/>
            <a:ext cx="1709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AF8F4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Rosa choque</a:t>
            </a:r>
            <a:endParaRPr lang="en-US" sz="1800" dirty="0"/>
          </a:p>
        </p:txBody>
      </p:sp>
      <p:sp>
        <p:nvSpPr>
          <p:cNvPr id="20" name="Cor 5 hex"/>
          <p:cNvSpPr txBox="1"/>
          <p:nvPr/>
        </p:nvSpPr>
        <p:spPr>
          <a:xfrm>
            <a:off x="8046720" y="4617720"/>
            <a:ext cx="170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FAF8F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#FF19B1</a:t>
            </a:r>
            <a:endParaRPr lang="en-US" sz="1100" dirty="0"/>
          </a:p>
        </p:txBody>
      </p:sp>
      <p:sp>
        <p:nvSpPr>
          <p:cNvPr id="21" name="Cor 5 proporção"/>
          <p:cNvSpPr txBox="1"/>
          <p:nvPr/>
        </p:nvSpPr>
        <p:spPr>
          <a:xfrm>
            <a:off x="8046720" y="5715000"/>
            <a:ext cx="17099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dirty="0">
                <a:solidFill>
                  <a:srgbClr val="FAF8F4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1,5%</a:t>
            </a:r>
            <a:endParaRPr lang="en-US" sz="4400" dirty="0"/>
          </a:p>
        </p:txBody>
      </p:sp>
      <p:sp>
        <p:nvSpPr>
          <p:cNvPr id="22" name="Cor 6"/>
          <p:cNvSpPr/>
          <p:nvPr/>
        </p:nvSpPr>
        <p:spPr>
          <a:xfrm>
            <a:off x="9939528" y="3840480"/>
            <a:ext cx="2258568" cy="3017520"/>
          </a:xfrm>
          <a:prstGeom prst="rect">
            <a:avLst/>
          </a:prstGeom>
          <a:solidFill>
            <a:srgbClr val="DBFF00"/>
          </a:solidFill>
          <a:ln w="12700">
            <a:solidFill>
              <a:srgbClr val="DBFF00"/>
            </a:solidFill>
            <a:prstDash val="solid"/>
          </a:ln>
        </p:spPr>
      </p:sp>
      <p:sp>
        <p:nvSpPr>
          <p:cNvPr id="23" name="Cor 6 nome"/>
          <p:cNvSpPr txBox="1"/>
          <p:nvPr/>
        </p:nvSpPr>
        <p:spPr>
          <a:xfrm>
            <a:off x="10305288" y="4206240"/>
            <a:ext cx="1709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C211E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Verde vibrante</a:t>
            </a:r>
            <a:endParaRPr lang="en-US" sz="1800" dirty="0"/>
          </a:p>
        </p:txBody>
      </p:sp>
      <p:sp>
        <p:nvSpPr>
          <p:cNvPr id="24" name="Cor 6 hex"/>
          <p:cNvSpPr txBox="1"/>
          <p:nvPr/>
        </p:nvSpPr>
        <p:spPr>
          <a:xfrm>
            <a:off x="10305288" y="4617720"/>
            <a:ext cx="170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1C211E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#DBFF00</a:t>
            </a:r>
            <a:endParaRPr lang="en-US" sz="1100" dirty="0"/>
          </a:p>
        </p:txBody>
      </p:sp>
      <p:sp>
        <p:nvSpPr>
          <p:cNvPr id="25" name="Cor 6 proporção"/>
          <p:cNvSpPr txBox="1"/>
          <p:nvPr/>
        </p:nvSpPr>
        <p:spPr>
          <a:xfrm>
            <a:off x="10305288" y="5715000"/>
            <a:ext cx="17099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dirty="0">
                <a:solidFill>
                  <a:srgbClr val="1C211E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1,5%</a:t>
            </a:r>
            <a:endParaRPr lang="en-US" sz="4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extura 1" descr="Textura Meov: degradê com granulad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extura 2" descr="Textura Meov: degradê com ond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6858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spc="150" kern="0" dirty="0">
                <a:solidFill>
                  <a:schemeClr val="accent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O PORQUÊ DAS CORES</a:t>
            </a:r>
            <a:endParaRPr lang="en-US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685800" y="1143000"/>
            <a:ext cx="10820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spc="-60" kern="0" dirty="0">
                <a:solidFill>
                  <a:schemeClr val="bg1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Muito respiro, dois pontos de energia.</a:t>
            </a:r>
            <a:endParaRPr lang="en-US" sz="3400" dirty="0"/>
          </a:p>
        </p:txBody>
      </p:sp>
      <p:sp>
        <p:nvSpPr>
          <p:cNvPr id="4" name="Amostra 1.1"/>
          <p:cNvSpPr/>
          <p:nvPr/>
        </p:nvSpPr>
        <p:spPr>
          <a:xfrm>
            <a:off x="685800" y="2103120"/>
            <a:ext cx="640080" cy="640080"/>
          </a:xfrm>
          <a:prstGeom prst="ellipse">
            <a:avLst/>
          </a:prstGeom>
          <a:solidFill>
            <a:srgbClr val="FAF8F4"/>
          </a:solidFill>
          <a:ln w="9525">
            <a:solidFill>
              <a:srgbClr val="59625A"/>
            </a:solidFill>
            <a:prstDash val="solid"/>
          </a:ln>
        </p:spPr>
      </p:sp>
      <p:sp>
        <p:nvSpPr>
          <p:cNvPr id="5" name="Amostra 1.2"/>
          <p:cNvSpPr/>
          <p:nvPr/>
        </p:nvSpPr>
        <p:spPr>
          <a:xfrm>
            <a:off x="1069848" y="2103120"/>
            <a:ext cx="640080" cy="640080"/>
          </a:xfrm>
          <a:prstGeom prst="ellipse">
            <a:avLst/>
          </a:prstGeom>
          <a:solidFill>
            <a:srgbClr val="D8DACD"/>
          </a:solidFill>
          <a:ln w="9525">
            <a:solidFill>
              <a:srgbClr val="59625A"/>
            </a:solidFill>
            <a:prstDash val="solid"/>
          </a:ln>
        </p:spPr>
      </p:sp>
      <p:sp>
        <p:nvSpPr>
          <p:cNvPr id="6" name="Porquê 1 nome"/>
          <p:cNvSpPr txBox="1"/>
          <p:nvPr/>
        </p:nvSpPr>
        <p:spPr>
          <a:xfrm>
            <a:off x="1920240" y="2084832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Branco mineral e pedra líquen</a:t>
            </a:r>
            <a:endParaRPr lang="en-US" sz="1700" dirty="0"/>
          </a:p>
        </p:txBody>
      </p:sp>
      <p:sp>
        <p:nvSpPr>
          <p:cNvPr id="7" name="Porquê 1 texto"/>
          <p:cNvSpPr txBox="1"/>
          <p:nvPr/>
        </p:nvSpPr>
        <p:spPr>
          <a:xfrm>
            <a:off x="1920240" y="2423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base clara e calma, que dá espaço para a pessoa aparecer.</a:t>
            </a:r>
            <a:endParaRPr lang="en-US" sz="1300" dirty="0"/>
          </a:p>
        </p:txBody>
      </p:sp>
      <p:sp>
        <p:nvSpPr>
          <p:cNvPr id="8" name="Amostra 2.1"/>
          <p:cNvSpPr/>
          <p:nvPr/>
        </p:nvSpPr>
        <p:spPr>
          <a:xfrm>
            <a:off x="685800" y="3017520"/>
            <a:ext cx="640080" cy="640080"/>
          </a:xfrm>
          <a:prstGeom prst="ellipse">
            <a:avLst/>
          </a:prstGeom>
          <a:solidFill>
            <a:srgbClr val="1C211E"/>
          </a:solidFill>
          <a:ln w="9525">
            <a:solidFill>
              <a:srgbClr val="59625A"/>
            </a:solidFill>
            <a:prstDash val="solid"/>
          </a:ln>
        </p:spPr>
      </p:sp>
      <p:sp>
        <p:nvSpPr>
          <p:cNvPr id="9" name="Amostra 2.2"/>
          <p:cNvSpPr/>
          <p:nvPr/>
        </p:nvSpPr>
        <p:spPr>
          <a:xfrm>
            <a:off x="1069848" y="3017520"/>
            <a:ext cx="640080" cy="640080"/>
          </a:xfrm>
          <a:prstGeom prst="ellipse">
            <a:avLst/>
          </a:prstGeom>
          <a:solidFill>
            <a:srgbClr val="59625A"/>
          </a:solidFill>
          <a:ln w="9525">
            <a:solidFill>
              <a:srgbClr val="59625A"/>
            </a:solidFill>
            <a:prstDash val="solid"/>
          </a:ln>
        </p:spPr>
      </p:sp>
      <p:sp>
        <p:nvSpPr>
          <p:cNvPr id="10" name="Porquê 2 nome"/>
          <p:cNvSpPr txBox="1"/>
          <p:nvPr/>
        </p:nvSpPr>
        <p:spPr>
          <a:xfrm>
            <a:off x="1920240" y="2999232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Preto musgo e ardósia</a:t>
            </a:r>
            <a:endParaRPr lang="en-US" sz="1700" dirty="0"/>
          </a:p>
        </p:txBody>
      </p:sp>
      <p:sp>
        <p:nvSpPr>
          <p:cNvPr id="11" name="Porquê 2 texto"/>
          <p:cNvSpPr txBox="1"/>
          <p:nvPr/>
        </p:nvSpPr>
        <p:spPr>
          <a:xfrm>
            <a:off x="1920240" y="33375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Profundidade e elegância, nos textos e nas texturas.</a:t>
            </a:r>
            <a:endParaRPr lang="en-US" sz="1300" dirty="0"/>
          </a:p>
        </p:txBody>
      </p:sp>
      <p:sp>
        <p:nvSpPr>
          <p:cNvPr id="12" name="Amostra 3.1"/>
          <p:cNvSpPr/>
          <p:nvPr/>
        </p:nvSpPr>
        <p:spPr>
          <a:xfrm>
            <a:off x="685800" y="3931920"/>
            <a:ext cx="640080" cy="640080"/>
          </a:xfrm>
          <a:prstGeom prst="ellipse">
            <a:avLst/>
          </a:prstGeom>
          <a:solidFill>
            <a:srgbClr val="FF19B1"/>
          </a:solidFill>
          <a:ln w="9525">
            <a:solidFill>
              <a:srgbClr val="59625A"/>
            </a:solidFill>
            <a:prstDash val="solid"/>
          </a:ln>
        </p:spPr>
      </p:sp>
      <p:sp>
        <p:nvSpPr>
          <p:cNvPr id="13" name="Porquê 3 nome"/>
          <p:cNvSpPr txBox="1"/>
          <p:nvPr/>
        </p:nvSpPr>
        <p:spPr>
          <a:xfrm>
            <a:off x="1920240" y="3913632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Rosa choque</a:t>
            </a:r>
            <a:endParaRPr lang="en-US" sz="1700" dirty="0"/>
          </a:p>
        </p:txBody>
      </p:sp>
      <p:sp>
        <p:nvSpPr>
          <p:cNvPr id="14" name="Porquê 3 texto"/>
          <p:cNvSpPr txBox="1"/>
          <p:nvPr/>
        </p:nvSpPr>
        <p:spPr>
          <a:xfrm>
            <a:off x="1920240" y="42519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emoção: o coração que pulsa no símbolo.</a:t>
            </a:r>
            <a:endParaRPr lang="en-US" sz="1300" dirty="0"/>
          </a:p>
        </p:txBody>
      </p:sp>
      <p:sp>
        <p:nvSpPr>
          <p:cNvPr id="15" name="Amostra 4.1"/>
          <p:cNvSpPr/>
          <p:nvPr/>
        </p:nvSpPr>
        <p:spPr>
          <a:xfrm>
            <a:off x="685800" y="4846320"/>
            <a:ext cx="640080" cy="640080"/>
          </a:xfrm>
          <a:prstGeom prst="ellipse">
            <a:avLst/>
          </a:prstGeom>
          <a:solidFill>
            <a:srgbClr val="DBFF00"/>
          </a:solidFill>
          <a:ln w="9525">
            <a:solidFill>
              <a:srgbClr val="59625A"/>
            </a:solidFill>
            <a:prstDash val="solid"/>
          </a:ln>
        </p:spPr>
      </p:sp>
      <p:sp>
        <p:nvSpPr>
          <p:cNvPr id="16" name="Porquê 4 nome"/>
          <p:cNvSpPr txBox="1"/>
          <p:nvPr/>
        </p:nvSpPr>
        <p:spPr>
          <a:xfrm>
            <a:off x="1920240" y="4828032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Verde vibrante</a:t>
            </a:r>
            <a:endParaRPr lang="en-US" sz="1700" dirty="0"/>
          </a:p>
        </p:txBody>
      </p:sp>
      <p:sp>
        <p:nvSpPr>
          <p:cNvPr id="17" name="Porquê 4 texto"/>
          <p:cNvSpPr txBox="1"/>
          <p:nvPr/>
        </p:nvSpPr>
        <p:spPr>
          <a:xfrm>
            <a:off x="1920240" y="51663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energia do movimento e da constância.</a:t>
            </a:r>
            <a:endParaRPr lang="en-US" sz="1300" dirty="0"/>
          </a:p>
        </p:txBody>
      </p:sp>
      <p:sp>
        <p:nvSpPr>
          <p:cNvPr id="18" name="Círculo rosa"/>
          <p:cNvSpPr/>
          <p:nvPr/>
        </p:nvSpPr>
        <p:spPr>
          <a:xfrm>
            <a:off x="7863840" y="2377440"/>
            <a:ext cx="1371600" cy="13716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Mais"/>
          <p:cNvSpPr txBox="1"/>
          <p:nvPr/>
        </p:nvSpPr>
        <p:spPr>
          <a:xfrm>
            <a:off x="9281160" y="269748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chemeClr val="bg1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+</a:t>
            </a:r>
            <a:endParaRPr lang="en-US" sz="4000" dirty="0"/>
          </a:p>
        </p:txBody>
      </p:sp>
      <p:sp>
        <p:nvSpPr>
          <p:cNvPr id="20" name="Círculo verde"/>
          <p:cNvSpPr/>
          <p:nvPr/>
        </p:nvSpPr>
        <p:spPr>
          <a:xfrm>
            <a:off x="9875520" y="2377440"/>
            <a:ext cx="1371600" cy="13716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1" name="Soma"/>
          <p:cNvSpPr txBox="1"/>
          <p:nvPr/>
        </p:nvSpPr>
        <p:spPr>
          <a:xfrm>
            <a:off x="7863840" y="4069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A Meov é a soma dos dois.</a:t>
            </a:r>
            <a:endParaRPr lang="en-US" sz="2200" dirty="0"/>
          </a:p>
        </p:txBody>
      </p:sp>
      <p:sp>
        <p:nvSpPr>
          <p:cNvPr id="22" name="Soma texto"/>
          <p:cNvSpPr txBox="1"/>
          <p:nvPr/>
        </p:nvSpPr>
        <p:spPr>
          <a:xfrm>
            <a:off x="7863840" y="457200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Rosa e verde sempre em par, na mesma medida, sobre o branco e os tons de cinza.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35508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bg2"/>
                </a:solidFill>
                <a:latin typeface="Geist Mono"/>
                <a:ea typeface="Geist Mono"/>
                <a:cs typeface="Geist Mono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0" y="297180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spc="-80" kern="0" dirty="0">
                <a:solidFill>
                  <a:schemeClr val="tx1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"Tipografia"</a:t>
            </a:r>
            <a:endParaRPr lang="en-US" sz="4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C21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ótulo"/>
          <p:cNvSpPr txBox="1"/>
          <p:nvPr/>
        </p:nvSpPr>
        <p:spPr>
          <a:xfrm>
            <a:off x="0" y="141732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chemeClr val="accent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Textos</a:t>
            </a:r>
            <a:endParaRPr lang="en-US" sz="2600" dirty="0"/>
          </a:p>
        </p:txBody>
      </p:sp>
      <p:sp>
        <p:nvSpPr>
          <p:cNvPr id="3" name="Fontes"/>
          <p:cNvSpPr txBox="1"/>
          <p:nvPr/>
        </p:nvSpPr>
        <p:spPr>
          <a:xfrm>
            <a:off x="0" y="2011680"/>
            <a:ext cx="12191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chemeClr val="accent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Manrope</a:t>
            </a:r>
            <a:pPr algn="ctr" indent="0" marL="0">
              <a:buNone/>
            </a:pPr>
            <a:r>
              <a:rPr lang="en-US" sz="5200" dirty="0">
                <a:solidFill>
                  <a:schemeClr val="accent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 + </a:t>
            </a:r>
            <a:pPr algn="ctr" indent="0" marL="0">
              <a:buNone/>
            </a:pPr>
            <a:r>
              <a:rPr lang="en-US" sz="5200" dirty="0">
                <a:solidFill>
                  <a:schemeClr val="accent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Geist Mono</a:t>
            </a:r>
            <a:endParaRPr lang="en-US" sz="5200" dirty="0"/>
          </a:p>
        </p:txBody>
      </p:sp>
      <p:sp>
        <p:nvSpPr>
          <p:cNvPr id="4" name="Alfabeto"/>
          <p:cNvSpPr txBox="1"/>
          <p:nvPr/>
        </p:nvSpPr>
        <p:spPr>
          <a:xfrm>
            <a:off x="0" y="3108960"/>
            <a:ext cx="12191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chemeClr val="accent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ABCD abcd</a:t>
            </a:r>
            <a:endParaRPr lang="en-US" sz="6000" dirty="0"/>
          </a:p>
        </p:txBody>
      </p:sp>
      <p:sp>
        <p:nvSpPr>
          <p:cNvPr id="5" name="Números"/>
          <p:cNvSpPr txBox="1"/>
          <p:nvPr/>
        </p:nvSpPr>
        <p:spPr>
          <a:xfrm>
            <a:off x="0" y="4206240"/>
            <a:ext cx="12191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chemeClr val="accent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01234@#$%&amp;</a:t>
            </a:r>
            <a:endParaRPr lang="en-US" sz="5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6858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spc="150" kern="0" dirty="0">
                <a:solidFill>
                  <a:schemeClr val="accent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TIPOGRAFIA</a:t>
            </a:r>
            <a:endParaRPr lang="en-US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685800" y="1143000"/>
            <a:ext cx="10820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spc="-60" kern="0" dirty="0">
                <a:solidFill>
                  <a:schemeClr val="tx1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Duas famílias. </a:t>
            </a:r>
            <a:pPr algn="l" indent="0" marL="0">
              <a:buNone/>
            </a:pPr>
            <a:r>
              <a:rPr lang="en-US" sz="3400" spc="-60" kern="0" dirty="0">
                <a:solidFill>
                  <a:schemeClr val="tx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Uma voz.</a:t>
            </a:r>
            <a:endParaRPr lang="en-US" sz="3400" dirty="0"/>
          </a:p>
        </p:txBody>
      </p:sp>
      <p:sp>
        <p:nvSpPr>
          <p:cNvPr id="4" name="Cartão Manrope"/>
          <p:cNvSpPr/>
          <p:nvPr/>
        </p:nvSpPr>
        <p:spPr>
          <a:xfrm>
            <a:off x="685800" y="2011680"/>
            <a:ext cx="5272888" cy="402336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Rótulo Manrope"/>
          <p:cNvSpPr txBox="1"/>
          <p:nvPr/>
        </p:nvSpPr>
        <p:spPr>
          <a:xfrm>
            <a:off x="1097280" y="233172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50" kern="0" dirty="0">
                <a:solidFill>
                  <a:schemeClr val="tx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TÍTULOS E TEXTOS</a:t>
            </a:r>
            <a:endParaRPr lang="en-US" sz="1000" dirty="0"/>
          </a:p>
        </p:txBody>
      </p:sp>
      <p:sp>
        <p:nvSpPr>
          <p:cNvPr id="6" name="Aa Manrope"/>
          <p:cNvSpPr txBox="1"/>
          <p:nvPr/>
        </p:nvSpPr>
        <p:spPr>
          <a:xfrm>
            <a:off x="1097280" y="265176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dirty="0">
                <a:solidFill>
                  <a:schemeClr val="tx1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Aa</a:t>
            </a:r>
            <a:endParaRPr lang="en-US" sz="9600" dirty="0"/>
          </a:p>
        </p:txBody>
      </p:sp>
      <p:sp>
        <p:nvSpPr>
          <p:cNvPr id="7" name="Nome Manrope"/>
          <p:cNvSpPr txBox="1"/>
          <p:nvPr/>
        </p:nvSpPr>
        <p:spPr>
          <a:xfrm>
            <a:off x="1097280" y="40690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Manrope</a:t>
            </a:r>
            <a:endParaRPr lang="en-US" sz="3000" dirty="0"/>
          </a:p>
        </p:txBody>
      </p:sp>
      <p:sp>
        <p:nvSpPr>
          <p:cNvPr id="8" name="Porquê Manrope"/>
          <p:cNvSpPr txBox="1"/>
          <p:nvPr/>
        </p:nvSpPr>
        <p:spPr>
          <a:xfrm>
            <a:off x="1097280" y="4663440"/>
            <a:ext cx="4449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Acolhedora e moderna. Leve nos títulos, porque o destaque vem do espaço, não do negrito.</a:t>
            </a:r>
            <a:endParaRPr lang="en-US" sz="1300" dirty="0"/>
          </a:p>
        </p:txBody>
      </p:sp>
      <p:sp>
        <p:nvSpPr>
          <p:cNvPr id="9" name="Pesos Manrope"/>
          <p:cNvSpPr txBox="1"/>
          <p:nvPr/>
        </p:nvSpPr>
        <p:spPr>
          <a:xfrm>
            <a:off x="1097280" y="5623560"/>
            <a:ext cx="4449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chemeClr val="tx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LIGHT 300 · REGULAR 400 · MEDIUM 500 · SEMIBOLD 600</a:t>
            </a:r>
            <a:endParaRPr lang="en-US" sz="900" dirty="0"/>
          </a:p>
        </p:txBody>
      </p:sp>
      <p:sp>
        <p:nvSpPr>
          <p:cNvPr id="10" name="Cartão Geist"/>
          <p:cNvSpPr/>
          <p:nvPr/>
        </p:nvSpPr>
        <p:spPr>
          <a:xfrm>
            <a:off x="6233008" y="2011680"/>
            <a:ext cx="5272888" cy="4023360"/>
          </a:xfrm>
          <a:prstGeom prst="roundRect">
            <a:avLst>
              <a:gd name="adj" fmla="val 3636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1" name="Rótulo Geist"/>
          <p:cNvSpPr txBox="1"/>
          <p:nvPr/>
        </p:nvSpPr>
        <p:spPr>
          <a:xfrm>
            <a:off x="6644488" y="233172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50" kern="0" dirty="0">
                <a:solidFill>
                  <a:schemeClr val="accent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DADOS E RÓTULOS</a:t>
            </a:r>
            <a:endParaRPr lang="en-US" sz="1000" dirty="0"/>
          </a:p>
        </p:txBody>
      </p:sp>
      <p:sp>
        <p:nvSpPr>
          <p:cNvPr id="12" name="Aa Geist"/>
          <p:cNvSpPr txBox="1"/>
          <p:nvPr/>
        </p:nvSpPr>
        <p:spPr>
          <a:xfrm>
            <a:off x="6644488" y="265176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bg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Aa</a:t>
            </a:r>
            <a:endParaRPr lang="en-US" sz="8800" dirty="0"/>
          </a:p>
        </p:txBody>
      </p:sp>
      <p:sp>
        <p:nvSpPr>
          <p:cNvPr id="13" name="Nome Geist"/>
          <p:cNvSpPr txBox="1"/>
          <p:nvPr/>
        </p:nvSpPr>
        <p:spPr>
          <a:xfrm>
            <a:off x="6644488" y="40690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chemeClr val="bg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Geist Mono</a:t>
            </a:r>
            <a:endParaRPr lang="en-US" sz="2800" dirty="0"/>
          </a:p>
        </p:txBody>
      </p:sp>
      <p:sp>
        <p:nvSpPr>
          <p:cNvPr id="14" name="Porquê Geist"/>
          <p:cNvSpPr txBox="1"/>
          <p:nvPr/>
        </p:nvSpPr>
        <p:spPr>
          <a:xfrm>
            <a:off x="6644488" y="4663440"/>
            <a:ext cx="4449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Precisa e técnica. Só em números, valores, datas, @, sites e selos.</a:t>
            </a:r>
            <a:endParaRPr lang="en-US" sz="1300" dirty="0"/>
          </a:p>
        </p:txBody>
      </p:sp>
      <p:sp>
        <p:nvSpPr>
          <p:cNvPr id="15" name="Pesos Geist"/>
          <p:cNvSpPr txBox="1"/>
          <p:nvPr/>
        </p:nvSpPr>
        <p:spPr>
          <a:xfrm>
            <a:off x="6644488" y="5623560"/>
            <a:ext cx="4449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chemeClr val="bg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REGULAR 400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35508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tx2"/>
                </a:solidFill>
                <a:latin typeface="Geist Mono"/>
                <a:ea typeface="Geist Mono"/>
                <a:cs typeface="Geist Mono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0" y="297180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spc="-80" kern="0" dirty="0">
                <a:solidFill>
                  <a:schemeClr val="tx1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"Logotipo"</a:t>
            </a:r>
            <a:endParaRPr lang="en-US" sz="4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lha do logotipo" descr="Malha de construção do logotipo meov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0" y="297180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spc="-80" kern="0" dirty="0">
                <a:solidFill>
                  <a:schemeClr val="tx1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"Símbolo"</a:t>
            </a:r>
            <a:endParaRPr lang="en-US" sz="4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lha do símbolo" descr="Malha de construção do símbol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ceito do símbolo" descr="Símbolo sobre linha de batimento: m + v + ond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ótulo"/>
          <p:cNvSpPr txBox="1"/>
          <p:nvPr/>
        </p:nvSpPr>
        <p:spPr>
          <a:xfrm>
            <a:off x="685800" y="86868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50" kern="0" dirty="0">
                <a:solidFill>
                  <a:schemeClr val="accent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O PORQUÊ DO SÍMBOLO</a:t>
            </a:r>
            <a:endParaRPr lang="en-US" sz="1000" dirty="0"/>
          </a:p>
        </p:txBody>
      </p:sp>
      <p:sp>
        <p:nvSpPr>
          <p:cNvPr id="3" name="Título"/>
          <p:cNvSpPr txBox="1"/>
          <p:nvPr/>
        </p:nvSpPr>
        <p:spPr>
          <a:xfrm>
            <a:off x="685800" y="11887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spc="-100" kern="0" dirty="0">
                <a:solidFill>
                  <a:schemeClr val="tx1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Uma marca que pulsa.</a:t>
            </a:r>
            <a:endParaRPr lang="en-US" sz="4000" dirty="0"/>
          </a:p>
        </p:txBody>
      </p:sp>
      <p:sp>
        <p:nvSpPr>
          <p:cNvPr id="4" name="Texto"/>
          <p:cNvSpPr txBox="1"/>
          <p:nvPr/>
        </p:nvSpPr>
        <p:spPr>
          <a:xfrm>
            <a:off x="685800" y="2377440"/>
            <a:ext cx="5669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chemeClr val="tx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 símbolo une o m e o v de "meov" a uma linha de batimento cardíaco: experiências que fazem o coração pulsar.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chemeClr val="tx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chemeClr val="tx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Na Meov Marca Pessoal, a mesma linha é também a onda sonora da voz de cada cliente e o ritmo da presença constante nas redes.</a:t>
            </a:r>
            <a:endParaRPr lang="en-US" sz="1700" dirty="0"/>
          </a:p>
        </p:txBody>
      </p:sp>
      <p:sp>
        <p:nvSpPr>
          <p:cNvPr id="5" name="Assinatura"/>
          <p:cNvSpPr txBox="1"/>
          <p:nvPr/>
        </p:nvSpPr>
        <p:spPr>
          <a:xfrm>
            <a:off x="685800" y="51206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accent1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Sua voz, no ritmo certo.</a:t>
            </a:r>
            <a:endParaRPr lang="en-US" sz="2600" dirty="0"/>
          </a:p>
        </p:txBody>
      </p:sp>
      <p:pic>
        <p:nvPicPr>
          <p:cNvPr id="6" name="Símbol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0" y="2651760"/>
            <a:ext cx="3984292" cy="173736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0" y="297180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spc="-80" kern="0" dirty="0">
                <a:solidFill>
                  <a:schemeClr val="tx1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"Resultado"</a:t>
            </a:r>
            <a:endParaRPr lang="en-US" sz="4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tipo sobre textura" descr="Logotipo verde sobre a textura Meov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tipo com onda" descr="Logotipo branco sobre a onda ros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C21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tipo sobre musg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32808" y="3044303"/>
            <a:ext cx="2926080" cy="769393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5962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tipo sobre ardósia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32808" y="3044303"/>
            <a:ext cx="2926080" cy="769393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C21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tipo 10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31027" y="2717162"/>
            <a:ext cx="4023360" cy="1057916"/>
          </a:xfrm>
          <a:prstGeom prst="rect">
            <a:avLst/>
          </a:prstGeom>
        </p:spPr>
      </p:pic>
      <p:pic>
        <p:nvPicPr>
          <p:cNvPr id="3" name="Símbol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4547" y="2717162"/>
            <a:ext cx="2426121" cy="1057916"/>
          </a:xfrm>
          <a:prstGeom prst="rect">
            <a:avLst/>
          </a:prstGeom>
        </p:spPr>
      </p:pic>
      <p:sp>
        <p:nvSpPr>
          <p:cNvPr id="4" name="Régua logo"/>
          <p:cNvSpPr/>
          <p:nvPr/>
        </p:nvSpPr>
        <p:spPr>
          <a:xfrm>
            <a:off x="2231027" y="4095118"/>
            <a:ext cx="4023360" cy="0"/>
          </a:xfrm>
          <a:prstGeom prst="line">
            <a:avLst/>
          </a:prstGeom>
          <a:noFill/>
          <a:ln w="9525">
            <a:solidFill>
              <a:srgbClr val="59625A"/>
            </a:solidFill>
            <a:prstDash val="solid"/>
          </a:ln>
        </p:spPr>
      </p:sp>
      <p:sp>
        <p:nvSpPr>
          <p:cNvPr id="5" name="Régua símbolo"/>
          <p:cNvSpPr/>
          <p:nvPr/>
        </p:nvSpPr>
        <p:spPr>
          <a:xfrm>
            <a:off x="7534547" y="4095118"/>
            <a:ext cx="2426121" cy="0"/>
          </a:xfrm>
          <a:prstGeom prst="line">
            <a:avLst/>
          </a:prstGeom>
          <a:noFill/>
          <a:ln w="9525">
            <a:solidFill>
              <a:srgbClr val="59625A"/>
            </a:solidFill>
            <a:prstDash val="solid"/>
          </a:ln>
        </p:spPr>
      </p:sp>
      <p:sp>
        <p:nvSpPr>
          <p:cNvPr id="6" name="Medida logo"/>
          <p:cNvSpPr txBox="1"/>
          <p:nvPr/>
        </p:nvSpPr>
        <p:spPr>
          <a:xfrm>
            <a:off x="2231027" y="423227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100%</a:t>
            </a:r>
            <a:endParaRPr lang="en-US" sz="1000" dirty="0"/>
          </a:p>
        </p:txBody>
      </p:sp>
      <p:sp>
        <p:nvSpPr>
          <p:cNvPr id="7" name="Medida símbolo"/>
          <p:cNvSpPr txBox="1"/>
          <p:nvPr/>
        </p:nvSpPr>
        <p:spPr>
          <a:xfrm>
            <a:off x="7534547" y="4232278"/>
            <a:ext cx="242612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25%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0" y="297180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spc="-80" kern="0" dirty="0">
                <a:solidFill>
                  <a:schemeClr val="tx1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"Universo Visual"</a:t>
            </a:r>
            <a:endParaRPr lang="en-US" sz="4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plicação 22" descr="Perfil do Instagram @meov.m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plicação 23" descr="Stori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plicação 24" descr="Navegador com meov.com.b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plicação 25" descr="Site no noteboo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plicação 26" descr="Página do LinkedI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plicação 27" descr="Página do LinkedI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plicação 28" descr="Cartaz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plicação 29" descr="Fita com o patter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plicação 30" descr="Papelari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plicação 31" descr="Cartões de visit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plicação 32" descr="Proposta no table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plicação 33" descr="Slides de propost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6858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spc="150" kern="0" dirty="0">
                <a:solidFill>
                  <a:schemeClr val="accent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PROPOSTAS</a:t>
            </a:r>
            <a:endParaRPr lang="en-US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685800" y="1143000"/>
            <a:ext cx="10820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spc="-60" kern="0" dirty="0">
                <a:solidFill>
                  <a:schemeClr val="bg1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A identidade em uma proposta real.</a:t>
            </a:r>
            <a:endParaRPr lang="en-US" sz="3400" dirty="0"/>
          </a:p>
        </p:txBody>
      </p:sp>
      <p:pic>
        <p:nvPicPr>
          <p:cNvPr id="4" name="Proposta 1" descr="Slide da proposta Fernando Lohman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26208" y="2103120"/>
            <a:ext cx="3332480" cy="1874520"/>
          </a:xfrm>
          <a:prstGeom prst="rect">
            <a:avLst/>
          </a:prstGeom>
        </p:spPr>
      </p:pic>
      <p:pic>
        <p:nvPicPr>
          <p:cNvPr id="5" name="Proposta 2" descr="Slide da proposta Fernando Lohman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008" y="2103120"/>
            <a:ext cx="3332480" cy="1874520"/>
          </a:xfrm>
          <a:prstGeom prst="rect">
            <a:avLst/>
          </a:prstGeom>
        </p:spPr>
      </p:pic>
      <p:pic>
        <p:nvPicPr>
          <p:cNvPr id="6" name="Proposta 3" descr="Slide da proposta Fernando Lohman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6208" y="4206240"/>
            <a:ext cx="3332480" cy="1874520"/>
          </a:xfrm>
          <a:prstGeom prst="rect">
            <a:avLst/>
          </a:prstGeom>
        </p:spPr>
      </p:pic>
      <p:pic>
        <p:nvPicPr>
          <p:cNvPr id="7" name="Proposta 4" descr="Slide da proposta Fernando Lohman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3008" y="4206240"/>
            <a:ext cx="3332480" cy="18745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35508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bg2"/>
                </a:solidFill>
                <a:latin typeface="Geist Mono"/>
                <a:ea typeface="Geist Mono"/>
                <a:cs typeface="Geist Mono"/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plicação 34" descr="Ecobag verd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plicação 35" descr="Ecobag ros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plicação 36" descr="Mídia indo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plicação 37" descr="Moletom, costa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plicação 38" descr="Moletom, fren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plicação 39" descr="Gorro com símbol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plicação 40" descr="Gorro com patter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plicação 41" descr="Bon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plicação 42" descr="Óculo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plicação 43" descr="Garraf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plicação 44" descr="Camiseta verd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plicação 45" descr="Camisetas ardósi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plicação 46" descr="Camisetas verd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plicação 47" descr="Camisetas ros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D8DA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ímbol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40080"/>
            <a:ext cx="671039" cy="292608"/>
          </a:xfrm>
          <a:prstGeom prst="rect">
            <a:avLst/>
          </a:prstGeom>
        </p:spPr>
      </p:pic>
      <p:sp>
        <p:nvSpPr>
          <p:cNvPr id="3" name="Anel rosa"/>
          <p:cNvSpPr/>
          <p:nvPr/>
        </p:nvSpPr>
        <p:spPr>
          <a:xfrm>
            <a:off x="4952848" y="1051560"/>
            <a:ext cx="2286000" cy="2286000"/>
          </a:xfrm>
          <a:prstGeom prst="blockArc">
            <a:avLst>
              <a:gd name="adj1" fmla="val 5400000"/>
              <a:gd name="adj2" fmla="val 16200000"/>
              <a:gd name="adj3" fmla="val 35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Anel verde"/>
          <p:cNvSpPr/>
          <p:nvPr/>
        </p:nvSpPr>
        <p:spPr>
          <a:xfrm>
            <a:off x="4952848" y="1051560"/>
            <a:ext cx="2286000" cy="2286000"/>
          </a:xfrm>
          <a:prstGeom prst="blockArc">
            <a:avLst>
              <a:gd name="adj1" fmla="val 16200000"/>
              <a:gd name="adj2" fmla="val 5400000"/>
              <a:gd name="adj3" fmla="val 35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Foto Diogo e Rafael" descr="Diogo e Rafael, da Meov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0008" y="1188720"/>
            <a:ext cx="2011680" cy="2011680"/>
          </a:xfrm>
          <a:prstGeom prst="ellipse">
            <a:avLst/>
          </a:prstGeom>
        </p:spPr>
      </p:pic>
      <p:sp>
        <p:nvSpPr>
          <p:cNvPr id="6" name="Obrigado"/>
          <p:cNvSpPr txBox="1"/>
          <p:nvPr/>
        </p:nvSpPr>
        <p:spPr>
          <a:xfrm>
            <a:off x="0" y="365760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chemeClr val="tx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"Obrigado"</a:t>
            </a:r>
            <a:endParaRPr lang="en-US" sz="4000" dirty="0"/>
          </a:p>
        </p:txBody>
      </p:sp>
      <p:sp>
        <p:nvSpPr>
          <p:cNvPr id="7" name="Assinatura"/>
          <p:cNvSpPr txBox="1"/>
          <p:nvPr/>
        </p:nvSpPr>
        <p:spPr>
          <a:xfrm>
            <a:off x="0" y="448056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Diogo &amp; Rafael  |  Meov Marca Pessoal</a:t>
            </a:r>
            <a:endParaRPr lang="en-US" sz="1500" dirty="0"/>
          </a:p>
        </p:txBody>
      </p:sp>
      <p:sp>
        <p:nvSpPr>
          <p:cNvPr id="8" name="Contatos"/>
          <p:cNvSpPr txBox="1"/>
          <p:nvPr/>
        </p:nvSpPr>
        <p:spPr>
          <a:xfrm>
            <a:off x="685800" y="59436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meov.com.br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@meov.mp</a:t>
            </a:r>
            <a:endParaRPr lang="en-US" sz="1200" dirty="0"/>
          </a:p>
        </p:txBody>
      </p:sp>
      <p:sp>
        <p:nvSpPr>
          <p:cNvPr id="9" name="Ano"/>
          <p:cNvSpPr txBox="1"/>
          <p:nvPr/>
        </p:nvSpPr>
        <p:spPr>
          <a:xfrm>
            <a:off x="5181448" y="6172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2026</a:t>
            </a:r>
            <a:endParaRPr lang="en-US" sz="1200" dirty="0"/>
          </a:p>
        </p:txBody>
      </p:sp>
      <p:sp>
        <p:nvSpPr>
          <p:cNvPr id="10" name="Assinatura final"/>
          <p:cNvSpPr txBox="1"/>
          <p:nvPr/>
        </p:nvSpPr>
        <p:spPr>
          <a:xfrm>
            <a:off x="7848295" y="6172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Sua voz, no ritmo certo.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eov MP">
  <a:themeElements>
    <a:clrScheme name="Meov MP">
      <a:dk1>
        <a:srgbClr val="1C211E"/>
      </a:dk1>
      <a:lt1>
        <a:srgbClr val="FAF8F4"/>
      </a:lt1>
      <a:dk2>
        <a:srgbClr val="59625A"/>
      </a:dk2>
      <a:lt2>
        <a:srgbClr val="D8DACD"/>
      </a:lt2>
      <a:accent1>
        <a:srgbClr val="FF19B1"/>
      </a:accent1>
      <a:accent2>
        <a:srgbClr val="DBFF00"/>
      </a:accent2>
      <a:accent3>
        <a:srgbClr val="D8DACD"/>
      </a:accent3>
      <a:accent4>
        <a:srgbClr val="59625A"/>
      </a:accent4>
      <a:accent5>
        <a:srgbClr val="1C211E"/>
      </a:accent5>
      <a:accent6>
        <a:srgbClr val="FFFFFF"/>
      </a:accent6>
      <a:hlink>
        <a:srgbClr val="FF19B1"/>
      </a:hlink>
      <a:folHlink>
        <a:srgbClr val="59625A"/>
      </a:folHlink>
    </a:clrScheme>
    <a:fontScheme name="Meov MP">
      <a:majorFont>
        <a:latin typeface="Manrope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nrop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57</Slides>
  <Notes>57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</vt:vector>
  </TitlesOfParts>
  <Company>Meov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Meov · Identidade de marca 2026</dc:title>
  <dc:subject>PptxGenJS Presentation</dc:subject>
  <dc:creator>Diogo &amp;amp; Rafael | Meov Marca Pessoal</dc:creator>
  <cp:lastModifiedBy>Diogo &amp;amp; Rafael | Meov Marca Pessoal</cp:lastModifiedBy>
  <cp:revision>1</cp:revision>
  <dcterms:created xsi:type="dcterms:W3CDTF">2026-10-29T03:49:15Z</dcterms:created>
  <dcterms:modified xsi:type="dcterms:W3CDTF">2026-10-29T03:49:15Z</dcterms:modified>
</cp:coreProperties>
</file>