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1d9977a-c8a0-f061-a0c1-ea2341711c8a}">
          <p14:sldIdLst>
            <p14:sldId id="256"/>
            <p14:sldId id="257"/>
          </p14:sldIdLst>
        </p14:section>
        <p14:section name="Diagnóstico" id="{1f37e6cf-65d6-289a-33d8-c89546eb2a51}">
          <p14:sldIdLst>
            <p14:sldId id="258"/>
            <p14:sldId id="259"/>
            <p14:sldId id="260"/>
          </p14:sldIdLst>
        </p14:section>
        <p14:section name="A Meov" id="{f30950dc-bc45-56e8-5d6a-7b30ea23fac6}">
          <p14:sldIdLst>
            <p14:sldId id="261"/>
            <p14:sldId id="262"/>
            <p14:sldId id="263"/>
          </p14:sldIdLst>
        </p14:section>
        <p14:section name="Escopo" id="{c1b58cf8-d876-c740-3009-362acbb62e77}">
          <p14:sldIdLst>
            <p14:sldId id="264"/>
            <p14:sldId id="265"/>
            <p14:sldId id="266"/>
            <p14:sldId id="267"/>
          </p14:sldIdLst>
        </p14:section>
        <p14:section name="Investimento" id="{25458108-2388-e8ee-8db9-8fb3a50bb480}">
          <p14:sldIdLst>
            <p14:sldId id="268"/>
            <p14:sldId id="269"/>
          </p14:sldIdLst>
        </p14:section>
        <p14:section name="Combinados" id="{60141f47-c455-8f7b-0a01-810f5a62fc5d}">
          <p14:sldIdLst>
            <p14:sldId id="270"/>
          </p14:sldIdLst>
        </p14:section>
        <p14:section name="Encerramento" id="{0c5ec5ac-56ae-fc77-a62b-8f6f10fc0ba6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3895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PROPOSTA · FERNANDO LOHMANN · 2026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291072"/>
            <a:ext cx="868680" cy="17713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91440" cy="9144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d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3895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PROPOSTA · FERNANDO LOHMANN · 2026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291072"/>
            <a:ext cx="868680" cy="17713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91440" cy="9144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33895" y="347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PROPOSTA · FERNANDO LOHMANN · 2026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291072"/>
            <a:ext cx="868680" cy="17713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91440" cy="9144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Meov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1371600" cy="279688"/>
          </a:xfrm>
          <a:prstGeom prst="rect">
            <a:avLst/>
          </a:prstGeom>
        </p:spPr>
      </p:pic>
      <p:sp>
        <p:nvSpPr>
          <p:cNvPr id="3" name="Rótulo"/>
          <p:cNvSpPr txBox="1"/>
          <p:nvPr/>
        </p:nvSpPr>
        <p:spPr>
          <a:xfrm>
            <a:off x="685800" y="2331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PROPOSTA DE MARCA PESSOAL · OUTUBRO 2026</a:t>
            </a:r>
            <a:endParaRPr lang="en-US" sz="1000" dirty="0"/>
          </a:p>
        </p:txBody>
      </p:sp>
      <p:sp>
        <p:nvSpPr>
          <p:cNvPr id="4" name="Título"/>
          <p:cNvSpPr txBox="1"/>
          <p:nvPr/>
        </p:nvSpPr>
        <p:spPr>
          <a:xfrm>
            <a:off x="685800" y="26974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spc="-120" kern="0" dirty="0">
                <a:solidFill>
                  <a:schemeClr val="bg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 marca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spc="-12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Fernando Lohmann</a:t>
            </a:r>
            <a:endParaRPr lang="en-US" sz="5400" dirty="0"/>
          </a:p>
        </p:txBody>
      </p:sp>
      <p:sp>
        <p:nvSpPr>
          <p:cNvPr id="5" name="Subtítulo"/>
          <p:cNvSpPr txBox="1"/>
          <p:nvPr/>
        </p:nvSpPr>
        <p:spPr>
          <a:xfrm>
            <a:off x="685800" y="4754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Cinco décadas de trajetória, agora com a presença digital à altura.</a:t>
            </a:r>
            <a:endParaRPr lang="en-US" sz="1600" dirty="0"/>
          </a:p>
        </p:txBody>
      </p:sp>
      <p:sp>
        <p:nvSpPr>
          <p:cNvPr id="6" name="Moldura"/>
          <p:cNvSpPr/>
          <p:nvPr/>
        </p:nvSpPr>
        <p:spPr>
          <a:xfrm>
            <a:off x="7726680" y="1554480"/>
            <a:ext cx="3749040" cy="3749040"/>
          </a:xfrm>
          <a:prstGeom prst="blockArc">
            <a:avLst>
              <a:gd name="adj1" fmla="val 0"/>
              <a:gd name="adj2" fmla="val 21594000"/>
              <a:gd name="adj3" fmla="val 3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Foto Fernando" descr="Foto de Fernando Lohman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848" y="1755648"/>
            <a:ext cx="3346704" cy="3346704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O PONTO DE PARTIDA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Poucos sabem quem você é. Muita gente precisa saber.</a:t>
            </a:r>
            <a:endParaRPr lang="en-US" sz="3400" dirty="0"/>
          </a:p>
        </p:txBody>
      </p:sp>
      <p:sp>
        <p:nvSpPr>
          <p:cNvPr id="4" name="Texto contexto"/>
          <p:cNvSpPr txBox="1"/>
          <p:nvPr/>
        </p:nvSpPr>
        <p:spPr>
          <a:xfrm>
            <a:off x="685800" y="2057400"/>
            <a:ext cx="5577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São cinco décadas entre indústria, energia, infraestrutura, executive search, governança e diplomacia econômica entre Brasil e Singapura. Quem trabalha com você sabe o valor disso. Fora desse círculo, pouca gente sabe quem você é e o que você faz.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Enquanto isso, há acionistas, conselhos, CEOs em transição e herdeiros precisando exatamente da sua experiência, sem saber que você existe. A marca pessoal é a ponte entre eles e você.</a:t>
            </a:r>
            <a:endParaRPr lang="en-US" sz="1400" dirty="0"/>
          </a:p>
        </p:txBody>
      </p:sp>
      <p:sp>
        <p:nvSpPr>
          <p:cNvPr id="5" name="Quadro barras"/>
          <p:cNvSpPr/>
          <p:nvPr/>
        </p:nvSpPr>
        <p:spPr>
          <a:xfrm>
            <a:off x="6629400" y="2057400"/>
            <a:ext cx="4876495" cy="2331720"/>
          </a:xfrm>
          <a:prstGeom prst="roundRect">
            <a:avLst>
              <a:gd name="adj" fmla="val 62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Barra 1 rótulo"/>
          <p:cNvSpPr txBox="1"/>
          <p:nvPr/>
        </p:nvSpPr>
        <p:spPr>
          <a:xfrm>
            <a:off x="6949440" y="2286000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REPUTAÇÃO NO SEU MEIO</a:t>
            </a:r>
            <a:endParaRPr lang="en-US" sz="1000" dirty="0"/>
          </a:p>
        </p:txBody>
      </p:sp>
      <p:sp>
        <p:nvSpPr>
          <p:cNvPr id="7" name="Barra 1 trilho"/>
          <p:cNvSpPr/>
          <p:nvPr/>
        </p:nvSpPr>
        <p:spPr>
          <a:xfrm>
            <a:off x="6949440" y="2560320"/>
            <a:ext cx="4236415" cy="310896"/>
          </a:xfrm>
          <a:prstGeom prst="roundRect">
            <a:avLst>
              <a:gd name="adj" fmla="val 4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rra 1 valor"/>
          <p:cNvSpPr/>
          <p:nvPr/>
        </p:nvSpPr>
        <p:spPr>
          <a:xfrm>
            <a:off x="6949440" y="2560320"/>
            <a:ext cx="3897502" cy="310896"/>
          </a:xfrm>
          <a:prstGeom prst="roundRect">
            <a:avLst>
              <a:gd name="adj" fmla="val 4705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Barra 2 rótulo"/>
          <p:cNvSpPr txBox="1"/>
          <p:nvPr/>
        </p:nvSpPr>
        <p:spPr>
          <a:xfrm>
            <a:off x="6949440" y="3035808"/>
            <a:ext cx="4236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PRESENÇA NO DIGITAL HOJE</a:t>
            </a:r>
            <a:endParaRPr lang="en-US" sz="1000" dirty="0"/>
          </a:p>
        </p:txBody>
      </p:sp>
      <p:sp>
        <p:nvSpPr>
          <p:cNvPr id="10" name="Barra 2 trilho"/>
          <p:cNvSpPr/>
          <p:nvPr/>
        </p:nvSpPr>
        <p:spPr>
          <a:xfrm>
            <a:off x="6949440" y="3310128"/>
            <a:ext cx="4236415" cy="310896"/>
          </a:xfrm>
          <a:prstGeom prst="roundRect">
            <a:avLst>
              <a:gd name="adj" fmla="val 4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rra 2 valor"/>
          <p:cNvSpPr/>
          <p:nvPr/>
        </p:nvSpPr>
        <p:spPr>
          <a:xfrm>
            <a:off x="6949440" y="3310128"/>
            <a:ext cx="63546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aixa legado"/>
          <p:cNvSpPr/>
          <p:nvPr/>
        </p:nvSpPr>
        <p:spPr>
          <a:xfrm>
            <a:off x="6949440" y="3794760"/>
            <a:ext cx="4236415" cy="411480"/>
          </a:xfrm>
          <a:prstGeom prst="roundRect">
            <a:avLst>
              <a:gd name="adj" fmla="val 355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o legado"/>
          <p:cNvSpPr txBox="1"/>
          <p:nvPr/>
        </p:nvSpPr>
        <p:spPr>
          <a:xfrm>
            <a:off x="7132320" y="3794760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Deixe sua marca. Registre seu legado.</a:t>
            </a:r>
            <a:endParaRPr lang="en-US" sz="1400" dirty="0"/>
          </a:p>
        </p:txBody>
      </p:sp>
      <p:sp>
        <p:nvSpPr>
          <p:cNvPr id="14" name="Ganho 1 fundo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Ganho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4773168"/>
            <a:ext cx="237744" cy="237744"/>
          </a:xfrm>
          <a:prstGeom prst="rect">
            <a:avLst/>
          </a:prstGeom>
        </p:spPr>
      </p:pic>
      <p:sp>
        <p:nvSpPr>
          <p:cNvPr id="16" name="Ganho 1 nome"/>
          <p:cNvSpPr txBox="1"/>
          <p:nvPr/>
        </p:nvSpPr>
        <p:spPr>
          <a:xfrm>
            <a:off x="1280160" y="4727448"/>
            <a:ext cx="1927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Clareza e verdade</a:t>
            </a:r>
            <a:endParaRPr lang="en-US" sz="1600" dirty="0"/>
          </a:p>
        </p:txBody>
      </p:sp>
      <p:sp>
        <p:nvSpPr>
          <p:cNvPr id="17" name="Ganho 1 texto"/>
          <p:cNvSpPr txBox="1"/>
          <p:nvPr/>
        </p:nvSpPr>
        <p:spPr>
          <a:xfrm>
            <a:off x="1280160" y="507492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Saber o que dizer, para quem e por quê, sempre a partir da sua história real.</a:t>
            </a:r>
            <a:endParaRPr lang="en-US" sz="1200" dirty="0"/>
          </a:p>
        </p:txBody>
      </p:sp>
      <p:sp>
        <p:nvSpPr>
          <p:cNvPr id="18" name="Ganho 2 fundo"/>
          <p:cNvSpPr/>
          <p:nvPr/>
        </p:nvSpPr>
        <p:spPr>
          <a:xfrm>
            <a:off x="3436544" y="4663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Ganho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272" y="4773168"/>
            <a:ext cx="237744" cy="237744"/>
          </a:xfrm>
          <a:prstGeom prst="rect">
            <a:avLst/>
          </a:prstGeom>
        </p:spPr>
      </p:pic>
      <p:sp>
        <p:nvSpPr>
          <p:cNvPr id="20" name="Ganho 2 nome"/>
          <p:cNvSpPr txBox="1"/>
          <p:nvPr/>
        </p:nvSpPr>
        <p:spPr>
          <a:xfrm>
            <a:off x="4030904" y="4727448"/>
            <a:ext cx="1927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Constância</a:t>
            </a:r>
            <a:endParaRPr lang="en-US" sz="1600" dirty="0"/>
          </a:p>
        </p:txBody>
      </p:sp>
      <p:sp>
        <p:nvSpPr>
          <p:cNvPr id="21" name="Ganho 2 texto"/>
          <p:cNvSpPr txBox="1"/>
          <p:nvPr/>
        </p:nvSpPr>
        <p:spPr>
          <a:xfrm>
            <a:off x="4030904" y="507492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Presença toda semana, com produção organizada e sem depender da agenda livre.</a:t>
            </a:r>
            <a:endParaRPr lang="en-US" sz="1200" dirty="0"/>
          </a:p>
        </p:txBody>
      </p:sp>
      <p:sp>
        <p:nvSpPr>
          <p:cNvPr id="22" name="Ganho 3 fundo"/>
          <p:cNvSpPr/>
          <p:nvPr/>
        </p:nvSpPr>
        <p:spPr>
          <a:xfrm>
            <a:off x="6187288" y="4663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3" name="Ganho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016" y="4773168"/>
            <a:ext cx="237744" cy="237744"/>
          </a:xfrm>
          <a:prstGeom prst="rect">
            <a:avLst/>
          </a:prstGeom>
        </p:spPr>
      </p:pic>
      <p:sp>
        <p:nvSpPr>
          <p:cNvPr id="24" name="Ganho 3 nome"/>
          <p:cNvSpPr txBox="1"/>
          <p:nvPr/>
        </p:nvSpPr>
        <p:spPr>
          <a:xfrm>
            <a:off x="6781648" y="4727448"/>
            <a:ext cx="1927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25" name="Ganho 3 texto"/>
          <p:cNvSpPr txBox="1"/>
          <p:nvPr/>
        </p:nvSpPr>
        <p:spPr>
          <a:xfrm>
            <a:off x="6781648" y="507492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Aparecer sendo quem você é, com direção de câmera e um time ao lado.</a:t>
            </a:r>
            <a:endParaRPr lang="en-US" sz="1200" dirty="0"/>
          </a:p>
        </p:txBody>
      </p:sp>
      <p:sp>
        <p:nvSpPr>
          <p:cNvPr id="26" name="Ganho 4 fundo"/>
          <p:cNvSpPr/>
          <p:nvPr/>
        </p:nvSpPr>
        <p:spPr>
          <a:xfrm>
            <a:off x="8938031" y="4663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Ganho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759" y="4773168"/>
            <a:ext cx="237744" cy="237744"/>
          </a:xfrm>
          <a:prstGeom prst="rect">
            <a:avLst/>
          </a:prstGeom>
        </p:spPr>
      </p:pic>
      <p:sp>
        <p:nvSpPr>
          <p:cNvPr id="28" name="Ganho 4 nome"/>
          <p:cNvSpPr txBox="1"/>
          <p:nvPr/>
        </p:nvSpPr>
        <p:spPr>
          <a:xfrm>
            <a:off x="9532391" y="4727448"/>
            <a:ext cx="1927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Legado</a:t>
            </a:r>
            <a:endParaRPr lang="en-US" sz="1600" dirty="0"/>
          </a:p>
        </p:txBody>
      </p:sp>
      <p:sp>
        <p:nvSpPr>
          <p:cNvPr id="29" name="Ganho 4 texto"/>
          <p:cNvSpPr txBox="1"/>
          <p:nvPr/>
        </p:nvSpPr>
        <p:spPr>
          <a:xfrm>
            <a:off x="9532391" y="507492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trajetória organizada e acessível, falando por você e para quem vem depois.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DIAGNÓSTICO · INSTAGRAM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 perfil fechado, pronto para começar.</a:t>
            </a:r>
            <a:endParaRPr lang="en-US" sz="3400" dirty="0"/>
          </a:p>
        </p:txBody>
      </p:sp>
      <p:sp>
        <p:nvSpPr>
          <p:cNvPr id="4" name="Moldura print"/>
          <p:cNvSpPr/>
          <p:nvPr/>
        </p:nvSpPr>
        <p:spPr>
          <a:xfrm>
            <a:off x="685800" y="2103120"/>
            <a:ext cx="6583680" cy="2196611"/>
          </a:xfrm>
          <a:prstGeom prst="roundRect">
            <a:avLst>
              <a:gd name="adj" fmla="val 666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Print Instagram" descr="Print do Instagram @fal5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6309360" cy="1922291"/>
          </a:xfrm>
          <a:prstGeom prst="rect">
            <a:avLst/>
          </a:prstGeom>
        </p:spPr>
      </p:pic>
      <p:sp>
        <p:nvSpPr>
          <p:cNvPr id="6" name="Marca 1"/>
          <p:cNvSpPr/>
          <p:nvPr/>
        </p:nvSpPr>
        <p:spPr>
          <a:xfrm>
            <a:off x="940892" y="2417178"/>
            <a:ext cx="1426977" cy="1462356"/>
          </a:xfrm>
          <a:prstGeom prst="roundRect">
            <a:avLst>
              <a:gd name="adj" fmla="val 3845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7" name="Marca 1 selo"/>
          <p:cNvSpPr/>
          <p:nvPr/>
        </p:nvSpPr>
        <p:spPr>
          <a:xfrm>
            <a:off x="794588" y="227087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Marca 1 selo número"/>
          <p:cNvSpPr txBox="1"/>
          <p:nvPr/>
        </p:nvSpPr>
        <p:spPr>
          <a:xfrm>
            <a:off x="794588" y="22708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Marca 2"/>
          <p:cNvSpPr/>
          <p:nvPr/>
        </p:nvSpPr>
        <p:spPr>
          <a:xfrm>
            <a:off x="2562456" y="2417178"/>
            <a:ext cx="855007" cy="324313"/>
          </a:xfrm>
          <a:prstGeom prst="roundRect">
            <a:avLst>
              <a:gd name="adj" fmla="val 16917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10" name="Marca 2 selo"/>
          <p:cNvSpPr/>
          <p:nvPr/>
        </p:nvSpPr>
        <p:spPr>
          <a:xfrm>
            <a:off x="2416152" y="227087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Marca 2 selo número"/>
          <p:cNvSpPr txBox="1"/>
          <p:nvPr/>
        </p:nvSpPr>
        <p:spPr>
          <a:xfrm>
            <a:off x="2416152" y="22708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Marca 3"/>
          <p:cNvSpPr/>
          <p:nvPr/>
        </p:nvSpPr>
        <p:spPr>
          <a:xfrm>
            <a:off x="2562456" y="2770974"/>
            <a:ext cx="1385701" cy="176898"/>
          </a:xfrm>
          <a:prstGeom prst="roundRect">
            <a:avLst>
              <a:gd name="adj" fmla="val 31014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13" name="Marca 3 selo"/>
          <p:cNvSpPr/>
          <p:nvPr/>
        </p:nvSpPr>
        <p:spPr>
          <a:xfrm>
            <a:off x="2416152" y="26246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Marca 3 selo número"/>
          <p:cNvSpPr txBox="1"/>
          <p:nvPr/>
        </p:nvSpPr>
        <p:spPr>
          <a:xfrm>
            <a:off x="2416152" y="2624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Marca 4"/>
          <p:cNvSpPr/>
          <p:nvPr/>
        </p:nvSpPr>
        <p:spPr>
          <a:xfrm>
            <a:off x="2562456" y="3018631"/>
            <a:ext cx="2800884" cy="235864"/>
          </a:xfrm>
          <a:prstGeom prst="roundRect">
            <a:avLst>
              <a:gd name="adj" fmla="val 23261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16" name="Marca 4 selo"/>
          <p:cNvSpPr/>
          <p:nvPr/>
        </p:nvSpPr>
        <p:spPr>
          <a:xfrm>
            <a:off x="2416152" y="2872327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Marca 4 selo número"/>
          <p:cNvSpPr txBox="1"/>
          <p:nvPr/>
        </p:nvSpPr>
        <p:spPr>
          <a:xfrm>
            <a:off x="2416152" y="287232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Marca 5"/>
          <p:cNvSpPr/>
          <p:nvPr/>
        </p:nvSpPr>
        <p:spPr>
          <a:xfrm>
            <a:off x="2562456" y="3372427"/>
            <a:ext cx="619143" cy="212278"/>
          </a:xfrm>
          <a:prstGeom prst="roundRect">
            <a:avLst>
              <a:gd name="adj" fmla="val 25845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19" name="Marca 5 selo"/>
          <p:cNvSpPr/>
          <p:nvPr/>
        </p:nvSpPr>
        <p:spPr>
          <a:xfrm>
            <a:off x="2416152" y="3226123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Marca 5 selo número"/>
          <p:cNvSpPr txBox="1"/>
          <p:nvPr/>
        </p:nvSpPr>
        <p:spPr>
          <a:xfrm>
            <a:off x="2416152" y="32261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Dados hoje"/>
          <p:cNvSpPr txBox="1"/>
          <p:nvPr/>
        </p:nvSpPr>
        <p:spPr>
          <a:xfrm>
            <a:off x="685800" y="4436891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HOJE  ·  PERFIL PRIVADO  ·  9 POSTS  ·  204 SEGUIDORES  ·  2.040 SEGUINDO  ·  SEM BIO  ·  SEM LINK  ·  SEM DESTAQUES</a:t>
            </a:r>
            <a:endParaRPr lang="en-US" sz="900" dirty="0"/>
          </a:p>
        </p:txBody>
      </p:sp>
      <p:sp>
        <p:nvSpPr>
          <p:cNvPr id="22" name="Texto Instagram"/>
          <p:cNvSpPr txBox="1"/>
          <p:nvPr/>
        </p:nvSpPr>
        <p:spPr>
          <a:xfrm>
            <a:off x="685800" y="4937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perfil existe, mas está fechado e sem apresentação. Vamos abri-lo, transformá-lo em conta de criador e dar a partida com uma grade nova, pensada a partir do seu Brandbook.</a:t>
            </a:r>
            <a:endParaRPr lang="en-US" sz="1400" dirty="0"/>
          </a:p>
        </p:txBody>
      </p:sp>
      <p:sp>
        <p:nvSpPr>
          <p:cNvPr id="23" name="Legenda Instagram 1"/>
          <p:cNvSpPr/>
          <p:nvPr/>
        </p:nvSpPr>
        <p:spPr>
          <a:xfrm>
            <a:off x="7680960" y="210312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Legenda Instagram 1 número"/>
          <p:cNvSpPr txBox="1"/>
          <p:nvPr/>
        </p:nvSpPr>
        <p:spPr>
          <a:xfrm>
            <a:off x="7680960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Legenda Instagram 1 texto"/>
          <p:cNvSpPr txBox="1"/>
          <p:nvPr/>
        </p:nvSpPr>
        <p:spPr>
          <a:xfrm>
            <a:off x="8138160" y="2048256"/>
            <a:ext cx="33677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Foto do ensaio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retrato novo, com direção de imagem</a:t>
            </a:r>
            <a:endParaRPr lang="en-US" sz="1400" dirty="0"/>
          </a:p>
        </p:txBody>
      </p:sp>
      <p:sp>
        <p:nvSpPr>
          <p:cNvPr id="26" name="Legenda Instagram 2"/>
          <p:cNvSpPr/>
          <p:nvPr/>
        </p:nvSpPr>
        <p:spPr>
          <a:xfrm>
            <a:off x="7680960" y="285292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Legenda Instagram 2 número"/>
          <p:cNvSpPr txBox="1"/>
          <p:nvPr/>
        </p:nvSpPr>
        <p:spPr>
          <a:xfrm>
            <a:off x="768096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Legenda Instagram 2 texto"/>
          <p:cNvSpPr txBox="1"/>
          <p:nvPr/>
        </p:nvSpPr>
        <p:spPr>
          <a:xfrm>
            <a:off x="8138160" y="2798064"/>
            <a:ext cx="33677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 e conta de criador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aberto, categoria e botões de contato</a:t>
            </a:r>
            <a:endParaRPr lang="en-US" sz="1400" dirty="0"/>
          </a:p>
        </p:txBody>
      </p:sp>
      <p:sp>
        <p:nvSpPr>
          <p:cNvPr id="29" name="Legenda Instagram 3"/>
          <p:cNvSpPr/>
          <p:nvPr/>
        </p:nvSpPr>
        <p:spPr>
          <a:xfrm>
            <a:off x="7680960" y="3602736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Legenda Instagram 3 número"/>
          <p:cNvSpPr txBox="1"/>
          <p:nvPr/>
        </p:nvSpPr>
        <p:spPr>
          <a:xfrm>
            <a:off x="768096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Legenda Instagram 3 texto"/>
          <p:cNvSpPr txBox="1"/>
          <p:nvPr/>
        </p:nvSpPr>
        <p:spPr>
          <a:xfrm>
            <a:off x="8138160" y="3547872"/>
            <a:ext cx="33677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Nome que aparece na busca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nome + especialidade, para ser encontrado</a:t>
            </a:r>
            <a:endParaRPr lang="en-US" sz="1400" dirty="0"/>
          </a:p>
        </p:txBody>
      </p:sp>
      <p:sp>
        <p:nvSpPr>
          <p:cNvPr id="32" name="Legenda Instagram 4"/>
          <p:cNvSpPr/>
          <p:nvPr/>
        </p:nvSpPr>
        <p:spPr>
          <a:xfrm>
            <a:off x="7680960" y="4352544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Legenda Instagram 4 número"/>
          <p:cNvSpPr txBox="1"/>
          <p:nvPr/>
        </p:nvSpPr>
        <p:spPr>
          <a:xfrm>
            <a:off x="768096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Legenda Instagram 4 texto"/>
          <p:cNvSpPr txBox="1"/>
          <p:nvPr/>
        </p:nvSpPr>
        <p:spPr>
          <a:xfrm>
            <a:off x="8138160" y="4297680"/>
            <a:ext cx="33677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Proporção e grade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conteúdo novo e seguidores qualificados</a:t>
            </a:r>
            <a:endParaRPr lang="en-US" sz="1400" dirty="0"/>
          </a:p>
        </p:txBody>
      </p:sp>
      <p:sp>
        <p:nvSpPr>
          <p:cNvPr id="35" name="Legenda Instagram 5"/>
          <p:cNvSpPr/>
          <p:nvPr/>
        </p:nvSpPr>
        <p:spPr>
          <a:xfrm>
            <a:off x="7680960" y="5102352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Legenda Instagram 5 número"/>
          <p:cNvSpPr txBox="1"/>
          <p:nvPr/>
        </p:nvSpPr>
        <p:spPr>
          <a:xfrm>
            <a:off x="7680960" y="5102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Legenda Instagram 5 texto"/>
          <p:cNvSpPr txBox="1"/>
          <p:nvPr/>
        </p:nvSpPr>
        <p:spPr>
          <a:xfrm>
            <a:off x="8138160" y="5047488"/>
            <a:ext cx="336773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Bio, link e destaques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você é, o que faz e para onde ir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DIAGNÓSTICO · LINKEDIN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 perfil sólido, que ainda fala por outra marca.</a:t>
            </a:r>
            <a:endParaRPr lang="en-US" sz="3400" dirty="0"/>
          </a:p>
        </p:txBody>
      </p:sp>
      <p:sp>
        <p:nvSpPr>
          <p:cNvPr id="4" name="Moldura print"/>
          <p:cNvSpPr/>
          <p:nvPr/>
        </p:nvSpPr>
        <p:spPr>
          <a:xfrm>
            <a:off x="640080" y="1965960"/>
            <a:ext cx="6126480" cy="3774092"/>
          </a:xfrm>
          <a:prstGeom prst="roundRect">
            <a:avLst>
              <a:gd name="adj" fmla="val 3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Print LinkedIn" descr="Print do LinkedIn de Fernando Lohman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6035040" cy="3682652"/>
          </a:xfrm>
          <a:prstGeom prst="rect">
            <a:avLst/>
          </a:prstGeom>
        </p:spPr>
      </p:pic>
      <p:sp>
        <p:nvSpPr>
          <p:cNvPr id="6" name="Marca 1"/>
          <p:cNvSpPr/>
          <p:nvPr/>
        </p:nvSpPr>
        <p:spPr>
          <a:xfrm>
            <a:off x="2790173" y="2086836"/>
            <a:ext cx="3682652" cy="1202499"/>
          </a:xfrm>
          <a:prstGeom prst="roundRect">
            <a:avLst>
              <a:gd name="adj" fmla="val 456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C211E"/>
            </a:solidFill>
            <a:prstDash val="solid"/>
          </a:ln>
        </p:spPr>
      </p:sp>
      <p:sp>
        <p:nvSpPr>
          <p:cNvPr id="7" name="Marca 1 selo"/>
          <p:cNvSpPr/>
          <p:nvPr/>
        </p:nvSpPr>
        <p:spPr>
          <a:xfrm>
            <a:off x="2643869" y="1940532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Marca 1 selo número"/>
          <p:cNvSpPr txBox="1"/>
          <p:nvPr/>
        </p:nvSpPr>
        <p:spPr>
          <a:xfrm>
            <a:off x="2643869" y="1940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Marca 2"/>
          <p:cNvSpPr/>
          <p:nvPr/>
        </p:nvSpPr>
        <p:spPr>
          <a:xfrm>
            <a:off x="1380995" y="2556562"/>
            <a:ext cx="1303959" cy="1303959"/>
          </a:xfrm>
          <a:prstGeom prst="roundRect">
            <a:avLst>
              <a:gd name="adj" fmla="val 4207"/>
            </a:avLst>
          </a:prstGeom>
          <a:solidFill>
            <a:srgbClr val="FFFFFF">
              <a:alpha val="0"/>
            </a:srgbClr>
          </a:solidFill>
          <a:ln w="28575">
            <a:solidFill>
              <a:srgbClr val="1C211E"/>
            </a:solidFill>
            <a:prstDash val="solid"/>
          </a:ln>
        </p:spPr>
      </p:sp>
      <p:sp>
        <p:nvSpPr>
          <p:cNvPr id="10" name="Marca 2 selo"/>
          <p:cNvSpPr/>
          <p:nvPr/>
        </p:nvSpPr>
        <p:spPr>
          <a:xfrm>
            <a:off x="1234691" y="241025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Marca 2 selo número"/>
          <p:cNvSpPr txBox="1"/>
          <p:nvPr/>
        </p:nvSpPr>
        <p:spPr>
          <a:xfrm>
            <a:off x="1234691" y="24102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Marca 3"/>
          <p:cNvSpPr/>
          <p:nvPr/>
        </p:nvSpPr>
        <p:spPr>
          <a:xfrm>
            <a:off x="1332143" y="4867614"/>
            <a:ext cx="2435060" cy="187890"/>
          </a:xfrm>
          <a:prstGeom prst="roundRect">
            <a:avLst>
              <a:gd name="adj" fmla="val 29200"/>
            </a:avLst>
          </a:prstGeom>
          <a:solidFill>
            <a:srgbClr val="FFFFFF">
              <a:alpha val="0"/>
            </a:srgbClr>
          </a:solidFill>
          <a:ln w="28575">
            <a:solidFill>
              <a:srgbClr val="1C211E"/>
            </a:solidFill>
            <a:prstDash val="solid"/>
          </a:ln>
        </p:spPr>
      </p:sp>
      <p:sp>
        <p:nvSpPr>
          <p:cNvPr id="13" name="Marca 3 selo"/>
          <p:cNvSpPr/>
          <p:nvPr/>
        </p:nvSpPr>
        <p:spPr>
          <a:xfrm>
            <a:off x="1185839" y="472131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Marca 3 selo número"/>
          <p:cNvSpPr txBox="1"/>
          <p:nvPr/>
        </p:nvSpPr>
        <p:spPr>
          <a:xfrm>
            <a:off x="1185839" y="47213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Marca 4"/>
          <p:cNvSpPr/>
          <p:nvPr/>
        </p:nvSpPr>
        <p:spPr>
          <a:xfrm>
            <a:off x="1332143" y="5280973"/>
            <a:ext cx="1270139" cy="169101"/>
          </a:xfrm>
          <a:prstGeom prst="roundRect">
            <a:avLst>
              <a:gd name="adj" fmla="val 32445"/>
            </a:avLst>
          </a:prstGeom>
          <a:solidFill>
            <a:srgbClr val="FFFFFF">
              <a:alpha val="0"/>
            </a:srgbClr>
          </a:solidFill>
          <a:ln w="28575">
            <a:solidFill>
              <a:srgbClr val="1C211E"/>
            </a:solidFill>
            <a:prstDash val="solid"/>
          </a:ln>
        </p:spPr>
      </p:sp>
      <p:sp>
        <p:nvSpPr>
          <p:cNvPr id="16" name="Marca 4 selo"/>
          <p:cNvSpPr/>
          <p:nvPr/>
        </p:nvSpPr>
        <p:spPr>
          <a:xfrm>
            <a:off x="1185839" y="5134669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Marca 4 selo número"/>
          <p:cNvSpPr txBox="1"/>
          <p:nvPr/>
        </p:nvSpPr>
        <p:spPr>
          <a:xfrm>
            <a:off x="1185839" y="513466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Marca 5"/>
          <p:cNvSpPr/>
          <p:nvPr/>
        </p:nvSpPr>
        <p:spPr>
          <a:xfrm>
            <a:off x="4236929" y="4134842"/>
            <a:ext cx="2066795" cy="695195"/>
          </a:xfrm>
          <a:prstGeom prst="roundRect">
            <a:avLst>
              <a:gd name="adj" fmla="val 7892"/>
            </a:avLst>
          </a:prstGeom>
          <a:solidFill>
            <a:srgbClr val="FFFFFF">
              <a:alpha val="0"/>
            </a:srgbClr>
          </a:solidFill>
          <a:ln w="28575">
            <a:solidFill>
              <a:srgbClr val="1C211E"/>
            </a:solidFill>
            <a:prstDash val="solid"/>
          </a:ln>
        </p:spPr>
      </p:sp>
      <p:sp>
        <p:nvSpPr>
          <p:cNvPr id="19" name="Marca 5 selo"/>
          <p:cNvSpPr/>
          <p:nvPr/>
        </p:nvSpPr>
        <p:spPr>
          <a:xfrm>
            <a:off x="4090625" y="3988538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Marca 5 selo número"/>
          <p:cNvSpPr txBox="1"/>
          <p:nvPr/>
        </p:nvSpPr>
        <p:spPr>
          <a:xfrm>
            <a:off x="4090625" y="39885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Legenda LinkedIn 1"/>
          <p:cNvSpPr/>
          <p:nvPr/>
        </p:nvSpPr>
        <p:spPr>
          <a:xfrm>
            <a:off x="7086600" y="201168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Legenda LinkedIn 1 número"/>
          <p:cNvSpPr txBox="1"/>
          <p:nvPr/>
        </p:nvSpPr>
        <p:spPr>
          <a:xfrm>
            <a:off x="70866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Legenda LinkedIn 1 texto"/>
          <p:cNvSpPr txBox="1"/>
          <p:nvPr/>
        </p:nvSpPr>
        <p:spPr>
          <a:xfrm>
            <a:off x="7543800" y="1956816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Banner pessoal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hoje traz a frase da Weplace; passa a contar a sua história</a:t>
            </a:r>
            <a:endParaRPr lang="en-US" sz="1400" dirty="0"/>
          </a:p>
        </p:txBody>
      </p:sp>
      <p:sp>
        <p:nvSpPr>
          <p:cNvPr id="24" name="Legenda LinkedIn 2"/>
          <p:cNvSpPr/>
          <p:nvPr/>
        </p:nvSpPr>
        <p:spPr>
          <a:xfrm>
            <a:off x="7086600" y="274320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Legenda LinkedIn 2 número"/>
          <p:cNvSpPr txBox="1"/>
          <p:nvPr/>
        </p:nvSpPr>
        <p:spPr>
          <a:xfrm>
            <a:off x="708660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Legenda LinkedIn 2 texto"/>
          <p:cNvSpPr txBox="1"/>
          <p:nvPr/>
        </p:nvSpPr>
        <p:spPr>
          <a:xfrm>
            <a:off x="7543800" y="2688336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Foto do ensaio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mesmo retrato nos três canais</a:t>
            </a:r>
            <a:endParaRPr lang="en-US" sz="1400" dirty="0"/>
          </a:p>
        </p:txBody>
      </p:sp>
      <p:sp>
        <p:nvSpPr>
          <p:cNvPr id="27" name="Legenda LinkedIn 3"/>
          <p:cNvSpPr/>
          <p:nvPr/>
        </p:nvSpPr>
        <p:spPr>
          <a:xfrm>
            <a:off x="7086600" y="347472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Legenda LinkedIn 3 número"/>
          <p:cNvSpPr txBox="1"/>
          <p:nvPr/>
        </p:nvSpPr>
        <p:spPr>
          <a:xfrm>
            <a:off x="708660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Legenda LinkedIn 3 texto"/>
          <p:cNvSpPr txBox="1"/>
          <p:nvPr/>
        </p:nvSpPr>
        <p:spPr>
          <a:xfrm>
            <a:off x="7543800" y="3419856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Headline em português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cargo para o valor que você entrega</a:t>
            </a:r>
            <a:endParaRPr lang="en-US" sz="1400" dirty="0"/>
          </a:p>
        </p:txBody>
      </p:sp>
      <p:sp>
        <p:nvSpPr>
          <p:cNvPr id="30" name="Legenda LinkedIn 4"/>
          <p:cNvSpPr/>
          <p:nvPr/>
        </p:nvSpPr>
        <p:spPr>
          <a:xfrm>
            <a:off x="7086600" y="420624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Legenda LinkedIn 4 número"/>
          <p:cNvSpPr txBox="1"/>
          <p:nvPr/>
        </p:nvSpPr>
        <p:spPr>
          <a:xfrm>
            <a:off x="708660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Legenda LinkedIn 4 texto"/>
          <p:cNvSpPr txBox="1"/>
          <p:nvPr/>
        </p:nvSpPr>
        <p:spPr>
          <a:xfrm>
            <a:off x="7543800" y="4151376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Modo criador e seguidores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conexões para audiência, com conteúdo semanal</a:t>
            </a:r>
            <a:endParaRPr lang="en-US" sz="1400" dirty="0"/>
          </a:p>
        </p:txBody>
      </p:sp>
      <p:sp>
        <p:nvSpPr>
          <p:cNvPr id="33" name="Legenda LinkedIn 5"/>
          <p:cNvSpPr/>
          <p:nvPr/>
        </p:nvSpPr>
        <p:spPr>
          <a:xfrm>
            <a:off x="7086600" y="4937760"/>
            <a:ext cx="310896" cy="31089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Legenda LinkedIn 5 número"/>
          <p:cNvSpPr txBox="1"/>
          <p:nvPr/>
        </p:nvSpPr>
        <p:spPr>
          <a:xfrm>
            <a:off x="7086600" y="4937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Legenda LinkedIn 5 texto"/>
          <p:cNvSpPr txBox="1"/>
          <p:nvPr/>
        </p:nvSpPr>
        <p:spPr>
          <a:xfrm>
            <a:off x="7543800" y="4882896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Experiências e Em destaque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conquistas, empresas, Singapura e conselhos</a:t>
            </a:r>
            <a:endParaRPr lang="en-US" sz="1400" dirty="0"/>
          </a:p>
        </p:txBody>
      </p:sp>
      <p:sp>
        <p:nvSpPr>
          <p:cNvPr id="36" name="Texto LinkedIn"/>
          <p:cNvSpPr txBox="1"/>
          <p:nvPr/>
        </p:nvSpPr>
        <p:spPr>
          <a:xfrm>
            <a:off x="7086600" y="566928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 hoje o seu canal mais forte. A reformulação alinha o perfil ao Brandbook e prepara a chegada dos posts e vídeos.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· DIAGNÓSTICO · SITE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Do cartão de visitas à casa da sua marca.</a:t>
            </a:r>
            <a:endParaRPr lang="en-US" sz="3400" dirty="0"/>
          </a:p>
        </p:txBody>
      </p:sp>
      <p:pic>
        <p:nvPicPr>
          <p:cNvPr id="4" name="Print site" descr="Print do site prfal.com.b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5852160" cy="3040197"/>
          </a:xfrm>
          <a:prstGeom prst="rect">
            <a:avLst/>
          </a:prstGeom>
        </p:spPr>
      </p:pic>
      <p:sp>
        <p:nvSpPr>
          <p:cNvPr id="5" name="Marca 1"/>
          <p:cNvSpPr/>
          <p:nvPr/>
        </p:nvSpPr>
        <p:spPr>
          <a:xfrm>
            <a:off x="861365" y="2084832"/>
            <a:ext cx="591068" cy="155082"/>
          </a:xfrm>
          <a:prstGeom prst="roundRect">
            <a:avLst>
              <a:gd name="adj" fmla="val 35377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6" name="Marca 1 selo"/>
          <p:cNvSpPr/>
          <p:nvPr/>
        </p:nvSpPr>
        <p:spPr>
          <a:xfrm>
            <a:off x="715061" y="193852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Marca 1 selo número"/>
          <p:cNvSpPr txBox="1"/>
          <p:nvPr/>
        </p:nvSpPr>
        <p:spPr>
          <a:xfrm>
            <a:off x="715061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Marca 2"/>
          <p:cNvSpPr/>
          <p:nvPr/>
        </p:nvSpPr>
        <p:spPr>
          <a:xfrm>
            <a:off x="4270248" y="2084832"/>
            <a:ext cx="2150669" cy="155082"/>
          </a:xfrm>
          <a:prstGeom prst="roundRect">
            <a:avLst>
              <a:gd name="adj" fmla="val 35377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9" name="Marca 2 selo"/>
          <p:cNvSpPr/>
          <p:nvPr/>
        </p:nvSpPr>
        <p:spPr>
          <a:xfrm>
            <a:off x="4123944" y="193852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Marca 2 selo número"/>
          <p:cNvSpPr txBox="1"/>
          <p:nvPr/>
        </p:nvSpPr>
        <p:spPr>
          <a:xfrm>
            <a:off x="4123944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Marca 3"/>
          <p:cNvSpPr/>
          <p:nvPr/>
        </p:nvSpPr>
        <p:spPr>
          <a:xfrm>
            <a:off x="832104" y="2582266"/>
            <a:ext cx="3789274" cy="804672"/>
          </a:xfrm>
          <a:prstGeom prst="roundRect">
            <a:avLst>
              <a:gd name="adj" fmla="val 681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12" name="Marca 3 selo"/>
          <p:cNvSpPr/>
          <p:nvPr/>
        </p:nvSpPr>
        <p:spPr>
          <a:xfrm>
            <a:off x="685800" y="243596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Marca 3 selo número"/>
          <p:cNvSpPr txBox="1"/>
          <p:nvPr/>
        </p:nvSpPr>
        <p:spPr>
          <a:xfrm>
            <a:off x="685800" y="24359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Marca 4"/>
          <p:cNvSpPr/>
          <p:nvPr/>
        </p:nvSpPr>
        <p:spPr>
          <a:xfrm>
            <a:off x="832104" y="4059936"/>
            <a:ext cx="1258214" cy="190195"/>
          </a:xfrm>
          <a:prstGeom prst="roundRect">
            <a:avLst>
              <a:gd name="adj" fmla="val 2884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BFF00"/>
            </a:solidFill>
            <a:prstDash val="solid"/>
          </a:ln>
        </p:spPr>
      </p:sp>
      <p:sp>
        <p:nvSpPr>
          <p:cNvPr id="15" name="Marca 4 selo"/>
          <p:cNvSpPr/>
          <p:nvPr/>
        </p:nvSpPr>
        <p:spPr>
          <a:xfrm>
            <a:off x="685800" y="391363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Marca 4 selo número"/>
          <p:cNvSpPr txBox="1"/>
          <p:nvPr/>
        </p:nvSpPr>
        <p:spPr>
          <a:xfrm>
            <a:off x="68580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Dados site"/>
          <p:cNvSpPr txBox="1"/>
          <p:nvPr/>
        </p:nvSpPr>
        <p:spPr>
          <a:xfrm>
            <a:off x="685800" y="5216469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PRFAL.COM.BR  ·  HOJE: SEM DEPOIMENTOS · SEM LINKS PARA AS EMPRESAS</a:t>
            </a:r>
            <a:endParaRPr lang="en-US" sz="900" dirty="0"/>
          </a:p>
        </p:txBody>
      </p:sp>
      <p:sp>
        <p:nvSpPr>
          <p:cNvPr id="18" name="Texto site"/>
          <p:cNvSpPr txBox="1"/>
          <p:nvPr/>
        </p:nvSpPr>
        <p:spPr>
          <a:xfrm>
            <a:off x="685800" y="54864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base está pronta: trajetória, Capital Humano, Mentoria e Ventures. Vamos redesenhar tudo para que o site converse com o Instagram e o LinkedIn e leve cada visitante ao próximo passo.</a:t>
            </a:r>
            <a:endParaRPr lang="en-US" sz="1300" dirty="0"/>
          </a:p>
        </p:txBody>
      </p:sp>
      <p:sp>
        <p:nvSpPr>
          <p:cNvPr id="19" name="Quadro redefinição"/>
          <p:cNvSpPr/>
          <p:nvPr/>
        </p:nvSpPr>
        <p:spPr>
          <a:xfrm>
            <a:off x="6903720" y="2011680"/>
            <a:ext cx="4602175" cy="4160520"/>
          </a:xfrm>
          <a:prstGeom prst="roundRect">
            <a:avLst>
              <a:gd name="adj" fmla="val 35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ótulo redefinição"/>
          <p:cNvSpPr txBox="1"/>
          <p:nvPr/>
        </p:nvSpPr>
        <p:spPr>
          <a:xfrm>
            <a:off x="7223760" y="2240280"/>
            <a:ext cx="3962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 QUE REDEFINIMOS</a:t>
            </a:r>
            <a:endParaRPr lang="en-US" sz="1000" dirty="0"/>
          </a:p>
        </p:txBody>
      </p:sp>
      <p:sp>
        <p:nvSpPr>
          <p:cNvPr id="21" name="Ponto 1"/>
          <p:cNvSpPr/>
          <p:nvPr/>
        </p:nvSpPr>
        <p:spPr>
          <a:xfrm>
            <a:off x="7223760" y="2679192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Redefinição 1"/>
          <p:cNvSpPr txBox="1"/>
          <p:nvPr/>
        </p:nvSpPr>
        <p:spPr>
          <a:xfrm>
            <a:off x="7525512" y="2587752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Nova paleta e tipografia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alinhadas ao Brandbook e aos outros canais</a:t>
            </a:r>
            <a:endParaRPr lang="en-US" sz="1300" dirty="0"/>
          </a:p>
        </p:txBody>
      </p:sp>
      <p:sp>
        <p:nvSpPr>
          <p:cNvPr id="23" name="Ponto 2"/>
          <p:cNvSpPr/>
          <p:nvPr/>
        </p:nvSpPr>
        <p:spPr>
          <a:xfrm>
            <a:off x="7223760" y="317296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Redefinição 2"/>
          <p:cNvSpPr txBox="1"/>
          <p:nvPr/>
        </p:nvSpPr>
        <p:spPr>
          <a:xfrm>
            <a:off x="7525512" y="3081528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Mensagem principal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você faz e para quem, em uma frase</a:t>
            </a:r>
            <a:endParaRPr lang="en-US" sz="1300" dirty="0"/>
          </a:p>
        </p:txBody>
      </p:sp>
      <p:sp>
        <p:nvSpPr>
          <p:cNvPr id="25" name="Ponto 3"/>
          <p:cNvSpPr/>
          <p:nvPr/>
        </p:nvSpPr>
        <p:spPr>
          <a:xfrm>
            <a:off x="7223760" y="3666744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Redefinição 3"/>
          <p:cNvSpPr txBox="1"/>
          <p:nvPr/>
        </p:nvSpPr>
        <p:spPr>
          <a:xfrm>
            <a:off x="7525512" y="3575304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Links clicáveis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Capital Humano, Mentoria, Ventures e Trajetória</a:t>
            </a:r>
            <a:endParaRPr lang="en-US" sz="1300" dirty="0"/>
          </a:p>
        </p:txBody>
      </p:sp>
      <p:sp>
        <p:nvSpPr>
          <p:cNvPr id="27" name="Ponto 4"/>
          <p:cNvSpPr/>
          <p:nvPr/>
        </p:nvSpPr>
        <p:spPr>
          <a:xfrm>
            <a:off x="7223760" y="4160520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Redefinição 4"/>
          <p:cNvSpPr txBox="1"/>
          <p:nvPr/>
        </p:nvSpPr>
        <p:spPr>
          <a:xfrm>
            <a:off x="7525512" y="4069080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Suas empresas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Weplace, EnsureAtt, Board Intelligence e produtos</a:t>
            </a:r>
            <a:endParaRPr lang="en-US" sz="1300" dirty="0"/>
          </a:p>
        </p:txBody>
      </p:sp>
      <p:sp>
        <p:nvSpPr>
          <p:cNvPr id="29" name="Ponto 5"/>
          <p:cNvSpPr/>
          <p:nvPr/>
        </p:nvSpPr>
        <p:spPr>
          <a:xfrm>
            <a:off x="7223760" y="4654296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Redefinição 5"/>
          <p:cNvSpPr txBox="1"/>
          <p:nvPr/>
        </p:nvSpPr>
        <p:spPr>
          <a:xfrm>
            <a:off x="7525512" y="4562856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Lado pessoal, com estratégia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Singapura, bastidores e o que te move</a:t>
            </a:r>
            <a:endParaRPr lang="en-US" sz="1300" dirty="0"/>
          </a:p>
        </p:txBody>
      </p:sp>
      <p:sp>
        <p:nvSpPr>
          <p:cNvPr id="31" name="Ponto 6"/>
          <p:cNvSpPr/>
          <p:nvPr/>
        </p:nvSpPr>
        <p:spPr>
          <a:xfrm>
            <a:off x="7223760" y="5148072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Redefinição 6"/>
          <p:cNvSpPr txBox="1"/>
          <p:nvPr/>
        </p:nvSpPr>
        <p:spPr>
          <a:xfrm>
            <a:off x="7525512" y="5056632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Depoimentos e pessoas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clientes, conselhos e parceiros falando de você</a:t>
            </a:r>
            <a:endParaRPr lang="en-US" sz="1300" dirty="0"/>
          </a:p>
        </p:txBody>
      </p:sp>
      <p:sp>
        <p:nvSpPr>
          <p:cNvPr id="33" name="Ponto 7"/>
          <p:cNvSpPr/>
          <p:nvPr/>
        </p:nvSpPr>
        <p:spPr>
          <a:xfrm>
            <a:off x="7223760" y="5641848"/>
            <a:ext cx="146304" cy="14630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Redefinição 7"/>
          <p:cNvSpPr txBox="1"/>
          <p:nvPr/>
        </p:nvSpPr>
        <p:spPr>
          <a:xfrm>
            <a:off x="7525512" y="5550408"/>
            <a:ext cx="3687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Chamada para conversa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WhatsApp e links para todas as redes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· QUEM SOMOS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 time ao seu lado, da estratégia à câmera.</a:t>
            </a:r>
            <a:endParaRPr lang="en-US" sz="3400" dirty="0"/>
          </a:p>
        </p:txBody>
      </p:sp>
      <p:sp>
        <p:nvSpPr>
          <p:cNvPr id="4" name="Ponto rosa"/>
          <p:cNvSpPr/>
          <p:nvPr/>
        </p:nvSpPr>
        <p:spPr>
          <a:xfrm>
            <a:off x="685800" y="22402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 verde"/>
          <p:cNvSpPr/>
          <p:nvPr/>
        </p:nvSpPr>
        <p:spPr>
          <a:xfrm>
            <a:off x="941832" y="22402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Manifesto"/>
          <p:cNvSpPr txBox="1"/>
          <p:nvPr/>
        </p:nvSpPr>
        <p:spPr>
          <a:xfrm>
            <a:off x="685800" y="26517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Não somos uma agência de marketing. Somos um time que apoia técnica e emocionalmente quem decide colocar a própria voz no mundo.</a:t>
            </a:r>
            <a:endParaRPr lang="en-US" sz="2200" dirty="0"/>
          </a:p>
        </p:txBody>
      </p:sp>
      <p:sp>
        <p:nvSpPr>
          <p:cNvPr id="7" name="Manifesto apoio"/>
          <p:cNvSpPr txBox="1"/>
          <p:nvPr/>
        </p:nvSpPr>
        <p:spPr>
          <a:xfrm>
            <a:off x="685800" y="48920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Nosso trabalho começa antes do primeiro post, entendendo quem você é, e continua depois dele, com produção e gestão todos os meses.</a:t>
            </a:r>
            <a:endParaRPr lang="en-US" sz="1300" dirty="0"/>
          </a:p>
        </p:txBody>
      </p:sp>
      <p:sp>
        <p:nvSpPr>
          <p:cNvPr id="8" name="Frente 1 cartão"/>
          <p:cNvSpPr/>
          <p:nvPr/>
        </p:nvSpPr>
        <p:spPr>
          <a:xfrm>
            <a:off x="5349240" y="2057400"/>
            <a:ext cx="6156655" cy="12801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rente 1 fundo"/>
          <p:cNvSpPr/>
          <p:nvPr/>
        </p:nvSpPr>
        <p:spPr>
          <a:xfrm>
            <a:off x="5623560" y="2350008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Frente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7179" y="2503627"/>
            <a:ext cx="332842" cy="332842"/>
          </a:xfrm>
          <a:prstGeom prst="rect">
            <a:avLst/>
          </a:prstGeom>
        </p:spPr>
      </p:pic>
      <p:sp>
        <p:nvSpPr>
          <p:cNvPr id="11" name="Frente 1 nome"/>
          <p:cNvSpPr txBox="1"/>
          <p:nvPr/>
        </p:nvSpPr>
        <p:spPr>
          <a:xfrm>
            <a:off x="6492240" y="2240280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Estratégia</a:t>
            </a:r>
            <a:endParaRPr lang="en-US" sz="1700" dirty="0"/>
          </a:p>
        </p:txBody>
      </p:sp>
      <p:sp>
        <p:nvSpPr>
          <p:cNvPr id="12" name="Frente 1 texto"/>
          <p:cNvSpPr txBox="1"/>
          <p:nvPr/>
        </p:nvSpPr>
        <p:spPr>
          <a:xfrm>
            <a:off x="6492240" y="2560320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Método Meov organiza quem você é, para quem você fala e como se diferencia. Tudo vira um Brandbook que guia os próximos 6 meses.</a:t>
            </a:r>
            <a:endParaRPr lang="en-US" sz="1300" dirty="0"/>
          </a:p>
        </p:txBody>
      </p:sp>
      <p:sp>
        <p:nvSpPr>
          <p:cNvPr id="13" name="Frente 2 cartão"/>
          <p:cNvSpPr/>
          <p:nvPr/>
        </p:nvSpPr>
        <p:spPr>
          <a:xfrm>
            <a:off x="5349240" y="3401568"/>
            <a:ext cx="6156655" cy="12801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rente 2 fundo"/>
          <p:cNvSpPr/>
          <p:nvPr/>
        </p:nvSpPr>
        <p:spPr>
          <a:xfrm>
            <a:off x="5623560" y="3694176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Frente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179" y="3847795"/>
            <a:ext cx="332842" cy="332842"/>
          </a:xfrm>
          <a:prstGeom prst="rect">
            <a:avLst/>
          </a:prstGeom>
        </p:spPr>
      </p:pic>
      <p:sp>
        <p:nvSpPr>
          <p:cNvPr id="16" name="Frente 2 nome"/>
          <p:cNvSpPr txBox="1"/>
          <p:nvPr/>
        </p:nvSpPr>
        <p:spPr>
          <a:xfrm>
            <a:off x="6492240" y="3584448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Audiovisual</a:t>
            </a:r>
            <a:endParaRPr lang="en-US" sz="1700" dirty="0"/>
          </a:p>
        </p:txBody>
      </p:sp>
      <p:sp>
        <p:nvSpPr>
          <p:cNvPr id="17" name="Frente 2 texto"/>
          <p:cNvSpPr txBox="1"/>
          <p:nvPr/>
        </p:nvSpPr>
        <p:spPr>
          <a:xfrm>
            <a:off x="6492240" y="3904488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Direção de imagem, gravação e edição com o cuidado de quem nasceu no audiovisual. Você aparece bem, com naturalidade e do seu jeito.</a:t>
            </a:r>
            <a:endParaRPr lang="en-US" sz="1300" dirty="0"/>
          </a:p>
        </p:txBody>
      </p:sp>
      <p:sp>
        <p:nvSpPr>
          <p:cNvPr id="18" name="Frente 3 cartão"/>
          <p:cNvSpPr/>
          <p:nvPr/>
        </p:nvSpPr>
        <p:spPr>
          <a:xfrm>
            <a:off x="5349240" y="4745736"/>
            <a:ext cx="6156655" cy="128016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rente 3 fundo"/>
          <p:cNvSpPr/>
          <p:nvPr/>
        </p:nvSpPr>
        <p:spPr>
          <a:xfrm>
            <a:off x="5623560" y="5038344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Frente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179" y="5191963"/>
            <a:ext cx="332842" cy="332842"/>
          </a:xfrm>
          <a:prstGeom prst="rect">
            <a:avLst/>
          </a:prstGeom>
        </p:spPr>
      </p:pic>
      <p:sp>
        <p:nvSpPr>
          <p:cNvPr id="21" name="Frente 3 nome"/>
          <p:cNvSpPr txBox="1"/>
          <p:nvPr/>
        </p:nvSpPr>
        <p:spPr>
          <a:xfrm>
            <a:off x="6492240" y="4928616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 das redes</a:t>
            </a:r>
            <a:endParaRPr lang="en-US" sz="1700" dirty="0"/>
          </a:p>
        </p:txBody>
      </p:sp>
      <p:sp>
        <p:nvSpPr>
          <p:cNvPr id="22" name="Frente 3 texto"/>
          <p:cNvSpPr txBox="1"/>
          <p:nvPr/>
        </p:nvSpPr>
        <p:spPr>
          <a:xfrm>
            <a:off x="6492240" y="5248656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Instagram, LinkedIn e Site/LP com calendário, roteiros, legendas, design, publicação e relatórios. Você grava e aprova; a gente cuida do resto.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· O SEU TIME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Um time dedicado à sua marca.</a:t>
            </a:r>
            <a:endParaRPr lang="en-US" sz="3400" dirty="0"/>
          </a:p>
        </p:txBody>
      </p:sp>
      <p:sp>
        <p:nvSpPr>
          <p:cNvPr id="4" name="Intro time"/>
          <p:cNvSpPr txBox="1"/>
          <p:nvPr/>
        </p:nvSpPr>
        <p:spPr>
          <a:xfrm>
            <a:off x="685800" y="16916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fala com quem pensa a sua marca e grava com quem conhece a sua história. O resto acontece nos bastidores, no Estúdio Meov.</a:t>
            </a:r>
            <a:endParaRPr lang="en-US" sz="1400" dirty="0"/>
          </a:p>
        </p:txBody>
      </p:sp>
      <p:sp>
        <p:nvSpPr>
          <p:cNvPr id="5" name="Time 1 cartão"/>
          <p:cNvSpPr/>
          <p:nvPr/>
        </p:nvSpPr>
        <p:spPr>
          <a:xfrm>
            <a:off x="685800" y="2286000"/>
            <a:ext cx="3301898" cy="3840480"/>
          </a:xfrm>
          <a:prstGeom prst="roundRect">
            <a:avLst>
              <a:gd name="adj" fmla="val 44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ime 1 etapa"/>
          <p:cNvSpPr txBox="1"/>
          <p:nvPr/>
        </p:nvSpPr>
        <p:spPr>
          <a:xfrm>
            <a:off x="960120" y="2542032"/>
            <a:ext cx="2753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 · PENSA</a:t>
            </a:r>
            <a:endParaRPr lang="en-US" sz="1000" dirty="0"/>
          </a:p>
        </p:txBody>
      </p:sp>
      <p:sp>
        <p:nvSpPr>
          <p:cNvPr id="7" name="Time 1 nome"/>
          <p:cNvSpPr txBox="1"/>
          <p:nvPr/>
        </p:nvSpPr>
        <p:spPr>
          <a:xfrm>
            <a:off x="960120" y="283464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Estratégia e Direção</a:t>
            </a:r>
            <a:endParaRPr lang="en-US" sz="2100" dirty="0"/>
          </a:p>
        </p:txBody>
      </p:sp>
      <p:sp>
        <p:nvSpPr>
          <p:cNvPr id="8" name="Time 1 apoio"/>
          <p:cNvSpPr txBox="1"/>
          <p:nvPr/>
        </p:nvSpPr>
        <p:spPr>
          <a:xfrm>
            <a:off x="960120" y="321868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cabeça da sua marca</a:t>
            </a:r>
            <a:endParaRPr lang="en-US" sz="1200" dirty="0"/>
          </a:p>
        </p:txBody>
      </p:sp>
      <p:sp>
        <p:nvSpPr>
          <p:cNvPr id="9" name="Time 1 pessoa 1"/>
          <p:cNvSpPr/>
          <p:nvPr/>
        </p:nvSpPr>
        <p:spPr>
          <a:xfrm>
            <a:off x="960120" y="3611880"/>
            <a:ext cx="548640" cy="54864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0" name="Time 1 inicial 1"/>
          <p:cNvSpPr txBox="1"/>
          <p:nvPr/>
        </p:nvSpPr>
        <p:spPr>
          <a:xfrm>
            <a:off x="9601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Time 1 pessoa 2"/>
          <p:cNvSpPr/>
          <p:nvPr/>
        </p:nvSpPr>
        <p:spPr>
          <a:xfrm>
            <a:off x="1399032" y="3611880"/>
            <a:ext cx="548640" cy="548640"/>
          </a:xfrm>
          <a:prstGeom prst="ellipse">
            <a:avLst/>
          </a:prstGeom>
          <a:solidFill>
            <a:schemeClr val="tx1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2" name="Time 1 inicial 2"/>
          <p:cNvSpPr txBox="1"/>
          <p:nvPr/>
        </p:nvSpPr>
        <p:spPr>
          <a:xfrm>
            <a:off x="1399032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ime 1 pessoa 1 texto"/>
          <p:cNvSpPr txBox="1"/>
          <p:nvPr/>
        </p:nvSpPr>
        <p:spPr>
          <a:xfrm>
            <a:off x="960120" y="4343400"/>
            <a:ext cx="27989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Diogo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spc="10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ESTRATEGISTA DE CONTEÚDO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Conduz o Método Meov, o Brandbook e o plano de conteúdo dos 6 meses.</a:t>
            </a:r>
            <a:endParaRPr lang="en-US" sz="1400" dirty="0"/>
          </a:p>
        </p:txBody>
      </p:sp>
      <p:sp>
        <p:nvSpPr>
          <p:cNvPr id="14" name="Time 1 pessoa 2 texto"/>
          <p:cNvSpPr txBox="1"/>
          <p:nvPr/>
        </p:nvSpPr>
        <p:spPr>
          <a:xfrm>
            <a:off x="960120" y="5276088"/>
            <a:ext cx="27989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Rafael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spc="10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DIRETOR DE COMUNICAÇÃO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Cuida da mensagem, do tom de voz e da coerência entre os canais.</a:t>
            </a:r>
            <a:endParaRPr lang="en-US" sz="1400" dirty="0"/>
          </a:p>
        </p:txBody>
      </p:sp>
      <p:pic>
        <p:nvPicPr>
          <p:cNvPr id="15" name="Fluxo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0850" y="4050792"/>
            <a:ext cx="310896" cy="310896"/>
          </a:xfrm>
          <a:prstGeom prst="rect">
            <a:avLst/>
          </a:prstGeom>
        </p:spPr>
      </p:pic>
      <p:sp>
        <p:nvSpPr>
          <p:cNvPr id="16" name="Time 2 cartão"/>
          <p:cNvSpPr/>
          <p:nvPr/>
        </p:nvSpPr>
        <p:spPr>
          <a:xfrm>
            <a:off x="4444898" y="2286000"/>
            <a:ext cx="3301898" cy="3840480"/>
          </a:xfrm>
          <a:prstGeom prst="roundRect">
            <a:avLst>
              <a:gd name="adj" fmla="val 44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ime 2 etapa"/>
          <p:cNvSpPr txBox="1"/>
          <p:nvPr/>
        </p:nvSpPr>
        <p:spPr>
          <a:xfrm>
            <a:off x="4719218" y="2542032"/>
            <a:ext cx="2753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· GRAVA</a:t>
            </a:r>
            <a:endParaRPr lang="en-US" sz="1000" dirty="0"/>
          </a:p>
        </p:txBody>
      </p:sp>
      <p:sp>
        <p:nvSpPr>
          <p:cNvPr id="18" name="Time 2 nome"/>
          <p:cNvSpPr txBox="1"/>
          <p:nvPr/>
        </p:nvSpPr>
        <p:spPr>
          <a:xfrm>
            <a:off x="4719218" y="283464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Time de Gravação</a:t>
            </a:r>
            <a:endParaRPr lang="en-US" sz="2100" dirty="0"/>
          </a:p>
        </p:txBody>
      </p:sp>
      <p:sp>
        <p:nvSpPr>
          <p:cNvPr id="19" name="Time 2 apoio"/>
          <p:cNvSpPr txBox="1"/>
          <p:nvPr/>
        </p:nvSpPr>
        <p:spPr>
          <a:xfrm>
            <a:off x="4719218" y="321868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ao seu lado, no set</a:t>
            </a:r>
            <a:endParaRPr lang="en-US" sz="1200" dirty="0"/>
          </a:p>
        </p:txBody>
      </p:sp>
      <p:sp>
        <p:nvSpPr>
          <p:cNvPr id="20" name="Time 2 pessoa 1"/>
          <p:cNvSpPr/>
          <p:nvPr/>
        </p:nvSpPr>
        <p:spPr>
          <a:xfrm>
            <a:off x="4719218" y="3611880"/>
            <a:ext cx="548640" cy="54864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21" name="Time 2 inicial 1"/>
          <p:cNvSpPr txBox="1"/>
          <p:nvPr/>
        </p:nvSpPr>
        <p:spPr>
          <a:xfrm>
            <a:off x="4719218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ime 2 pessoa 2"/>
          <p:cNvSpPr/>
          <p:nvPr/>
        </p:nvSpPr>
        <p:spPr>
          <a:xfrm>
            <a:off x="5158130" y="3611880"/>
            <a:ext cx="548640" cy="548640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23" name="Time 2 inicial 2"/>
          <p:cNvSpPr txBox="1"/>
          <p:nvPr/>
        </p:nvSpPr>
        <p:spPr>
          <a:xfrm>
            <a:off x="515813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600" dirty="0"/>
          </a:p>
        </p:txBody>
      </p:sp>
      <p:sp>
        <p:nvSpPr>
          <p:cNvPr id="24" name="Time 2 pessoa 3"/>
          <p:cNvSpPr/>
          <p:nvPr/>
        </p:nvSpPr>
        <p:spPr>
          <a:xfrm>
            <a:off x="5597042" y="3611880"/>
            <a:ext cx="548640" cy="54864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25" name="Time 2 inicial 3"/>
          <p:cNvSpPr txBox="1"/>
          <p:nvPr/>
        </p:nvSpPr>
        <p:spPr>
          <a:xfrm>
            <a:off x="5597042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600" dirty="0"/>
          </a:p>
        </p:txBody>
      </p:sp>
      <p:sp>
        <p:nvSpPr>
          <p:cNvPr id="26" name="Time 2 pessoa 1 texto"/>
          <p:cNvSpPr txBox="1"/>
          <p:nvPr/>
        </p:nvSpPr>
        <p:spPr>
          <a:xfrm>
            <a:off x="4719218" y="4343400"/>
            <a:ext cx="27989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Diogo e Rafael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DIREÇÃO DE NARRATIVA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Entrevistam você, conduzem a conversa e lapidam cada resposta para funcionar nas redes.</a:t>
            </a:r>
            <a:endParaRPr lang="en-US" sz="1400" dirty="0"/>
          </a:p>
        </p:txBody>
      </p:sp>
      <p:sp>
        <p:nvSpPr>
          <p:cNvPr id="27" name="Time 2 pessoa 2 texto"/>
          <p:cNvSpPr txBox="1"/>
          <p:nvPr/>
        </p:nvSpPr>
        <p:spPr>
          <a:xfrm>
            <a:off x="4719218" y="5276088"/>
            <a:ext cx="279897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Italo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spc="10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FILMMAKER E DIRETOR DE ARTE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Luz, enquadramento, cenário e imagem com a cara da sua marca.</a:t>
            </a:r>
            <a:endParaRPr lang="en-US" sz="1400" dirty="0"/>
          </a:p>
        </p:txBody>
      </p:sp>
      <p:pic>
        <p:nvPicPr>
          <p:cNvPr id="28" name="Fluxo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949" y="4050792"/>
            <a:ext cx="310896" cy="310896"/>
          </a:xfrm>
          <a:prstGeom prst="rect">
            <a:avLst/>
          </a:prstGeom>
        </p:spPr>
      </p:pic>
      <p:sp>
        <p:nvSpPr>
          <p:cNvPr id="29" name="Time 3 cartão"/>
          <p:cNvSpPr/>
          <p:nvPr/>
        </p:nvSpPr>
        <p:spPr>
          <a:xfrm>
            <a:off x="8203997" y="2286000"/>
            <a:ext cx="3301898" cy="3840480"/>
          </a:xfrm>
          <a:prstGeom prst="roundRect">
            <a:avLst>
              <a:gd name="adj" fmla="val 44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0" name="Time 3 etapa"/>
          <p:cNvSpPr txBox="1"/>
          <p:nvPr/>
        </p:nvSpPr>
        <p:spPr>
          <a:xfrm>
            <a:off x="8478317" y="2542032"/>
            <a:ext cx="27532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· TRANSFORMA</a:t>
            </a:r>
            <a:endParaRPr lang="en-US" sz="1000" dirty="0"/>
          </a:p>
        </p:txBody>
      </p:sp>
      <p:sp>
        <p:nvSpPr>
          <p:cNvPr id="31" name="Time 3 nome"/>
          <p:cNvSpPr txBox="1"/>
          <p:nvPr/>
        </p:nvSpPr>
        <p:spPr>
          <a:xfrm>
            <a:off x="8478317" y="2834640"/>
            <a:ext cx="2753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Estúdio Meov</a:t>
            </a:r>
            <a:endParaRPr lang="en-US" sz="2100" dirty="0"/>
          </a:p>
        </p:txBody>
      </p:sp>
      <p:sp>
        <p:nvSpPr>
          <p:cNvPr id="32" name="Time 3 apoio"/>
          <p:cNvSpPr txBox="1"/>
          <p:nvPr/>
        </p:nvSpPr>
        <p:spPr>
          <a:xfrm>
            <a:off x="8478317" y="3218688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bastidores, todos os meses</a:t>
            </a:r>
            <a:endParaRPr lang="en-US" sz="1200" dirty="0"/>
          </a:p>
        </p:txBody>
      </p:sp>
      <p:sp>
        <p:nvSpPr>
          <p:cNvPr id="33" name="Estúdio 1 fundo"/>
          <p:cNvSpPr/>
          <p:nvPr/>
        </p:nvSpPr>
        <p:spPr>
          <a:xfrm>
            <a:off x="8478317" y="3611880"/>
            <a:ext cx="548640" cy="548640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bg1"/>
            </a:solidFill>
            <a:prstDash val="solid"/>
          </a:ln>
        </p:spPr>
      </p:sp>
      <p:pic>
        <p:nvPicPr>
          <p:cNvPr id="34" name="Estúdio 1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63" y="3754526"/>
            <a:ext cx="263347" cy="263347"/>
          </a:xfrm>
          <a:prstGeom prst="rect">
            <a:avLst/>
          </a:prstGeom>
        </p:spPr>
      </p:pic>
      <p:sp>
        <p:nvSpPr>
          <p:cNvPr id="35" name="Estúdio 1 texto"/>
          <p:cNvSpPr txBox="1"/>
          <p:nvPr/>
        </p:nvSpPr>
        <p:spPr>
          <a:xfrm>
            <a:off x="8478317" y="4389120"/>
            <a:ext cx="2798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Editor de vídeo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cortes, legendas e trilha dos reels</a:t>
            </a:r>
            <a:endParaRPr lang="en-US" sz="1300" dirty="0"/>
          </a:p>
        </p:txBody>
      </p:sp>
      <p:sp>
        <p:nvSpPr>
          <p:cNvPr id="36" name="Estúdio 2 fundo"/>
          <p:cNvSpPr/>
          <p:nvPr/>
        </p:nvSpPr>
        <p:spPr>
          <a:xfrm>
            <a:off x="8917229" y="3611880"/>
            <a:ext cx="548640" cy="548640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bg1"/>
            </a:solidFill>
            <a:prstDash val="solid"/>
          </a:ln>
        </p:spPr>
      </p:sp>
      <p:pic>
        <p:nvPicPr>
          <p:cNvPr id="37" name="Estúdio 2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875" y="3754526"/>
            <a:ext cx="263347" cy="263347"/>
          </a:xfrm>
          <a:prstGeom prst="rect">
            <a:avLst/>
          </a:prstGeom>
        </p:spPr>
      </p:pic>
      <p:sp>
        <p:nvSpPr>
          <p:cNvPr id="38" name="Estúdio 2 texto"/>
          <p:cNvSpPr txBox="1"/>
          <p:nvPr/>
        </p:nvSpPr>
        <p:spPr>
          <a:xfrm>
            <a:off x="8478317" y="4818888"/>
            <a:ext cx="2798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carrosséis, templates e identidade</a:t>
            </a:r>
            <a:endParaRPr lang="en-US" sz="1300" dirty="0"/>
          </a:p>
        </p:txBody>
      </p:sp>
      <p:sp>
        <p:nvSpPr>
          <p:cNvPr id="39" name="Estúdio 3 fundo"/>
          <p:cNvSpPr/>
          <p:nvPr/>
        </p:nvSpPr>
        <p:spPr>
          <a:xfrm>
            <a:off x="9356141" y="3611880"/>
            <a:ext cx="548640" cy="548640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bg1"/>
            </a:solidFill>
            <a:prstDash val="solid"/>
          </a:ln>
        </p:spPr>
      </p:sp>
      <p:pic>
        <p:nvPicPr>
          <p:cNvPr id="40" name="Estúdio 3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787" y="3754526"/>
            <a:ext cx="263347" cy="263347"/>
          </a:xfrm>
          <a:prstGeom prst="rect">
            <a:avLst/>
          </a:prstGeom>
        </p:spPr>
      </p:pic>
      <p:sp>
        <p:nvSpPr>
          <p:cNvPr id="41" name="Estúdio 3 texto"/>
          <p:cNvSpPr txBox="1"/>
          <p:nvPr/>
        </p:nvSpPr>
        <p:spPr>
          <a:xfrm>
            <a:off x="8478317" y="5248656"/>
            <a:ext cx="2798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Gestora de redes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calendário, publicação e relatórios</a:t>
            </a:r>
            <a:endParaRPr lang="en-US" sz="1300" dirty="0"/>
          </a:p>
        </p:txBody>
      </p:sp>
      <p:sp>
        <p:nvSpPr>
          <p:cNvPr id="42" name="Estúdio 4 fundo"/>
          <p:cNvSpPr/>
          <p:nvPr/>
        </p:nvSpPr>
        <p:spPr>
          <a:xfrm>
            <a:off x="9795053" y="3611880"/>
            <a:ext cx="548640" cy="548640"/>
          </a:xfrm>
          <a:prstGeom prst="ellipse">
            <a:avLst/>
          </a:prstGeom>
          <a:solidFill>
            <a:schemeClr val="bg2"/>
          </a:solidFill>
          <a:ln w="31750">
            <a:solidFill>
              <a:schemeClr val="bg1"/>
            </a:solidFill>
            <a:prstDash val="solid"/>
          </a:ln>
        </p:spPr>
      </p:sp>
      <p:pic>
        <p:nvPicPr>
          <p:cNvPr id="43" name="Estúdio 4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7699" y="3754526"/>
            <a:ext cx="263347" cy="263347"/>
          </a:xfrm>
          <a:prstGeom prst="rect">
            <a:avLst/>
          </a:prstGeom>
        </p:spPr>
      </p:pic>
      <p:sp>
        <p:nvSpPr>
          <p:cNvPr id="44" name="Estúdio 4 texto"/>
          <p:cNvSpPr txBox="1"/>
          <p:nvPr/>
        </p:nvSpPr>
        <p:spPr>
          <a:xfrm>
            <a:off x="8478317" y="5678424"/>
            <a:ext cx="27989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Copywriter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roteiros, legendas e posts de texto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· O MÉTODO E A JORNADA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Da raiz à marca consolidada.</a:t>
            </a:r>
            <a:endParaRPr lang="en-US" sz="3400" dirty="0"/>
          </a:p>
        </p:txBody>
      </p:sp>
      <p:sp>
        <p:nvSpPr>
          <p:cNvPr id="4" name="Linha movimentos"/>
          <p:cNvSpPr/>
          <p:nvPr/>
        </p:nvSpPr>
        <p:spPr>
          <a:xfrm>
            <a:off x="960120" y="2240280"/>
            <a:ext cx="9131046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</a:ln>
        </p:spPr>
      </p:sp>
      <p:sp>
        <p:nvSpPr>
          <p:cNvPr id="5" name="Movimento 1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Movimento 1 número"/>
          <p:cNvSpPr txBox="1"/>
          <p:nvPr/>
        </p:nvSpPr>
        <p:spPr>
          <a:xfrm>
            <a:off x="685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Movimento 1 nome"/>
          <p:cNvSpPr txBox="1"/>
          <p:nvPr/>
        </p:nvSpPr>
        <p:spPr>
          <a:xfrm>
            <a:off x="685800" y="2633472"/>
            <a:ext cx="1780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Raiz</a:t>
            </a:r>
            <a:endParaRPr lang="en-US" sz="1500" dirty="0"/>
          </a:p>
        </p:txBody>
      </p:sp>
      <p:sp>
        <p:nvSpPr>
          <p:cNvPr id="8" name="Movimento 1 texto"/>
          <p:cNvSpPr txBox="1"/>
          <p:nvPr/>
        </p:nvSpPr>
        <p:spPr>
          <a:xfrm>
            <a:off x="685800" y="3017520"/>
            <a:ext cx="16433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você é e o que te torna referência.</a:t>
            </a:r>
            <a:endParaRPr lang="en-US" sz="1200" dirty="0"/>
          </a:p>
        </p:txBody>
      </p:sp>
      <p:sp>
        <p:nvSpPr>
          <p:cNvPr id="9" name="Movimento 2"/>
          <p:cNvSpPr/>
          <p:nvPr/>
        </p:nvSpPr>
        <p:spPr>
          <a:xfrm>
            <a:off x="2512009" y="19659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Movimento 2 número"/>
          <p:cNvSpPr txBox="1"/>
          <p:nvPr/>
        </p:nvSpPr>
        <p:spPr>
          <a:xfrm>
            <a:off x="251200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Movimento 2 nome"/>
          <p:cNvSpPr txBox="1"/>
          <p:nvPr/>
        </p:nvSpPr>
        <p:spPr>
          <a:xfrm>
            <a:off x="2512009" y="2633472"/>
            <a:ext cx="1780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Território</a:t>
            </a:r>
            <a:endParaRPr lang="en-US" sz="1500" dirty="0"/>
          </a:p>
        </p:txBody>
      </p:sp>
      <p:sp>
        <p:nvSpPr>
          <p:cNvPr id="12" name="Movimento 2 texto"/>
          <p:cNvSpPr txBox="1"/>
          <p:nvPr/>
        </p:nvSpPr>
        <p:spPr>
          <a:xfrm>
            <a:off x="2512009" y="3017520"/>
            <a:ext cx="16433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quem você fala e que espaço só você ocupa.</a:t>
            </a:r>
            <a:endParaRPr lang="en-US" sz="1200" dirty="0"/>
          </a:p>
        </p:txBody>
      </p:sp>
      <p:sp>
        <p:nvSpPr>
          <p:cNvPr id="13" name="Movimento 3"/>
          <p:cNvSpPr/>
          <p:nvPr/>
        </p:nvSpPr>
        <p:spPr>
          <a:xfrm>
            <a:off x="4338218" y="19659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Movimento 3 número"/>
          <p:cNvSpPr txBox="1"/>
          <p:nvPr/>
        </p:nvSpPr>
        <p:spPr>
          <a:xfrm>
            <a:off x="433821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Movimento 3 nome"/>
          <p:cNvSpPr txBox="1"/>
          <p:nvPr/>
        </p:nvSpPr>
        <p:spPr>
          <a:xfrm>
            <a:off x="4338218" y="2633472"/>
            <a:ext cx="1780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Voz</a:t>
            </a:r>
            <a:endParaRPr lang="en-US" sz="1500" dirty="0"/>
          </a:p>
        </p:txBody>
      </p:sp>
      <p:sp>
        <p:nvSpPr>
          <p:cNvPr id="16" name="Movimento 3 texto"/>
          <p:cNvSpPr txBox="1"/>
          <p:nvPr/>
        </p:nvSpPr>
        <p:spPr>
          <a:xfrm>
            <a:off x="4338218" y="3017520"/>
            <a:ext cx="16433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Seu tom, sua imagem e sua oferta.</a:t>
            </a:r>
            <a:endParaRPr lang="en-US" sz="1200" dirty="0"/>
          </a:p>
        </p:txBody>
      </p:sp>
      <p:sp>
        <p:nvSpPr>
          <p:cNvPr id="17" name="Movimento 4"/>
          <p:cNvSpPr/>
          <p:nvPr/>
        </p:nvSpPr>
        <p:spPr>
          <a:xfrm>
            <a:off x="6164428" y="19659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Movimento 4 número"/>
          <p:cNvSpPr txBox="1"/>
          <p:nvPr/>
        </p:nvSpPr>
        <p:spPr>
          <a:xfrm>
            <a:off x="616442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Movimento 4 nome"/>
          <p:cNvSpPr txBox="1"/>
          <p:nvPr/>
        </p:nvSpPr>
        <p:spPr>
          <a:xfrm>
            <a:off x="6164428" y="2633472"/>
            <a:ext cx="1780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Movimento</a:t>
            </a:r>
            <a:endParaRPr lang="en-US" sz="1500" dirty="0"/>
          </a:p>
        </p:txBody>
      </p:sp>
      <p:sp>
        <p:nvSpPr>
          <p:cNvPr id="20" name="Movimento 4 texto"/>
          <p:cNvSpPr txBox="1"/>
          <p:nvPr/>
        </p:nvSpPr>
        <p:spPr>
          <a:xfrm>
            <a:off x="6164428" y="3017520"/>
            <a:ext cx="16433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Temas, canais e constância.</a:t>
            </a:r>
            <a:endParaRPr lang="en-US" sz="1200" dirty="0"/>
          </a:p>
        </p:txBody>
      </p:sp>
      <p:sp>
        <p:nvSpPr>
          <p:cNvPr id="21" name="Movimento 5"/>
          <p:cNvSpPr/>
          <p:nvPr/>
        </p:nvSpPr>
        <p:spPr>
          <a:xfrm>
            <a:off x="7990637" y="196596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Movimento 5 número"/>
          <p:cNvSpPr txBox="1"/>
          <p:nvPr/>
        </p:nvSpPr>
        <p:spPr>
          <a:xfrm>
            <a:off x="7990637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Movimento 5 nome"/>
          <p:cNvSpPr txBox="1"/>
          <p:nvPr/>
        </p:nvSpPr>
        <p:spPr>
          <a:xfrm>
            <a:off x="7990637" y="2633472"/>
            <a:ext cx="1780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Comunidade</a:t>
            </a:r>
            <a:endParaRPr lang="en-US" sz="1500" dirty="0"/>
          </a:p>
        </p:txBody>
      </p:sp>
      <p:sp>
        <p:nvSpPr>
          <p:cNvPr id="24" name="Movimento 5 texto"/>
          <p:cNvSpPr txBox="1"/>
          <p:nvPr/>
        </p:nvSpPr>
        <p:spPr>
          <a:xfrm>
            <a:off x="7990637" y="3017520"/>
            <a:ext cx="16433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Pessoas que acompanham, interagem e indicam.</a:t>
            </a:r>
            <a:endParaRPr lang="en-US" sz="1200" dirty="0"/>
          </a:p>
        </p:txBody>
      </p:sp>
      <p:sp>
        <p:nvSpPr>
          <p:cNvPr id="25" name="Movimento 6"/>
          <p:cNvSpPr/>
          <p:nvPr/>
        </p:nvSpPr>
        <p:spPr>
          <a:xfrm>
            <a:off x="9816846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Movimento 6 número"/>
          <p:cNvSpPr txBox="1"/>
          <p:nvPr/>
        </p:nvSpPr>
        <p:spPr>
          <a:xfrm>
            <a:off x="981684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Movimento 6 nome"/>
          <p:cNvSpPr txBox="1"/>
          <p:nvPr/>
        </p:nvSpPr>
        <p:spPr>
          <a:xfrm>
            <a:off x="9816846" y="2633472"/>
            <a:ext cx="1780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Marca consolidada</a:t>
            </a:r>
            <a:endParaRPr lang="en-US" sz="1500" dirty="0"/>
          </a:p>
        </p:txBody>
      </p:sp>
      <p:sp>
        <p:nvSpPr>
          <p:cNvPr id="28" name="Movimento 6 texto"/>
          <p:cNvSpPr txBox="1"/>
          <p:nvPr/>
        </p:nvSpPr>
        <p:spPr>
          <a:xfrm>
            <a:off x="9816846" y="3017520"/>
            <a:ext cx="16433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Referência reconhecida, que gera oportunidades e legado.</a:t>
            </a:r>
            <a:endParaRPr lang="en-US" sz="1200" dirty="0"/>
          </a:p>
        </p:txBody>
      </p:sp>
      <p:sp>
        <p:nvSpPr>
          <p:cNvPr id="29" name="Nota método"/>
          <p:cNvSpPr txBox="1"/>
          <p:nvPr/>
        </p:nvSpPr>
        <p:spPr>
          <a:xfrm>
            <a:off x="685800" y="3977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quatro primeiros movimentos viram o seu Brandbook. Os dois últimos são o que a constância constrói ao longo do ciclo.</a:t>
            </a:r>
            <a:endParaRPr lang="en-US" sz="1300" dirty="0"/>
          </a:p>
        </p:txBody>
      </p:sp>
      <p:sp>
        <p:nvSpPr>
          <p:cNvPr id="30" name="Fase 0 cartão"/>
          <p:cNvSpPr/>
          <p:nvPr/>
        </p:nvSpPr>
        <p:spPr>
          <a:xfrm>
            <a:off x="685800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Fase 0 rótulo"/>
          <p:cNvSpPr txBox="1"/>
          <p:nvPr/>
        </p:nvSpPr>
        <p:spPr>
          <a:xfrm>
            <a:off x="850392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INÍCIO</a:t>
            </a:r>
            <a:endParaRPr lang="en-US" sz="1000" dirty="0"/>
          </a:p>
        </p:txBody>
      </p:sp>
      <p:sp>
        <p:nvSpPr>
          <p:cNvPr id="32" name="Fase 0 nome"/>
          <p:cNvSpPr txBox="1"/>
          <p:nvPr/>
        </p:nvSpPr>
        <p:spPr>
          <a:xfrm>
            <a:off x="850392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Implantação</a:t>
            </a:r>
            <a:endParaRPr lang="en-US" sz="1500" dirty="0"/>
          </a:p>
        </p:txBody>
      </p:sp>
      <p:sp>
        <p:nvSpPr>
          <p:cNvPr id="33" name="Fase 0 texto"/>
          <p:cNvSpPr txBox="1"/>
          <p:nvPr/>
        </p:nvSpPr>
        <p:spPr>
          <a:xfrm>
            <a:off x="850392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método, ensaio e canais prontos</a:t>
            </a:r>
            <a:endParaRPr lang="en-US" sz="1200" dirty="0"/>
          </a:p>
        </p:txBody>
      </p:sp>
      <p:sp>
        <p:nvSpPr>
          <p:cNvPr id="34" name="Fase 1 cartão"/>
          <p:cNvSpPr/>
          <p:nvPr/>
        </p:nvSpPr>
        <p:spPr>
          <a:xfrm>
            <a:off x="2247203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Fase 1 rótulo"/>
          <p:cNvSpPr txBox="1"/>
          <p:nvPr/>
        </p:nvSpPr>
        <p:spPr>
          <a:xfrm>
            <a:off x="2411795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MÊS 1</a:t>
            </a:r>
            <a:endParaRPr lang="en-US" sz="1000" dirty="0"/>
          </a:p>
        </p:txBody>
      </p:sp>
      <p:sp>
        <p:nvSpPr>
          <p:cNvPr id="36" name="Fase 1 nome"/>
          <p:cNvSpPr txBox="1"/>
          <p:nvPr/>
        </p:nvSpPr>
        <p:spPr>
          <a:xfrm>
            <a:off x="2411795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Fundação</a:t>
            </a:r>
            <a:endParaRPr lang="en-US" sz="1500" dirty="0"/>
          </a:p>
        </p:txBody>
      </p:sp>
      <p:sp>
        <p:nvSpPr>
          <p:cNvPr id="37" name="Fase 1 texto"/>
          <p:cNvSpPr txBox="1"/>
          <p:nvPr/>
        </p:nvSpPr>
        <p:spPr>
          <a:xfrm>
            <a:off x="2411795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perfis abertos e primeiros conteúdos</a:t>
            </a:r>
            <a:endParaRPr lang="en-US" sz="1200" dirty="0"/>
          </a:p>
        </p:txBody>
      </p:sp>
      <p:sp>
        <p:nvSpPr>
          <p:cNvPr id="38" name="Fase 2 cartão"/>
          <p:cNvSpPr/>
          <p:nvPr/>
        </p:nvSpPr>
        <p:spPr>
          <a:xfrm>
            <a:off x="3808607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Fase 2 rótulo"/>
          <p:cNvSpPr txBox="1"/>
          <p:nvPr/>
        </p:nvSpPr>
        <p:spPr>
          <a:xfrm>
            <a:off x="3973199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MÊS 2</a:t>
            </a:r>
            <a:endParaRPr lang="en-US" sz="1000" dirty="0"/>
          </a:p>
        </p:txBody>
      </p:sp>
      <p:sp>
        <p:nvSpPr>
          <p:cNvPr id="40" name="Fase 2 nome"/>
          <p:cNvSpPr txBox="1"/>
          <p:nvPr/>
        </p:nvSpPr>
        <p:spPr>
          <a:xfrm>
            <a:off x="3973199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Ritmo</a:t>
            </a:r>
            <a:endParaRPr lang="en-US" sz="1500" dirty="0"/>
          </a:p>
        </p:txBody>
      </p:sp>
      <p:sp>
        <p:nvSpPr>
          <p:cNvPr id="41" name="Fase 2 texto"/>
          <p:cNvSpPr txBox="1"/>
          <p:nvPr/>
        </p:nvSpPr>
        <p:spPr>
          <a:xfrm>
            <a:off x="3973199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Vlogcast e séries fixas no ar</a:t>
            </a:r>
            <a:endParaRPr lang="en-US" sz="1200" dirty="0"/>
          </a:p>
        </p:txBody>
      </p:sp>
      <p:sp>
        <p:nvSpPr>
          <p:cNvPr id="42" name="Fase 3 cartão"/>
          <p:cNvSpPr/>
          <p:nvPr/>
        </p:nvSpPr>
        <p:spPr>
          <a:xfrm>
            <a:off x="5370010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3" name="Fase 3 rótulo"/>
          <p:cNvSpPr txBox="1"/>
          <p:nvPr/>
        </p:nvSpPr>
        <p:spPr>
          <a:xfrm>
            <a:off x="5534602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MÊS 3</a:t>
            </a:r>
            <a:endParaRPr lang="en-US" sz="1000" dirty="0"/>
          </a:p>
        </p:txBody>
      </p:sp>
      <p:sp>
        <p:nvSpPr>
          <p:cNvPr id="44" name="Fase 3 nome"/>
          <p:cNvSpPr txBox="1"/>
          <p:nvPr/>
        </p:nvSpPr>
        <p:spPr>
          <a:xfrm>
            <a:off x="5534602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Leitura</a:t>
            </a:r>
            <a:endParaRPr lang="en-US" sz="1500" dirty="0"/>
          </a:p>
        </p:txBody>
      </p:sp>
      <p:sp>
        <p:nvSpPr>
          <p:cNvPr id="45" name="Fase 3 texto"/>
          <p:cNvSpPr txBox="1"/>
          <p:nvPr/>
        </p:nvSpPr>
        <p:spPr>
          <a:xfrm>
            <a:off x="5534602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1ª revisão de rota</a:t>
            </a:r>
            <a:endParaRPr lang="en-US" sz="1200" dirty="0"/>
          </a:p>
        </p:txBody>
      </p:sp>
      <p:sp>
        <p:nvSpPr>
          <p:cNvPr id="46" name="Fase 4 cartão"/>
          <p:cNvSpPr/>
          <p:nvPr/>
        </p:nvSpPr>
        <p:spPr>
          <a:xfrm>
            <a:off x="6931413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7" name="Fase 4 rótulo"/>
          <p:cNvSpPr txBox="1"/>
          <p:nvPr/>
        </p:nvSpPr>
        <p:spPr>
          <a:xfrm>
            <a:off x="7096005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MÊS 4</a:t>
            </a:r>
            <a:endParaRPr lang="en-US" sz="1000" dirty="0"/>
          </a:p>
        </p:txBody>
      </p:sp>
      <p:sp>
        <p:nvSpPr>
          <p:cNvPr id="48" name="Fase 4 nome"/>
          <p:cNvSpPr txBox="1"/>
          <p:nvPr/>
        </p:nvSpPr>
        <p:spPr>
          <a:xfrm>
            <a:off x="7096005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Autoridade</a:t>
            </a:r>
            <a:endParaRPr lang="en-US" sz="1500" dirty="0"/>
          </a:p>
        </p:txBody>
      </p:sp>
      <p:sp>
        <p:nvSpPr>
          <p:cNvPr id="49" name="Fase 4 texto"/>
          <p:cNvSpPr txBox="1"/>
          <p:nvPr/>
        </p:nvSpPr>
        <p:spPr>
          <a:xfrm>
            <a:off x="7096005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casos, provas e opinião</a:t>
            </a:r>
            <a:endParaRPr lang="en-US" sz="1200" dirty="0"/>
          </a:p>
        </p:txBody>
      </p:sp>
      <p:sp>
        <p:nvSpPr>
          <p:cNvPr id="50" name="Fase 5 cartão"/>
          <p:cNvSpPr/>
          <p:nvPr/>
        </p:nvSpPr>
        <p:spPr>
          <a:xfrm>
            <a:off x="8492817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Fase 5 rótulo"/>
          <p:cNvSpPr txBox="1"/>
          <p:nvPr/>
        </p:nvSpPr>
        <p:spPr>
          <a:xfrm>
            <a:off x="8657409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MÊS 5</a:t>
            </a:r>
            <a:endParaRPr lang="en-US" sz="1000" dirty="0"/>
          </a:p>
        </p:txBody>
      </p:sp>
      <p:sp>
        <p:nvSpPr>
          <p:cNvPr id="52" name="Fase 5 nome"/>
          <p:cNvSpPr txBox="1"/>
          <p:nvPr/>
        </p:nvSpPr>
        <p:spPr>
          <a:xfrm>
            <a:off x="8657409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Comunidade</a:t>
            </a:r>
            <a:endParaRPr lang="en-US" sz="1500" dirty="0"/>
          </a:p>
        </p:txBody>
      </p:sp>
      <p:sp>
        <p:nvSpPr>
          <p:cNvPr id="53" name="Fase 5 texto"/>
          <p:cNvSpPr txBox="1"/>
          <p:nvPr/>
        </p:nvSpPr>
        <p:spPr>
          <a:xfrm>
            <a:off x="8657409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conversas, convites e indicações</a:t>
            </a:r>
            <a:endParaRPr lang="en-US" sz="1200" dirty="0"/>
          </a:p>
        </p:txBody>
      </p:sp>
      <p:sp>
        <p:nvSpPr>
          <p:cNvPr id="54" name="Fase 6 cartão"/>
          <p:cNvSpPr/>
          <p:nvPr/>
        </p:nvSpPr>
        <p:spPr>
          <a:xfrm>
            <a:off x="10054220" y="4434840"/>
            <a:ext cx="1451675" cy="1600200"/>
          </a:xfrm>
          <a:prstGeom prst="roundRect">
            <a:avLst>
              <a:gd name="adj" fmla="val 1007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5" name="Fase 6 rótulo"/>
          <p:cNvSpPr txBox="1"/>
          <p:nvPr/>
        </p:nvSpPr>
        <p:spPr>
          <a:xfrm>
            <a:off x="10218812" y="4617720"/>
            <a:ext cx="11773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MÊS 6</a:t>
            </a:r>
            <a:endParaRPr lang="en-US" sz="1000" dirty="0"/>
          </a:p>
        </p:txBody>
      </p:sp>
      <p:sp>
        <p:nvSpPr>
          <p:cNvPr id="56" name="Fase 6 nome"/>
          <p:cNvSpPr txBox="1"/>
          <p:nvPr/>
        </p:nvSpPr>
        <p:spPr>
          <a:xfrm>
            <a:off x="10218812" y="4937760"/>
            <a:ext cx="1177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Colheita</a:t>
            </a:r>
            <a:endParaRPr lang="en-US" sz="1500" dirty="0"/>
          </a:p>
        </p:txBody>
      </p:sp>
      <p:sp>
        <p:nvSpPr>
          <p:cNvPr id="57" name="Fase 6 texto"/>
          <p:cNvSpPr txBox="1"/>
          <p:nvPr/>
        </p:nvSpPr>
        <p:spPr>
          <a:xfrm>
            <a:off x="10218812" y="5303520"/>
            <a:ext cx="11773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 e novo ciclo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· PARTE 1 · IMPLANTAÇÃO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Primeiro, construímos a base.</a:t>
            </a:r>
            <a:endParaRPr lang="en-US" sz="3400" dirty="0"/>
          </a:p>
        </p:txBody>
      </p:sp>
      <p:sp>
        <p:nvSpPr>
          <p:cNvPr id="4" name="Intro implantação"/>
          <p:cNvSpPr txBox="1"/>
          <p:nvPr/>
        </p:nvSpPr>
        <p:spPr>
          <a:xfrm>
            <a:off x="685800" y="16916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Antes do primeiro conteúdo, organizamos sua marca e deixamos cada canal pronto para receber quem vai te encontrar.</a:t>
            </a:r>
            <a:endParaRPr lang="en-US" sz="1400" dirty="0"/>
          </a:p>
        </p:txBody>
      </p:sp>
      <p:sp>
        <p:nvSpPr>
          <p:cNvPr id="5" name="Entrega 1 cartão"/>
          <p:cNvSpPr/>
          <p:nvPr/>
        </p:nvSpPr>
        <p:spPr>
          <a:xfrm>
            <a:off x="685800" y="2148840"/>
            <a:ext cx="3454298" cy="19202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Entrega 1 fundo"/>
          <p:cNvSpPr/>
          <p:nvPr/>
        </p:nvSpPr>
        <p:spPr>
          <a:xfrm>
            <a:off x="941832" y="2377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7" name="Entrega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87168"/>
            <a:ext cx="237744" cy="237744"/>
          </a:xfrm>
          <a:prstGeom prst="rect">
            <a:avLst/>
          </a:prstGeom>
        </p:spPr>
      </p:pic>
      <p:sp>
        <p:nvSpPr>
          <p:cNvPr id="8" name="Entrega 1 nome"/>
          <p:cNvSpPr txBox="1"/>
          <p:nvPr/>
        </p:nvSpPr>
        <p:spPr>
          <a:xfrm>
            <a:off x="1527048" y="2423160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Método Meov</a:t>
            </a:r>
            <a:endParaRPr lang="en-US" sz="1600" dirty="0"/>
          </a:p>
        </p:txBody>
      </p:sp>
      <p:sp>
        <p:nvSpPr>
          <p:cNvPr id="9" name="Entrega 1 texto"/>
          <p:cNvSpPr txBox="1"/>
          <p:nvPr/>
        </p:nvSpPr>
        <p:spPr>
          <a:xfrm>
            <a:off x="941832" y="2926080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da sua presença e de como você é percebido, imersão presencial e o seu Brandbook, detalhado no próximo slide. Regras dos conselhos e empresas entram desde o início.</a:t>
            </a:r>
            <a:endParaRPr lang="en-US" sz="1200" dirty="0"/>
          </a:p>
        </p:txBody>
      </p:sp>
      <p:sp>
        <p:nvSpPr>
          <p:cNvPr id="10" name="Entrega 2 cartão"/>
          <p:cNvSpPr/>
          <p:nvPr/>
        </p:nvSpPr>
        <p:spPr>
          <a:xfrm>
            <a:off x="4368698" y="2148840"/>
            <a:ext cx="3454298" cy="19202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Entrega 2 fundo"/>
          <p:cNvSpPr/>
          <p:nvPr/>
        </p:nvSpPr>
        <p:spPr>
          <a:xfrm>
            <a:off x="4624730" y="2377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Entrega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458" y="2487168"/>
            <a:ext cx="237744" cy="237744"/>
          </a:xfrm>
          <a:prstGeom prst="rect">
            <a:avLst/>
          </a:prstGeom>
        </p:spPr>
      </p:pic>
      <p:sp>
        <p:nvSpPr>
          <p:cNvPr id="13" name="Entrega 2 nome"/>
          <p:cNvSpPr txBox="1"/>
          <p:nvPr/>
        </p:nvSpPr>
        <p:spPr>
          <a:xfrm>
            <a:off x="5209946" y="2423160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Ensaio de marca</a:t>
            </a:r>
            <a:endParaRPr lang="en-US" sz="1600" dirty="0"/>
          </a:p>
        </p:txBody>
      </p:sp>
      <p:sp>
        <p:nvSpPr>
          <p:cNvPr id="14" name="Entrega 2 texto"/>
          <p:cNvSpPr txBox="1"/>
          <p:nvPr/>
        </p:nvSpPr>
        <p:spPr>
          <a:xfrm>
            <a:off x="4624730" y="2926080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sessão de fotos com direção de imagem e 12 fotos tratadas, pensadas para perfil, banner, site e conteúdos.</a:t>
            </a:r>
            <a:endParaRPr lang="en-US" sz="1200" dirty="0"/>
          </a:p>
        </p:txBody>
      </p:sp>
      <p:sp>
        <p:nvSpPr>
          <p:cNvPr id="15" name="Entrega 3 cartão"/>
          <p:cNvSpPr/>
          <p:nvPr/>
        </p:nvSpPr>
        <p:spPr>
          <a:xfrm>
            <a:off x="8051597" y="2148840"/>
            <a:ext cx="3454298" cy="19202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ntrega 3 fundo"/>
          <p:cNvSpPr/>
          <p:nvPr/>
        </p:nvSpPr>
        <p:spPr>
          <a:xfrm>
            <a:off x="8307629" y="2377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Entrega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2487168"/>
            <a:ext cx="237744" cy="237744"/>
          </a:xfrm>
          <a:prstGeom prst="rect">
            <a:avLst/>
          </a:prstGeom>
        </p:spPr>
      </p:pic>
      <p:sp>
        <p:nvSpPr>
          <p:cNvPr id="18" name="Entrega 3 nome"/>
          <p:cNvSpPr txBox="1"/>
          <p:nvPr/>
        </p:nvSpPr>
        <p:spPr>
          <a:xfrm>
            <a:off x="8892845" y="2423160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9" name="Entrega 3 texto"/>
          <p:cNvSpPr txBox="1"/>
          <p:nvPr/>
        </p:nvSpPr>
        <p:spPr>
          <a:xfrm>
            <a:off x="8307629" y="2926080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aberto como conta de criador, bio, link, destaques, 3 posts fixados e templates próprios. Verificação em duas etapas e acesso pelo Meta Business Suite, sem troca de senha.</a:t>
            </a:r>
            <a:endParaRPr lang="en-US" sz="1200" dirty="0"/>
          </a:p>
        </p:txBody>
      </p:sp>
      <p:sp>
        <p:nvSpPr>
          <p:cNvPr id="20" name="Entrega 4 cartão"/>
          <p:cNvSpPr/>
          <p:nvPr/>
        </p:nvSpPr>
        <p:spPr>
          <a:xfrm>
            <a:off x="685800" y="4233672"/>
            <a:ext cx="3454298" cy="19202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Entrega 4 fundo"/>
          <p:cNvSpPr/>
          <p:nvPr/>
        </p:nvSpPr>
        <p:spPr>
          <a:xfrm>
            <a:off x="941832" y="4462272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2" name="Entrega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72000"/>
            <a:ext cx="237744" cy="237744"/>
          </a:xfrm>
          <a:prstGeom prst="rect">
            <a:avLst/>
          </a:prstGeom>
        </p:spPr>
      </p:pic>
      <p:sp>
        <p:nvSpPr>
          <p:cNvPr id="23" name="Entrega 4 nome"/>
          <p:cNvSpPr txBox="1"/>
          <p:nvPr/>
        </p:nvSpPr>
        <p:spPr>
          <a:xfrm>
            <a:off x="1527048" y="4507992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LinkedIn</a:t>
            </a:r>
            <a:endParaRPr lang="en-US" sz="1600" dirty="0"/>
          </a:p>
        </p:txBody>
      </p:sp>
      <p:sp>
        <p:nvSpPr>
          <p:cNvPr id="24" name="Entrega 4 texto"/>
          <p:cNvSpPr txBox="1"/>
          <p:nvPr/>
        </p:nvSpPr>
        <p:spPr>
          <a:xfrm>
            <a:off x="941832" y="501091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Headline em português, Sobre e experiências como conquistas, banner próprio, Em destaque, competências e modo criador.</a:t>
            </a:r>
            <a:endParaRPr lang="en-US" sz="1200" dirty="0"/>
          </a:p>
        </p:txBody>
      </p:sp>
      <p:sp>
        <p:nvSpPr>
          <p:cNvPr id="25" name="Entrega 5 cartão"/>
          <p:cNvSpPr/>
          <p:nvPr/>
        </p:nvSpPr>
        <p:spPr>
          <a:xfrm>
            <a:off x="4368698" y="4233672"/>
            <a:ext cx="3454298" cy="192024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Entrega 5 fundo"/>
          <p:cNvSpPr/>
          <p:nvPr/>
        </p:nvSpPr>
        <p:spPr>
          <a:xfrm>
            <a:off x="4624730" y="4462272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7" name="Entrega 5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458" y="4572000"/>
            <a:ext cx="237744" cy="237744"/>
          </a:xfrm>
          <a:prstGeom prst="rect">
            <a:avLst/>
          </a:prstGeom>
        </p:spPr>
      </p:pic>
      <p:sp>
        <p:nvSpPr>
          <p:cNvPr id="28" name="Entrega 5 nome"/>
          <p:cNvSpPr txBox="1"/>
          <p:nvPr/>
        </p:nvSpPr>
        <p:spPr>
          <a:xfrm>
            <a:off x="5209946" y="4507992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Site/LP</a:t>
            </a:r>
            <a:endParaRPr lang="en-US" sz="1600" dirty="0"/>
          </a:p>
        </p:txBody>
      </p:sp>
      <p:sp>
        <p:nvSpPr>
          <p:cNvPr id="29" name="Entrega 5 texto"/>
          <p:cNvSpPr txBox="1"/>
          <p:nvPr/>
        </p:nvSpPr>
        <p:spPr>
          <a:xfrm>
            <a:off x="4624730" y="501091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Redesenho completo: apresentação, história, como você ajuda, depoimentos, WhatsApp, redes e links para os sites das suas empresas e produtos.</a:t>
            </a:r>
            <a:endParaRPr lang="en-US" sz="1200" dirty="0"/>
          </a:p>
        </p:txBody>
      </p:sp>
      <p:sp>
        <p:nvSpPr>
          <p:cNvPr id="30" name="Entrega 6 cartão"/>
          <p:cNvSpPr/>
          <p:nvPr/>
        </p:nvSpPr>
        <p:spPr>
          <a:xfrm>
            <a:off x="8051597" y="4233672"/>
            <a:ext cx="3454298" cy="192024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Entrega 6 fundo"/>
          <p:cNvSpPr/>
          <p:nvPr/>
        </p:nvSpPr>
        <p:spPr>
          <a:xfrm>
            <a:off x="8307629" y="4462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2" name="Entrega 6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357" y="4572000"/>
            <a:ext cx="237744" cy="237744"/>
          </a:xfrm>
          <a:prstGeom prst="rect">
            <a:avLst/>
          </a:prstGeom>
        </p:spPr>
      </p:pic>
      <p:sp>
        <p:nvSpPr>
          <p:cNvPr id="33" name="Entrega 6 nome"/>
          <p:cNvSpPr txBox="1"/>
          <p:nvPr/>
        </p:nvSpPr>
        <p:spPr>
          <a:xfrm>
            <a:off x="8892845" y="4507992"/>
            <a:ext cx="2448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Também inclui</a:t>
            </a:r>
            <a:endParaRPr lang="en-US" sz="1600" dirty="0"/>
          </a:p>
        </p:txBody>
      </p:sp>
      <p:sp>
        <p:nvSpPr>
          <p:cNvPr id="34" name="Entrega 6 texto"/>
          <p:cNvSpPr txBox="1"/>
          <p:nvPr/>
        </p:nvSpPr>
        <p:spPr>
          <a:xfrm>
            <a:off x="8307629" y="501091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Fluxo de aprovação de conteúdos combinado entre você e a Meov, e autorização de uso de imagem, para trabalharmos com tranquilidade.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· O SEU BRANDBOOK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O mapa da sua marca, em um só documento.</a:t>
            </a:r>
            <a:endParaRPr lang="en-US" sz="3400" dirty="0"/>
          </a:p>
        </p:txBody>
      </p:sp>
      <p:sp>
        <p:nvSpPr>
          <p:cNvPr id="4" name="Intro Brandbook"/>
          <p:cNvSpPr txBox="1"/>
          <p:nvPr/>
        </p:nvSpPr>
        <p:spPr>
          <a:xfrm>
            <a:off x="685800" y="169164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 tudo o que descobrimos no diagnóstico e na imersão. É o guia de cada conteúdo, cada imagem e cada decisão dos próximos 6 meses, e continua seu depois do ciclo.</a:t>
            </a:r>
            <a:endParaRPr lang="en-US" sz="1400" dirty="0"/>
          </a:p>
        </p:txBody>
      </p:sp>
      <p:sp>
        <p:nvSpPr>
          <p:cNvPr id="5" name="Parte 1 cartão"/>
          <p:cNvSpPr/>
          <p:nvPr/>
        </p:nvSpPr>
        <p:spPr>
          <a:xfrm>
            <a:off x="685800" y="2377440"/>
            <a:ext cx="2567864" cy="3291840"/>
          </a:xfrm>
          <a:prstGeom prst="roundRect">
            <a:avLst>
              <a:gd name="adj" fmla="val 569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arte 1 rótulo"/>
          <p:cNvSpPr txBox="1"/>
          <p:nvPr/>
        </p:nvSpPr>
        <p:spPr>
          <a:xfrm>
            <a:off x="960120" y="2633472"/>
            <a:ext cx="201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PARTE 1</a:t>
            </a:r>
            <a:endParaRPr lang="en-US" sz="1000" dirty="0"/>
          </a:p>
        </p:txBody>
      </p:sp>
      <p:sp>
        <p:nvSpPr>
          <p:cNvPr id="7" name="Parte 1 nome"/>
          <p:cNvSpPr txBox="1"/>
          <p:nvPr/>
        </p:nvSpPr>
        <p:spPr>
          <a:xfrm>
            <a:off x="960120" y="2907792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Raiz</a:t>
            </a:r>
            <a:endParaRPr lang="en-US" sz="2400" dirty="0"/>
          </a:p>
        </p:txBody>
      </p:sp>
      <p:sp>
        <p:nvSpPr>
          <p:cNvPr id="8" name="Parte 1 itens"/>
          <p:cNvSpPr txBox="1"/>
          <p:nvPr/>
        </p:nvSpPr>
        <p:spPr>
          <a:xfrm>
            <a:off x="960120" y="352044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você é visto hoje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que aparecer: desejo e travas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Propósito e frase-norte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Valores inegociáveis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história, provas e o que mostrar ou guardar</a:t>
            </a:r>
            <a:endParaRPr lang="en-US" sz="1300" dirty="0"/>
          </a:p>
        </p:txBody>
      </p:sp>
      <p:sp>
        <p:nvSpPr>
          <p:cNvPr id="9" name="Parte 2 cartão"/>
          <p:cNvSpPr/>
          <p:nvPr/>
        </p:nvSpPr>
        <p:spPr>
          <a:xfrm>
            <a:off x="3436544" y="2377440"/>
            <a:ext cx="2567864" cy="3291840"/>
          </a:xfrm>
          <a:prstGeom prst="roundRect">
            <a:avLst>
              <a:gd name="adj" fmla="val 56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Parte 2 rótulo"/>
          <p:cNvSpPr txBox="1"/>
          <p:nvPr/>
        </p:nvSpPr>
        <p:spPr>
          <a:xfrm>
            <a:off x="3710864" y="2633472"/>
            <a:ext cx="201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PARTE 2</a:t>
            </a:r>
            <a:endParaRPr lang="en-US" sz="1000" dirty="0"/>
          </a:p>
        </p:txBody>
      </p:sp>
      <p:sp>
        <p:nvSpPr>
          <p:cNvPr id="11" name="Parte 2 nome"/>
          <p:cNvSpPr txBox="1"/>
          <p:nvPr/>
        </p:nvSpPr>
        <p:spPr>
          <a:xfrm>
            <a:off x="3710864" y="2907792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Território</a:t>
            </a:r>
            <a:endParaRPr lang="en-US" sz="2400" dirty="0"/>
          </a:p>
        </p:txBody>
      </p:sp>
      <p:sp>
        <p:nvSpPr>
          <p:cNvPr id="12" name="Parte 2 itens"/>
          <p:cNvSpPr txBox="1"/>
          <p:nvPr/>
        </p:nvSpPr>
        <p:spPr>
          <a:xfrm>
            <a:off x="3710864" y="352044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atrair e quem afastar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Dores, desejos e linguagem do seu público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Mantra de posicionamento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do mercado e espaço em branco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Frase de diferenciação</a:t>
            </a:r>
            <a:endParaRPr lang="en-US" sz="1300" dirty="0"/>
          </a:p>
        </p:txBody>
      </p:sp>
      <p:sp>
        <p:nvSpPr>
          <p:cNvPr id="13" name="Parte 3 cartão"/>
          <p:cNvSpPr/>
          <p:nvPr/>
        </p:nvSpPr>
        <p:spPr>
          <a:xfrm>
            <a:off x="6187288" y="2377440"/>
            <a:ext cx="2567864" cy="3291840"/>
          </a:xfrm>
          <a:prstGeom prst="roundRect">
            <a:avLst>
              <a:gd name="adj" fmla="val 56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Parte 3 rótulo"/>
          <p:cNvSpPr txBox="1"/>
          <p:nvPr/>
        </p:nvSpPr>
        <p:spPr>
          <a:xfrm>
            <a:off x="6461608" y="2633472"/>
            <a:ext cx="201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PARTE 3</a:t>
            </a:r>
            <a:endParaRPr lang="en-US" sz="1000" dirty="0"/>
          </a:p>
        </p:txBody>
      </p:sp>
      <p:sp>
        <p:nvSpPr>
          <p:cNvPr id="15" name="Parte 3 nome"/>
          <p:cNvSpPr txBox="1"/>
          <p:nvPr/>
        </p:nvSpPr>
        <p:spPr>
          <a:xfrm>
            <a:off x="6461608" y="2907792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Voz</a:t>
            </a:r>
            <a:endParaRPr lang="en-US" sz="2400" dirty="0"/>
          </a:p>
        </p:txBody>
      </p:sp>
      <p:sp>
        <p:nvSpPr>
          <p:cNvPr id="16" name="Parte 3 itens"/>
          <p:cNvSpPr txBox="1"/>
          <p:nvPr/>
        </p:nvSpPr>
        <p:spPr>
          <a:xfrm>
            <a:off x="6461608" y="352044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Credo e vocabulário próprio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Tom de voz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Cores, fontes e direção de foto e vídeo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Moodboard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Oferta e chamada principal</a:t>
            </a:r>
            <a:endParaRPr lang="en-US" sz="1300" dirty="0"/>
          </a:p>
        </p:txBody>
      </p:sp>
      <p:sp>
        <p:nvSpPr>
          <p:cNvPr id="17" name="Parte 4 cartão"/>
          <p:cNvSpPr/>
          <p:nvPr/>
        </p:nvSpPr>
        <p:spPr>
          <a:xfrm>
            <a:off x="8938031" y="2377440"/>
            <a:ext cx="2567864" cy="3291840"/>
          </a:xfrm>
          <a:prstGeom prst="roundRect">
            <a:avLst>
              <a:gd name="adj" fmla="val 569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Parte 4 rótulo"/>
          <p:cNvSpPr txBox="1"/>
          <p:nvPr/>
        </p:nvSpPr>
        <p:spPr>
          <a:xfrm>
            <a:off x="9212351" y="2633472"/>
            <a:ext cx="201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PARTE 4</a:t>
            </a:r>
            <a:endParaRPr lang="en-US" sz="1000" dirty="0"/>
          </a:p>
        </p:txBody>
      </p:sp>
      <p:sp>
        <p:nvSpPr>
          <p:cNvPr id="19" name="Parte 4 nome"/>
          <p:cNvSpPr txBox="1"/>
          <p:nvPr/>
        </p:nvSpPr>
        <p:spPr>
          <a:xfrm>
            <a:off x="9212351" y="2907792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Movimento</a:t>
            </a:r>
            <a:endParaRPr lang="en-US" sz="2400" dirty="0"/>
          </a:p>
        </p:txBody>
      </p:sp>
      <p:sp>
        <p:nvSpPr>
          <p:cNvPr id="20" name="Parte 4 itens"/>
          <p:cNvSpPr txBox="1"/>
          <p:nvPr/>
        </p:nvSpPr>
        <p:spPr>
          <a:xfrm>
            <a:off x="9212351" y="352044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territórios de conteúdo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Banco de pautas inicial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Linha do Vlogcast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Papel de cada canal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Plano de 6 meses, metas e revisões</a:t>
            </a:r>
            <a:endParaRPr lang="en-US" sz="1300" dirty="0"/>
          </a:p>
        </p:txBody>
      </p:sp>
      <p:sp>
        <p:nvSpPr>
          <p:cNvPr id="21" name="Nota Brandbook"/>
          <p:cNvSpPr txBox="1"/>
          <p:nvPr/>
        </p:nvSpPr>
        <p:spPr>
          <a:xfrm>
            <a:off x="685800" y="580644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Abre com "a marca em uma página": frase-norte, mantra, credo, tom de voz e chamada principal, para consulta rápida.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· PARTE 2 · ACOMPANHAMENTO MENSAL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Depois, presença constante todos os meses.</a:t>
            </a:r>
            <a:endParaRPr lang="en-US" sz="3400" dirty="0"/>
          </a:p>
        </p:txBody>
      </p:sp>
      <p:sp>
        <p:nvSpPr>
          <p:cNvPr id="4" name="Número 1 cartão"/>
          <p:cNvSpPr/>
          <p:nvPr/>
        </p:nvSpPr>
        <p:spPr>
          <a:xfrm>
            <a:off x="685800" y="1965960"/>
            <a:ext cx="2331720" cy="15544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1 valor"/>
          <p:cNvSpPr txBox="1"/>
          <p:nvPr/>
        </p:nvSpPr>
        <p:spPr>
          <a:xfrm>
            <a:off x="960120" y="2057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12</a:t>
            </a:r>
            <a:endParaRPr lang="en-US" sz="5400" dirty="0"/>
          </a:p>
        </p:txBody>
      </p:sp>
      <p:sp>
        <p:nvSpPr>
          <p:cNvPr id="6" name="Número 1 rótulo"/>
          <p:cNvSpPr txBox="1"/>
          <p:nvPr/>
        </p:nvSpPr>
        <p:spPr>
          <a:xfrm>
            <a:off x="960120" y="286207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reels editados, com cortes, legendas e trilha</a:t>
            </a:r>
            <a:endParaRPr lang="en-US" sz="1200" dirty="0"/>
          </a:p>
        </p:txBody>
      </p:sp>
      <p:sp>
        <p:nvSpPr>
          <p:cNvPr id="7" name="Número 2 cartão"/>
          <p:cNvSpPr/>
          <p:nvPr/>
        </p:nvSpPr>
        <p:spPr>
          <a:xfrm>
            <a:off x="3200400" y="1965960"/>
            <a:ext cx="2331720" cy="15544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 2 valor"/>
          <p:cNvSpPr txBox="1"/>
          <p:nvPr/>
        </p:nvSpPr>
        <p:spPr>
          <a:xfrm>
            <a:off x="3474720" y="20574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8</a:t>
            </a:r>
            <a:endParaRPr lang="en-US" sz="5400" dirty="0"/>
          </a:p>
        </p:txBody>
      </p:sp>
      <p:sp>
        <p:nvSpPr>
          <p:cNvPr id="9" name="Número 2 rótulo"/>
          <p:cNvSpPr txBox="1"/>
          <p:nvPr/>
        </p:nvSpPr>
        <p:spPr>
          <a:xfrm>
            <a:off x="3474720" y="286207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carrosséis com texto e design</a:t>
            </a:r>
            <a:endParaRPr lang="en-US" sz="1200" dirty="0"/>
          </a:p>
        </p:txBody>
      </p:sp>
      <p:sp>
        <p:nvSpPr>
          <p:cNvPr id="10" name="Número 3 cartão"/>
          <p:cNvSpPr/>
          <p:nvPr/>
        </p:nvSpPr>
        <p:spPr>
          <a:xfrm>
            <a:off x="685800" y="3685032"/>
            <a:ext cx="2331720" cy="15544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úmero 3 valor"/>
          <p:cNvSpPr txBox="1"/>
          <p:nvPr/>
        </p:nvSpPr>
        <p:spPr>
          <a:xfrm>
            <a:off x="960120" y="37764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4</a:t>
            </a:r>
            <a:endParaRPr lang="en-US" sz="5400" dirty="0"/>
          </a:p>
        </p:txBody>
      </p:sp>
      <p:sp>
        <p:nvSpPr>
          <p:cNvPr id="12" name="Número 3 rótulo"/>
          <p:cNvSpPr txBox="1"/>
          <p:nvPr/>
        </p:nvSpPr>
        <p:spPr>
          <a:xfrm>
            <a:off x="960120" y="45811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posts de texto no LinkedIn, a partir das gravações</a:t>
            </a:r>
            <a:endParaRPr lang="en-US" sz="1200" dirty="0"/>
          </a:p>
        </p:txBody>
      </p:sp>
      <p:sp>
        <p:nvSpPr>
          <p:cNvPr id="13" name="Número 4 cartão"/>
          <p:cNvSpPr/>
          <p:nvPr/>
        </p:nvSpPr>
        <p:spPr>
          <a:xfrm>
            <a:off x="3200400" y="3685032"/>
            <a:ext cx="2331720" cy="15544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úmero 4 valor"/>
          <p:cNvSpPr txBox="1"/>
          <p:nvPr/>
        </p:nvSpPr>
        <p:spPr>
          <a:xfrm>
            <a:off x="3474720" y="3776472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2</a:t>
            </a:r>
            <a:endParaRPr lang="en-US" sz="5400" dirty="0"/>
          </a:p>
        </p:txBody>
      </p:sp>
      <p:sp>
        <p:nvSpPr>
          <p:cNvPr id="15" name="Número 4 rótulo"/>
          <p:cNvSpPr txBox="1"/>
          <p:nvPr/>
        </p:nvSpPr>
        <p:spPr>
          <a:xfrm>
            <a:off x="3474720" y="458114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gravações de Vlogcast por mês, com direção</a:t>
            </a:r>
            <a:endParaRPr lang="en-US" sz="1200" dirty="0"/>
          </a:p>
        </p:txBody>
      </p:sp>
      <p:sp>
        <p:nvSpPr>
          <p:cNvPr id="16" name="Quadro Vlogcast"/>
          <p:cNvSpPr/>
          <p:nvPr/>
        </p:nvSpPr>
        <p:spPr>
          <a:xfrm>
            <a:off x="685800" y="5349240"/>
            <a:ext cx="4846320" cy="777240"/>
          </a:xfrm>
          <a:prstGeom prst="roundRect">
            <a:avLst>
              <a:gd name="adj" fmla="val 1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o Vlogcast"/>
          <p:cNvSpPr txBox="1"/>
          <p:nvPr/>
        </p:nvSpPr>
        <p:spPr>
          <a:xfrm>
            <a:off x="960120" y="53492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Vlogcast: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linha editorial inicial, escolhida pelo seu estilo de comunicação: conversa, experiência e opinião.</a:t>
            </a:r>
            <a:endParaRPr lang="en-US" sz="1200" dirty="0"/>
          </a:p>
        </p:txBody>
      </p:sp>
      <p:sp>
        <p:nvSpPr>
          <p:cNvPr id="18" name="Quadro condição especial"/>
          <p:cNvSpPr/>
          <p:nvPr/>
        </p:nvSpPr>
        <p:spPr>
          <a:xfrm>
            <a:off x="5852160" y="1965960"/>
            <a:ext cx="5653735" cy="1051560"/>
          </a:xfrm>
          <a:prstGeom prst="roundRect">
            <a:avLst>
              <a:gd name="adj" fmla="val 1391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Presente fundo"/>
          <p:cNvSpPr/>
          <p:nvPr/>
        </p:nvSpPr>
        <p:spPr>
          <a:xfrm>
            <a:off x="6080760" y="2221992"/>
            <a:ext cx="530352" cy="53035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Present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044" y="2349276"/>
            <a:ext cx="275783" cy="275783"/>
          </a:xfrm>
          <a:prstGeom prst="rect">
            <a:avLst/>
          </a:prstGeom>
        </p:spPr>
      </p:pic>
      <p:sp>
        <p:nvSpPr>
          <p:cNvPr id="21" name="Texto condição especial"/>
          <p:cNvSpPr txBox="1"/>
          <p:nvPr/>
        </p:nvSpPr>
        <p:spPr>
          <a:xfrm>
            <a:off x="6812280" y="201168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Condição especial para o Fernando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3 primeiros meses, a gravação é semanal (4 por mês), sem custo adicional.</a:t>
            </a:r>
            <a:endParaRPr lang="en-US" sz="1400" dirty="0"/>
          </a:p>
        </p:txBody>
      </p:sp>
      <p:sp>
        <p:nvSpPr>
          <p:cNvPr id="22" name="Rótulo ciclo"/>
          <p:cNvSpPr txBox="1"/>
          <p:nvPr/>
        </p:nvSpPr>
        <p:spPr>
          <a:xfrm>
            <a:off x="5852160" y="3291840"/>
            <a:ext cx="5653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COMO CADA MÊS ACONTECE</a:t>
            </a:r>
            <a:endParaRPr lang="en-US" sz="1000" dirty="0"/>
          </a:p>
        </p:txBody>
      </p:sp>
      <p:sp>
        <p:nvSpPr>
          <p:cNvPr id="23" name="Etapa 1"/>
          <p:cNvSpPr/>
          <p:nvPr/>
        </p:nvSpPr>
        <p:spPr>
          <a:xfrm>
            <a:off x="5852160" y="361188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Etapa 1 número"/>
          <p:cNvSpPr txBox="1"/>
          <p:nvPr/>
        </p:nvSpPr>
        <p:spPr>
          <a:xfrm>
            <a:off x="585216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Etapa 1 texto"/>
          <p:cNvSpPr txBox="1"/>
          <p:nvPr/>
        </p:nvSpPr>
        <p:spPr>
          <a:xfrm>
            <a:off x="6355080" y="357530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Pauta e roteiro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partir do Brandbook e do que acontece no seu mercado</a:t>
            </a:r>
            <a:endParaRPr lang="en-US" sz="1300" dirty="0"/>
          </a:p>
        </p:txBody>
      </p:sp>
      <p:sp>
        <p:nvSpPr>
          <p:cNvPr id="26" name="Etapa 2"/>
          <p:cNvSpPr/>
          <p:nvPr/>
        </p:nvSpPr>
        <p:spPr>
          <a:xfrm>
            <a:off x="5852160" y="411480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Etapa 2 número"/>
          <p:cNvSpPr txBox="1"/>
          <p:nvPr/>
        </p:nvSpPr>
        <p:spPr>
          <a:xfrm>
            <a:off x="5852160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Etapa 2 texto"/>
          <p:cNvSpPr txBox="1"/>
          <p:nvPr/>
        </p:nvSpPr>
        <p:spPr>
          <a:xfrm>
            <a:off x="6355080" y="407822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Gravação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Vlogcast com direção de imagem, no seu ritmo</a:t>
            </a:r>
            <a:endParaRPr lang="en-US" sz="1300" dirty="0"/>
          </a:p>
        </p:txBody>
      </p:sp>
      <p:sp>
        <p:nvSpPr>
          <p:cNvPr id="29" name="Etapa 3"/>
          <p:cNvSpPr/>
          <p:nvPr/>
        </p:nvSpPr>
        <p:spPr>
          <a:xfrm>
            <a:off x="5852160" y="461772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Etapa 3 número"/>
          <p:cNvSpPr txBox="1"/>
          <p:nvPr/>
        </p:nvSpPr>
        <p:spPr>
          <a:xfrm>
            <a:off x="585216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Etapa 3 texto"/>
          <p:cNvSpPr txBox="1"/>
          <p:nvPr/>
        </p:nvSpPr>
        <p:spPr>
          <a:xfrm>
            <a:off x="6355080" y="458114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Edição e design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reels finalizados e carrosséis prontos para aprovar</a:t>
            </a:r>
            <a:endParaRPr lang="en-US" sz="1300" dirty="0"/>
          </a:p>
        </p:txBody>
      </p:sp>
      <p:sp>
        <p:nvSpPr>
          <p:cNvPr id="32" name="Etapa 4"/>
          <p:cNvSpPr/>
          <p:nvPr/>
        </p:nvSpPr>
        <p:spPr>
          <a:xfrm>
            <a:off x="5852160" y="512064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Etapa 4 número"/>
          <p:cNvSpPr txBox="1"/>
          <p:nvPr/>
        </p:nvSpPr>
        <p:spPr>
          <a:xfrm>
            <a:off x="5852160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Etapa 4 texto"/>
          <p:cNvSpPr txBox="1"/>
          <p:nvPr/>
        </p:nvSpPr>
        <p:spPr>
          <a:xfrm>
            <a:off x="6355080" y="508406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Publicação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Instagram e LinkedIn, no formato certo para cada rede</a:t>
            </a:r>
            <a:endParaRPr lang="en-US" sz="1300" dirty="0"/>
          </a:p>
        </p:txBody>
      </p:sp>
      <p:sp>
        <p:nvSpPr>
          <p:cNvPr id="35" name="Etapa 5"/>
          <p:cNvSpPr/>
          <p:nvPr/>
        </p:nvSpPr>
        <p:spPr>
          <a:xfrm>
            <a:off x="5852160" y="5623560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6" name="Etapa 5 número"/>
          <p:cNvSpPr txBox="1"/>
          <p:nvPr/>
        </p:nvSpPr>
        <p:spPr>
          <a:xfrm>
            <a:off x="5852160" y="5623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Etapa 5 texto"/>
          <p:cNvSpPr txBox="1"/>
          <p:nvPr/>
        </p:nvSpPr>
        <p:spPr>
          <a:xfrm>
            <a:off x="6355080" y="5586984"/>
            <a:ext cx="5150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 e reunião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funcionou, o que ajustar e o plano seguinte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 · COMO MEDIMOS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Não medimos só seguidores.</a:t>
            </a:r>
            <a:endParaRPr lang="en-US" sz="3400" dirty="0"/>
          </a:p>
        </p:txBody>
      </p:sp>
      <p:sp>
        <p:nvSpPr>
          <p:cNvPr id="4" name="Intro medição"/>
          <p:cNvSpPr txBox="1"/>
          <p:nvPr/>
        </p:nvSpPr>
        <p:spPr>
          <a:xfrm>
            <a:off x="685800" y="16916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Acompanhamos cinco camadas, sempre comparadas com o ponto de partida do diagnóstico, e revisamos a rota no 3º e no 6º mês.</a:t>
            </a:r>
            <a:endParaRPr lang="en-US" sz="1400" dirty="0"/>
          </a:p>
        </p:txBody>
      </p:sp>
      <p:sp>
        <p:nvSpPr>
          <p:cNvPr id="5" name="Camada 1"/>
          <p:cNvSpPr/>
          <p:nvPr/>
        </p:nvSpPr>
        <p:spPr>
          <a:xfrm>
            <a:off x="685800" y="2240280"/>
            <a:ext cx="5120640" cy="512064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amada 1 nome"/>
          <p:cNvSpPr txBox="1"/>
          <p:nvPr/>
        </p:nvSpPr>
        <p:spPr>
          <a:xfrm>
            <a:off x="685800" y="2240280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Presença</a:t>
            </a:r>
            <a:endParaRPr lang="en-US" sz="1400" dirty="0"/>
          </a:p>
        </p:txBody>
      </p:sp>
      <p:sp>
        <p:nvSpPr>
          <p:cNvPr id="7" name="Camada 1 texto"/>
          <p:cNvSpPr txBox="1"/>
          <p:nvPr/>
        </p:nvSpPr>
        <p:spPr>
          <a:xfrm>
            <a:off x="6263640" y="2258568"/>
            <a:ext cx="5242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está aparecendo com constância? Calendário cumprido e séries mantidas.</a:t>
            </a:r>
            <a:endParaRPr lang="en-US" sz="1200" dirty="0"/>
          </a:p>
        </p:txBody>
      </p:sp>
      <p:sp>
        <p:nvSpPr>
          <p:cNvPr id="8" name="Camada 2"/>
          <p:cNvSpPr/>
          <p:nvPr/>
        </p:nvSpPr>
        <p:spPr>
          <a:xfrm>
            <a:off x="937260" y="2843784"/>
            <a:ext cx="4617720" cy="512064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Camada 2 nome"/>
          <p:cNvSpPr txBox="1"/>
          <p:nvPr/>
        </p:nvSpPr>
        <p:spPr>
          <a:xfrm>
            <a:off x="937260" y="2843784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Alcance qualificado</a:t>
            </a:r>
            <a:endParaRPr lang="en-US" sz="1400" dirty="0"/>
          </a:p>
        </p:txBody>
      </p:sp>
      <p:sp>
        <p:nvSpPr>
          <p:cNvPr id="10" name="Camada 2 texto"/>
          <p:cNvSpPr txBox="1"/>
          <p:nvPr/>
        </p:nvSpPr>
        <p:spPr>
          <a:xfrm>
            <a:off x="6263640" y="2862072"/>
            <a:ext cx="5242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 pessoas certas estão te vendo? Olhamos quem chega, não só quantos.</a:t>
            </a:r>
            <a:endParaRPr lang="en-US" sz="1200" dirty="0"/>
          </a:p>
        </p:txBody>
      </p:sp>
      <p:sp>
        <p:nvSpPr>
          <p:cNvPr id="11" name="Camada 3"/>
          <p:cNvSpPr/>
          <p:nvPr/>
        </p:nvSpPr>
        <p:spPr>
          <a:xfrm>
            <a:off x="1188720" y="3447288"/>
            <a:ext cx="4114800" cy="512064"/>
          </a:xfrm>
          <a:prstGeom prst="roundRect">
            <a:avLst>
              <a:gd name="adj" fmla="val 2857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Camada 3 nome"/>
          <p:cNvSpPr txBox="1"/>
          <p:nvPr/>
        </p:nvSpPr>
        <p:spPr>
          <a:xfrm>
            <a:off x="1188720" y="34472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Conversa</a:t>
            </a:r>
            <a:endParaRPr lang="en-US" sz="1400" dirty="0"/>
          </a:p>
        </p:txBody>
      </p:sp>
      <p:sp>
        <p:nvSpPr>
          <p:cNvPr id="13" name="Camada 3 texto"/>
          <p:cNvSpPr txBox="1"/>
          <p:nvPr/>
        </p:nvSpPr>
        <p:spPr>
          <a:xfrm>
            <a:off x="6263640" y="3465576"/>
            <a:ext cx="5242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Salvam, compartilham, comentam e te chamam? É o sinal de vínculo.</a:t>
            </a:r>
            <a:endParaRPr lang="en-US" sz="1200" dirty="0"/>
          </a:p>
        </p:txBody>
      </p:sp>
      <p:sp>
        <p:nvSpPr>
          <p:cNvPr id="14" name="Camada 4"/>
          <p:cNvSpPr/>
          <p:nvPr/>
        </p:nvSpPr>
        <p:spPr>
          <a:xfrm>
            <a:off x="1440180" y="4050792"/>
            <a:ext cx="3611880" cy="512064"/>
          </a:xfrm>
          <a:prstGeom prst="roundRect">
            <a:avLst>
              <a:gd name="adj" fmla="val 2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Camada 4 nome"/>
          <p:cNvSpPr txBox="1"/>
          <p:nvPr/>
        </p:nvSpPr>
        <p:spPr>
          <a:xfrm>
            <a:off x="1440180" y="405079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Negócio e ROI</a:t>
            </a:r>
            <a:endParaRPr lang="en-US" sz="1400" dirty="0"/>
          </a:p>
        </p:txBody>
      </p:sp>
      <p:sp>
        <p:nvSpPr>
          <p:cNvPr id="16" name="Camada 4 texto"/>
          <p:cNvSpPr txBox="1"/>
          <p:nvPr/>
        </p:nvSpPr>
        <p:spPr>
          <a:xfrm>
            <a:off x="6263640" y="4069080"/>
            <a:ext cx="5242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Viram reuniões, mandatos, convites e clientes? Comparamos esse retorno com o investimento.</a:t>
            </a:r>
            <a:endParaRPr lang="en-US" sz="1200" dirty="0"/>
          </a:p>
        </p:txBody>
      </p:sp>
      <p:sp>
        <p:nvSpPr>
          <p:cNvPr id="17" name="Camada 5"/>
          <p:cNvSpPr/>
          <p:nvPr/>
        </p:nvSpPr>
        <p:spPr>
          <a:xfrm>
            <a:off x="1691640" y="4654296"/>
            <a:ext cx="3108960" cy="512064"/>
          </a:xfrm>
          <a:prstGeom prst="roundRect">
            <a:avLst>
              <a:gd name="adj" fmla="val 2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amada 5 nome"/>
          <p:cNvSpPr txBox="1"/>
          <p:nvPr/>
        </p:nvSpPr>
        <p:spPr>
          <a:xfrm>
            <a:off x="1691640" y="465429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19" name="Camada 5 texto"/>
          <p:cNvSpPr txBox="1"/>
          <p:nvPr/>
        </p:nvSpPr>
        <p:spPr>
          <a:xfrm>
            <a:off x="6263640" y="4672584"/>
            <a:ext cx="52422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se sente mais seguro sendo quem é? Sem ela, nada se sustenta.</a:t>
            </a:r>
            <a:endParaRPr lang="en-US" sz="1200" dirty="0"/>
          </a:p>
        </p:txBody>
      </p:sp>
      <p:sp>
        <p:nvSpPr>
          <p:cNvPr id="20" name="Quadro ROI"/>
          <p:cNvSpPr/>
          <p:nvPr/>
        </p:nvSpPr>
        <p:spPr>
          <a:xfrm>
            <a:off x="685800" y="5440680"/>
            <a:ext cx="9631375" cy="685800"/>
          </a:xfrm>
          <a:prstGeom prst="roundRect">
            <a:avLst>
              <a:gd name="adj" fmla="val 21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o ROI"/>
          <p:cNvSpPr txBox="1"/>
          <p:nvPr/>
        </p:nvSpPr>
        <p:spPr>
          <a:xfrm>
            <a:off x="1005840" y="5440680"/>
            <a:ext cx="8991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ROI DO CICLO = (NEGÓCIOS GERADOS PELA MARCA − INVESTIMENTO) ÷ INVESTIMENTO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Registramos a origem de cada oportunidade e mostramos o retorno nos relatórios mensais.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 · INVESTIMENTO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Cada entrega tem valor. Juntas, custam menos.</a:t>
            </a:r>
            <a:endParaRPr lang="en-US" sz="3400" dirty="0"/>
          </a:p>
        </p:txBody>
      </p:sp>
      <p:sp>
        <p:nvSpPr>
          <p:cNvPr id="4" name="implantação título"/>
          <p:cNvSpPr txBox="1"/>
          <p:nvPr/>
        </p:nvSpPr>
        <p:spPr>
          <a:xfrm>
            <a:off x="685800" y="1965960"/>
            <a:ext cx="313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IMPLANTAÇÃO</a:t>
            </a:r>
            <a:endParaRPr lang="en-US" sz="1000" dirty="0"/>
          </a:p>
        </p:txBody>
      </p:sp>
      <p:sp>
        <p:nvSpPr>
          <p:cNvPr id="5" name="implantação coluna 1"/>
          <p:cNvSpPr txBox="1"/>
          <p:nvPr/>
        </p:nvSpPr>
        <p:spPr>
          <a:xfrm>
            <a:off x="381899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AVULSO</a:t>
            </a:r>
            <a:endParaRPr lang="en-US" sz="1000" dirty="0"/>
          </a:p>
        </p:txBody>
      </p:sp>
      <p:sp>
        <p:nvSpPr>
          <p:cNvPr id="6" name="implantação coluna 2"/>
          <p:cNvSpPr txBox="1"/>
          <p:nvPr/>
        </p:nvSpPr>
        <p:spPr>
          <a:xfrm>
            <a:off x="4843120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 PACOTE</a:t>
            </a:r>
            <a:endParaRPr lang="en-US" sz="1000" dirty="0"/>
          </a:p>
        </p:txBody>
      </p:sp>
      <p:sp>
        <p:nvSpPr>
          <p:cNvPr id="7" name="implantação linha 1"/>
          <p:cNvSpPr/>
          <p:nvPr/>
        </p:nvSpPr>
        <p:spPr>
          <a:xfrm>
            <a:off x="685800" y="231343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8" name="implantação item 1"/>
          <p:cNvSpPr txBox="1"/>
          <p:nvPr/>
        </p:nvSpPr>
        <p:spPr>
          <a:xfrm>
            <a:off x="685800" y="235000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Método Meov e Brandbook</a:t>
            </a:r>
            <a:endParaRPr lang="en-US" sz="1300" dirty="0"/>
          </a:p>
        </p:txBody>
      </p:sp>
      <p:sp>
        <p:nvSpPr>
          <p:cNvPr id="9" name="implantação valor 1.1"/>
          <p:cNvSpPr txBox="1"/>
          <p:nvPr/>
        </p:nvSpPr>
        <p:spPr>
          <a:xfrm>
            <a:off x="3818992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R$ 4.000</a:t>
            </a:r>
            <a:endParaRPr lang="en-US" sz="1100" dirty="0"/>
          </a:p>
        </p:txBody>
      </p:sp>
      <p:sp>
        <p:nvSpPr>
          <p:cNvPr id="10" name="implantação valor 1.2"/>
          <p:cNvSpPr txBox="1"/>
          <p:nvPr/>
        </p:nvSpPr>
        <p:spPr>
          <a:xfrm>
            <a:off x="4843120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11" name="implantação linha 2"/>
          <p:cNvSpPr/>
          <p:nvPr/>
        </p:nvSpPr>
        <p:spPr>
          <a:xfrm>
            <a:off x="685800" y="267919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12" name="implantação item 2"/>
          <p:cNvSpPr txBox="1"/>
          <p:nvPr/>
        </p:nvSpPr>
        <p:spPr>
          <a:xfrm>
            <a:off x="685800" y="271576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Ensaio de marca</a:t>
            </a:r>
            <a:endParaRPr lang="en-US" sz="1300" dirty="0"/>
          </a:p>
        </p:txBody>
      </p:sp>
      <p:sp>
        <p:nvSpPr>
          <p:cNvPr id="13" name="implantação valor 2.1"/>
          <p:cNvSpPr txBox="1"/>
          <p:nvPr/>
        </p:nvSpPr>
        <p:spPr>
          <a:xfrm>
            <a:off x="3818992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R$ 4.000</a:t>
            </a:r>
            <a:endParaRPr lang="en-US" sz="1100" dirty="0"/>
          </a:p>
        </p:txBody>
      </p:sp>
      <p:sp>
        <p:nvSpPr>
          <p:cNvPr id="14" name="implantação valor 2.2"/>
          <p:cNvSpPr txBox="1"/>
          <p:nvPr/>
        </p:nvSpPr>
        <p:spPr>
          <a:xfrm>
            <a:off x="4843120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15" name="implantação linha 3"/>
          <p:cNvSpPr/>
          <p:nvPr/>
        </p:nvSpPr>
        <p:spPr>
          <a:xfrm>
            <a:off x="685800" y="304495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16" name="implantação item 3"/>
          <p:cNvSpPr txBox="1"/>
          <p:nvPr/>
        </p:nvSpPr>
        <p:spPr>
          <a:xfrm>
            <a:off x="685800" y="308152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Reformulação do Instagram</a:t>
            </a:r>
            <a:endParaRPr lang="en-US" sz="1300" dirty="0"/>
          </a:p>
        </p:txBody>
      </p:sp>
      <p:sp>
        <p:nvSpPr>
          <p:cNvPr id="17" name="implantação valor 3.1"/>
          <p:cNvSpPr txBox="1"/>
          <p:nvPr/>
        </p:nvSpPr>
        <p:spPr>
          <a:xfrm>
            <a:off x="3818992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R$ 2.500</a:t>
            </a:r>
            <a:endParaRPr lang="en-US" sz="1100" dirty="0"/>
          </a:p>
        </p:txBody>
      </p:sp>
      <p:sp>
        <p:nvSpPr>
          <p:cNvPr id="18" name="implantação valor 3.2"/>
          <p:cNvSpPr txBox="1"/>
          <p:nvPr/>
        </p:nvSpPr>
        <p:spPr>
          <a:xfrm>
            <a:off x="4843120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19" name="implantação linha 4"/>
          <p:cNvSpPr/>
          <p:nvPr/>
        </p:nvSpPr>
        <p:spPr>
          <a:xfrm>
            <a:off x="685800" y="341071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20" name="implantação item 4"/>
          <p:cNvSpPr txBox="1"/>
          <p:nvPr/>
        </p:nvSpPr>
        <p:spPr>
          <a:xfrm>
            <a:off x="685800" y="344728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Reformulação do LinkedIn</a:t>
            </a:r>
            <a:endParaRPr lang="en-US" sz="1300" dirty="0"/>
          </a:p>
        </p:txBody>
      </p:sp>
      <p:sp>
        <p:nvSpPr>
          <p:cNvPr id="21" name="implantação valor 4.1"/>
          <p:cNvSpPr txBox="1"/>
          <p:nvPr/>
        </p:nvSpPr>
        <p:spPr>
          <a:xfrm>
            <a:off x="3818992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R$ 2.500</a:t>
            </a:r>
            <a:endParaRPr lang="en-US" sz="1100" dirty="0"/>
          </a:p>
        </p:txBody>
      </p:sp>
      <p:sp>
        <p:nvSpPr>
          <p:cNvPr id="22" name="implantação valor 4.2"/>
          <p:cNvSpPr txBox="1"/>
          <p:nvPr/>
        </p:nvSpPr>
        <p:spPr>
          <a:xfrm>
            <a:off x="4843120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23" name="implantação linha 5"/>
          <p:cNvSpPr/>
          <p:nvPr/>
        </p:nvSpPr>
        <p:spPr>
          <a:xfrm>
            <a:off x="685800" y="377647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24" name="implantação item 5"/>
          <p:cNvSpPr txBox="1"/>
          <p:nvPr/>
        </p:nvSpPr>
        <p:spPr>
          <a:xfrm>
            <a:off x="685800" y="381304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Site/LP</a:t>
            </a:r>
            <a:endParaRPr lang="en-US" sz="1300" dirty="0"/>
          </a:p>
        </p:txBody>
      </p:sp>
      <p:sp>
        <p:nvSpPr>
          <p:cNvPr id="25" name="implantação valor 5.1"/>
          <p:cNvSpPr txBox="1"/>
          <p:nvPr/>
        </p:nvSpPr>
        <p:spPr>
          <a:xfrm>
            <a:off x="3818992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26" name="implantação valor 5.2"/>
          <p:cNvSpPr txBox="1"/>
          <p:nvPr/>
        </p:nvSpPr>
        <p:spPr>
          <a:xfrm>
            <a:off x="4843120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27" name="implantação linha total"/>
          <p:cNvSpPr/>
          <p:nvPr/>
        </p:nvSpPr>
        <p:spPr>
          <a:xfrm>
            <a:off x="685800" y="4142232"/>
            <a:ext cx="5181448" cy="0"/>
          </a:xfrm>
          <a:prstGeom prst="line">
            <a:avLst/>
          </a:prstGeom>
          <a:noFill/>
          <a:ln w="12700">
            <a:solidFill>
              <a:srgbClr val="1C211E"/>
            </a:solidFill>
            <a:prstDash val="solid"/>
          </a:ln>
        </p:spPr>
      </p:sp>
      <p:sp>
        <p:nvSpPr>
          <p:cNvPr id="28" name="implantação subtotal"/>
          <p:cNvSpPr txBox="1"/>
          <p:nvPr/>
        </p:nvSpPr>
        <p:spPr>
          <a:xfrm>
            <a:off x="685800" y="4197096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Subtotal</a:t>
            </a:r>
            <a:endParaRPr lang="en-US" sz="1300" dirty="0"/>
          </a:p>
        </p:txBody>
      </p:sp>
      <p:sp>
        <p:nvSpPr>
          <p:cNvPr id="29" name="implantação subtotal 1"/>
          <p:cNvSpPr txBox="1"/>
          <p:nvPr/>
        </p:nvSpPr>
        <p:spPr>
          <a:xfrm>
            <a:off x="3818992" y="41970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R$ 16.000</a:t>
            </a:r>
            <a:endParaRPr lang="en-US" sz="1200" dirty="0"/>
          </a:p>
        </p:txBody>
      </p:sp>
      <p:sp>
        <p:nvSpPr>
          <p:cNvPr id="30" name="implantação subtotal 2"/>
          <p:cNvSpPr txBox="1"/>
          <p:nvPr/>
        </p:nvSpPr>
        <p:spPr>
          <a:xfrm>
            <a:off x="4843120" y="41970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R$ 12.000</a:t>
            </a:r>
            <a:endParaRPr lang="en-US" sz="1200" dirty="0"/>
          </a:p>
        </p:txBody>
      </p:sp>
      <p:sp>
        <p:nvSpPr>
          <p:cNvPr id="31" name="mensal título"/>
          <p:cNvSpPr txBox="1"/>
          <p:nvPr/>
        </p:nvSpPr>
        <p:spPr>
          <a:xfrm>
            <a:off x="6324448" y="1965960"/>
            <a:ext cx="3133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MENSAL</a:t>
            </a:r>
            <a:endParaRPr lang="en-US" sz="1000" dirty="0"/>
          </a:p>
        </p:txBody>
      </p:sp>
      <p:sp>
        <p:nvSpPr>
          <p:cNvPr id="32" name="mensal coluna 1"/>
          <p:cNvSpPr txBox="1"/>
          <p:nvPr/>
        </p:nvSpPr>
        <p:spPr>
          <a:xfrm>
            <a:off x="9457639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AVULSO</a:t>
            </a:r>
            <a:endParaRPr lang="en-US" sz="1000" dirty="0"/>
          </a:p>
        </p:txBody>
      </p:sp>
      <p:sp>
        <p:nvSpPr>
          <p:cNvPr id="33" name="mensal coluna 2"/>
          <p:cNvSpPr txBox="1"/>
          <p:nvPr/>
        </p:nvSpPr>
        <p:spPr>
          <a:xfrm>
            <a:off x="10481767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 PACOTE</a:t>
            </a:r>
            <a:endParaRPr lang="en-US" sz="1000" dirty="0"/>
          </a:p>
        </p:txBody>
      </p:sp>
      <p:sp>
        <p:nvSpPr>
          <p:cNvPr id="34" name="mensal linha 1"/>
          <p:cNvSpPr/>
          <p:nvPr/>
        </p:nvSpPr>
        <p:spPr>
          <a:xfrm>
            <a:off x="6324448" y="231343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35" name="mensal item 1"/>
          <p:cNvSpPr txBox="1"/>
          <p:nvPr/>
        </p:nvSpPr>
        <p:spPr>
          <a:xfrm>
            <a:off x="6324448" y="235000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Gravações de Vlogcast</a:t>
            </a:r>
            <a:endParaRPr lang="en-US" sz="1300" dirty="0"/>
          </a:p>
        </p:txBody>
      </p:sp>
      <p:sp>
        <p:nvSpPr>
          <p:cNvPr id="36" name="mensal valor 1.1"/>
          <p:cNvSpPr txBox="1"/>
          <p:nvPr/>
        </p:nvSpPr>
        <p:spPr>
          <a:xfrm>
            <a:off x="9457639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R$ 4.000</a:t>
            </a:r>
            <a:endParaRPr lang="en-US" sz="1100" dirty="0"/>
          </a:p>
        </p:txBody>
      </p:sp>
      <p:sp>
        <p:nvSpPr>
          <p:cNvPr id="37" name="mensal valor 1.2"/>
          <p:cNvSpPr txBox="1"/>
          <p:nvPr/>
        </p:nvSpPr>
        <p:spPr>
          <a:xfrm>
            <a:off x="10481767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38" name="mensal linha 2"/>
          <p:cNvSpPr/>
          <p:nvPr/>
        </p:nvSpPr>
        <p:spPr>
          <a:xfrm>
            <a:off x="6324448" y="267919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39" name="mensal item 2"/>
          <p:cNvSpPr txBox="1"/>
          <p:nvPr/>
        </p:nvSpPr>
        <p:spPr>
          <a:xfrm>
            <a:off x="6324448" y="271576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Edição de 12 reels</a:t>
            </a:r>
            <a:endParaRPr lang="en-US" sz="1300" dirty="0"/>
          </a:p>
        </p:txBody>
      </p:sp>
      <p:sp>
        <p:nvSpPr>
          <p:cNvPr id="40" name="mensal valor 2.1"/>
          <p:cNvSpPr txBox="1"/>
          <p:nvPr/>
        </p:nvSpPr>
        <p:spPr>
          <a:xfrm>
            <a:off x="9457639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R$ 4.200</a:t>
            </a:r>
            <a:endParaRPr lang="en-US" sz="1100" dirty="0"/>
          </a:p>
        </p:txBody>
      </p:sp>
      <p:sp>
        <p:nvSpPr>
          <p:cNvPr id="41" name="mensal valor 2.2"/>
          <p:cNvSpPr txBox="1"/>
          <p:nvPr/>
        </p:nvSpPr>
        <p:spPr>
          <a:xfrm>
            <a:off x="10481767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42" name="mensal linha 3"/>
          <p:cNvSpPr/>
          <p:nvPr/>
        </p:nvSpPr>
        <p:spPr>
          <a:xfrm>
            <a:off x="6324448" y="304495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43" name="mensal item 3"/>
          <p:cNvSpPr txBox="1"/>
          <p:nvPr/>
        </p:nvSpPr>
        <p:spPr>
          <a:xfrm>
            <a:off x="6324448" y="308152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carrosséis</a:t>
            </a:r>
            <a:endParaRPr lang="en-US" sz="1300" dirty="0"/>
          </a:p>
        </p:txBody>
      </p:sp>
      <p:sp>
        <p:nvSpPr>
          <p:cNvPr id="44" name="mensal valor 3.1"/>
          <p:cNvSpPr txBox="1"/>
          <p:nvPr/>
        </p:nvSpPr>
        <p:spPr>
          <a:xfrm>
            <a:off x="9457639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R$ 2.400</a:t>
            </a:r>
            <a:endParaRPr lang="en-US" sz="1100" dirty="0"/>
          </a:p>
        </p:txBody>
      </p:sp>
      <p:sp>
        <p:nvSpPr>
          <p:cNvPr id="45" name="mensal valor 3.2"/>
          <p:cNvSpPr txBox="1"/>
          <p:nvPr/>
        </p:nvSpPr>
        <p:spPr>
          <a:xfrm>
            <a:off x="10481767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46" name="mensal linha 4"/>
          <p:cNvSpPr/>
          <p:nvPr/>
        </p:nvSpPr>
        <p:spPr>
          <a:xfrm>
            <a:off x="6324448" y="341071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47" name="mensal item 4"/>
          <p:cNvSpPr txBox="1"/>
          <p:nvPr/>
        </p:nvSpPr>
        <p:spPr>
          <a:xfrm>
            <a:off x="6324448" y="344728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posts no LinkedIn</a:t>
            </a:r>
            <a:endParaRPr lang="en-US" sz="1300" dirty="0"/>
          </a:p>
        </p:txBody>
      </p:sp>
      <p:sp>
        <p:nvSpPr>
          <p:cNvPr id="48" name="mensal valor 4.1"/>
          <p:cNvSpPr txBox="1"/>
          <p:nvPr/>
        </p:nvSpPr>
        <p:spPr>
          <a:xfrm>
            <a:off x="9457639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R$ 1.400</a:t>
            </a:r>
            <a:endParaRPr lang="en-US" sz="1100" dirty="0"/>
          </a:p>
        </p:txBody>
      </p:sp>
      <p:sp>
        <p:nvSpPr>
          <p:cNvPr id="49" name="mensal valor 4.2"/>
          <p:cNvSpPr txBox="1"/>
          <p:nvPr/>
        </p:nvSpPr>
        <p:spPr>
          <a:xfrm>
            <a:off x="10481767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R$ 1.000</a:t>
            </a:r>
            <a:endParaRPr lang="en-US" sz="1100" dirty="0"/>
          </a:p>
        </p:txBody>
      </p:sp>
      <p:sp>
        <p:nvSpPr>
          <p:cNvPr id="50" name="mensal linha 5"/>
          <p:cNvSpPr/>
          <p:nvPr/>
        </p:nvSpPr>
        <p:spPr>
          <a:xfrm>
            <a:off x="6324448" y="377647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51" name="mensal item 5"/>
          <p:cNvSpPr txBox="1"/>
          <p:nvPr/>
        </p:nvSpPr>
        <p:spPr>
          <a:xfrm>
            <a:off x="6324448" y="381304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Pautas e roteiros</a:t>
            </a:r>
            <a:endParaRPr lang="en-US" sz="1300" dirty="0"/>
          </a:p>
        </p:txBody>
      </p:sp>
      <p:sp>
        <p:nvSpPr>
          <p:cNvPr id="52" name="mensal valor 5.1"/>
          <p:cNvSpPr txBox="1"/>
          <p:nvPr/>
        </p:nvSpPr>
        <p:spPr>
          <a:xfrm>
            <a:off x="9457639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R$ 1.400</a:t>
            </a:r>
            <a:endParaRPr lang="en-US" sz="1100" dirty="0"/>
          </a:p>
        </p:txBody>
      </p:sp>
      <p:sp>
        <p:nvSpPr>
          <p:cNvPr id="53" name="mensal valor 5.2"/>
          <p:cNvSpPr txBox="1"/>
          <p:nvPr/>
        </p:nvSpPr>
        <p:spPr>
          <a:xfrm>
            <a:off x="10481767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R$ 1.000</a:t>
            </a:r>
            <a:endParaRPr lang="en-US" sz="1100" dirty="0"/>
          </a:p>
        </p:txBody>
      </p:sp>
      <p:sp>
        <p:nvSpPr>
          <p:cNvPr id="54" name="mensal linha 6"/>
          <p:cNvSpPr/>
          <p:nvPr/>
        </p:nvSpPr>
        <p:spPr>
          <a:xfrm>
            <a:off x="6324448" y="4142232"/>
            <a:ext cx="5181448" cy="0"/>
          </a:xfrm>
          <a:prstGeom prst="line">
            <a:avLst/>
          </a:prstGeom>
          <a:noFill/>
          <a:ln w="6350">
            <a:solidFill>
              <a:srgbClr val="59625A"/>
            </a:solidFill>
            <a:prstDash val="solid"/>
          </a:ln>
        </p:spPr>
      </p:sp>
      <p:sp>
        <p:nvSpPr>
          <p:cNvPr id="55" name="mensal item 6"/>
          <p:cNvSpPr txBox="1"/>
          <p:nvPr/>
        </p:nvSpPr>
        <p:spPr>
          <a:xfrm>
            <a:off x="6324448" y="4178808"/>
            <a:ext cx="3133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Gestão, relatório e reuniões</a:t>
            </a:r>
            <a:endParaRPr lang="en-US" sz="1300" dirty="0"/>
          </a:p>
        </p:txBody>
      </p:sp>
      <p:sp>
        <p:nvSpPr>
          <p:cNvPr id="56" name="mensal valor 6.1"/>
          <p:cNvSpPr txBox="1"/>
          <p:nvPr/>
        </p:nvSpPr>
        <p:spPr>
          <a:xfrm>
            <a:off x="9457639" y="41788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R$ 2.600</a:t>
            </a:r>
            <a:endParaRPr lang="en-US" sz="1100" dirty="0"/>
          </a:p>
        </p:txBody>
      </p:sp>
      <p:sp>
        <p:nvSpPr>
          <p:cNvPr id="57" name="mensal valor 6.2"/>
          <p:cNvSpPr txBox="1"/>
          <p:nvPr/>
        </p:nvSpPr>
        <p:spPr>
          <a:xfrm>
            <a:off x="10481767" y="41788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58" name="mensal linha total"/>
          <p:cNvSpPr/>
          <p:nvPr/>
        </p:nvSpPr>
        <p:spPr>
          <a:xfrm>
            <a:off x="6324448" y="4507992"/>
            <a:ext cx="5181448" cy="0"/>
          </a:xfrm>
          <a:prstGeom prst="line">
            <a:avLst/>
          </a:prstGeom>
          <a:noFill/>
          <a:ln w="12700">
            <a:solidFill>
              <a:srgbClr val="1C211E"/>
            </a:solidFill>
            <a:prstDash val="solid"/>
          </a:ln>
        </p:spPr>
      </p:sp>
      <p:sp>
        <p:nvSpPr>
          <p:cNvPr id="59" name="mensal subtotal"/>
          <p:cNvSpPr txBox="1"/>
          <p:nvPr/>
        </p:nvSpPr>
        <p:spPr>
          <a:xfrm>
            <a:off x="6324448" y="4562856"/>
            <a:ext cx="313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Subtotal por mês</a:t>
            </a:r>
            <a:endParaRPr lang="en-US" sz="1300" dirty="0"/>
          </a:p>
        </p:txBody>
      </p:sp>
      <p:sp>
        <p:nvSpPr>
          <p:cNvPr id="60" name="mensal subtotal 1"/>
          <p:cNvSpPr txBox="1"/>
          <p:nvPr/>
        </p:nvSpPr>
        <p:spPr>
          <a:xfrm>
            <a:off x="9457639" y="45628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R$ 16.000</a:t>
            </a:r>
            <a:endParaRPr lang="en-US" sz="1200" dirty="0"/>
          </a:p>
        </p:txBody>
      </p:sp>
      <p:sp>
        <p:nvSpPr>
          <p:cNvPr id="61" name="mensal subtotal 2"/>
          <p:cNvSpPr txBox="1"/>
          <p:nvPr/>
        </p:nvSpPr>
        <p:spPr>
          <a:xfrm>
            <a:off x="10481767" y="45628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R$ 12.000</a:t>
            </a:r>
            <a:endParaRPr lang="en-US" sz="1200" dirty="0"/>
          </a:p>
        </p:txBody>
      </p:sp>
      <p:sp>
        <p:nvSpPr>
          <p:cNvPr id="62" name="Faixa total"/>
          <p:cNvSpPr/>
          <p:nvPr/>
        </p:nvSpPr>
        <p:spPr>
          <a:xfrm>
            <a:off x="685800" y="5257800"/>
            <a:ext cx="9631375" cy="868680"/>
          </a:xfrm>
          <a:prstGeom prst="roundRect">
            <a:avLst>
              <a:gd name="adj" fmla="val 168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3" name="Total do ciclo"/>
          <p:cNvSpPr txBox="1"/>
          <p:nvPr/>
        </p:nvSpPr>
        <p:spPr>
          <a:xfrm>
            <a:off x="1005840" y="5257800"/>
            <a:ext cx="8991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CICLO DE 6 MESES  </a:t>
            </a:r>
            <a:pPr indent="0" marL="0">
              <a:buNone/>
            </a:pPr>
            <a:r>
              <a:rPr lang="en-US" sz="14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R$ 112.000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no pacote  </a:t>
            </a:r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R$ 84.000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 · CONDIÇÃO ESPECIAL FERNANDO LOHMANN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Para começar juntos, uma condição única.</a:t>
            </a:r>
            <a:endParaRPr lang="en-US" sz="3400" dirty="0"/>
          </a:p>
        </p:txBody>
      </p:sp>
      <p:sp>
        <p:nvSpPr>
          <p:cNvPr id="4" name="implantação título"/>
          <p:cNvSpPr txBox="1"/>
          <p:nvPr/>
        </p:nvSpPr>
        <p:spPr>
          <a:xfrm>
            <a:off x="685800" y="1965960"/>
            <a:ext cx="2109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IMPLANTAÇÃO</a:t>
            </a:r>
            <a:endParaRPr lang="en-US" sz="1000" dirty="0"/>
          </a:p>
        </p:txBody>
      </p:sp>
      <p:sp>
        <p:nvSpPr>
          <p:cNvPr id="5" name="implantação coluna 1"/>
          <p:cNvSpPr txBox="1"/>
          <p:nvPr/>
        </p:nvSpPr>
        <p:spPr>
          <a:xfrm>
            <a:off x="2794864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AVULSO</a:t>
            </a:r>
            <a:endParaRPr lang="en-US" sz="1000" dirty="0"/>
          </a:p>
        </p:txBody>
      </p:sp>
      <p:sp>
        <p:nvSpPr>
          <p:cNvPr id="6" name="implantação coluna 2"/>
          <p:cNvSpPr txBox="1"/>
          <p:nvPr/>
        </p:nvSpPr>
        <p:spPr>
          <a:xfrm>
            <a:off x="3818992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PACOTE</a:t>
            </a:r>
            <a:endParaRPr lang="en-US" sz="1000" dirty="0"/>
          </a:p>
        </p:txBody>
      </p:sp>
      <p:sp>
        <p:nvSpPr>
          <p:cNvPr id="7" name="implantação coluna 3"/>
          <p:cNvSpPr txBox="1"/>
          <p:nvPr/>
        </p:nvSpPr>
        <p:spPr>
          <a:xfrm>
            <a:off x="4843120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PARA VOCÊ</a:t>
            </a:r>
            <a:endParaRPr lang="en-US" sz="1000" dirty="0"/>
          </a:p>
        </p:txBody>
      </p:sp>
      <p:sp>
        <p:nvSpPr>
          <p:cNvPr id="8" name="implantação linha 1"/>
          <p:cNvSpPr/>
          <p:nvPr/>
        </p:nvSpPr>
        <p:spPr>
          <a:xfrm>
            <a:off x="685800" y="231343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9" name="implantação item 1"/>
          <p:cNvSpPr txBox="1"/>
          <p:nvPr/>
        </p:nvSpPr>
        <p:spPr>
          <a:xfrm>
            <a:off x="685800" y="235000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Método Meov e Brandbook</a:t>
            </a:r>
            <a:endParaRPr lang="en-US" sz="1300" dirty="0"/>
          </a:p>
        </p:txBody>
      </p:sp>
      <p:sp>
        <p:nvSpPr>
          <p:cNvPr id="10" name="implantação valor 1.1"/>
          <p:cNvSpPr txBox="1"/>
          <p:nvPr/>
        </p:nvSpPr>
        <p:spPr>
          <a:xfrm>
            <a:off x="2794864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R$ 4.000</a:t>
            </a:r>
            <a:endParaRPr lang="en-US" sz="1100" dirty="0"/>
          </a:p>
        </p:txBody>
      </p:sp>
      <p:sp>
        <p:nvSpPr>
          <p:cNvPr id="11" name="implantação valor 1.2"/>
          <p:cNvSpPr txBox="1"/>
          <p:nvPr/>
        </p:nvSpPr>
        <p:spPr>
          <a:xfrm>
            <a:off x="3818992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12" name="implantação valor 1.3"/>
          <p:cNvSpPr txBox="1"/>
          <p:nvPr/>
        </p:nvSpPr>
        <p:spPr>
          <a:xfrm>
            <a:off x="4843120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R$ 1.650</a:t>
            </a:r>
            <a:endParaRPr lang="en-US" sz="1100" dirty="0"/>
          </a:p>
        </p:txBody>
      </p:sp>
      <p:sp>
        <p:nvSpPr>
          <p:cNvPr id="13" name="implantação linha 2"/>
          <p:cNvSpPr/>
          <p:nvPr/>
        </p:nvSpPr>
        <p:spPr>
          <a:xfrm>
            <a:off x="685800" y="267919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14" name="implantação item 2"/>
          <p:cNvSpPr txBox="1"/>
          <p:nvPr/>
        </p:nvSpPr>
        <p:spPr>
          <a:xfrm>
            <a:off x="685800" y="271576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Ensaio de marca</a:t>
            </a:r>
            <a:endParaRPr lang="en-US" sz="1300" dirty="0"/>
          </a:p>
        </p:txBody>
      </p:sp>
      <p:sp>
        <p:nvSpPr>
          <p:cNvPr id="15" name="implantação valor 2.1"/>
          <p:cNvSpPr txBox="1"/>
          <p:nvPr/>
        </p:nvSpPr>
        <p:spPr>
          <a:xfrm>
            <a:off x="2794864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R$ 4.000</a:t>
            </a:r>
            <a:endParaRPr lang="en-US" sz="1100" dirty="0"/>
          </a:p>
        </p:txBody>
      </p:sp>
      <p:sp>
        <p:nvSpPr>
          <p:cNvPr id="16" name="implantação valor 2.2"/>
          <p:cNvSpPr txBox="1"/>
          <p:nvPr/>
        </p:nvSpPr>
        <p:spPr>
          <a:xfrm>
            <a:off x="3818992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17" name="implantação valor 2.3"/>
          <p:cNvSpPr txBox="1"/>
          <p:nvPr/>
        </p:nvSpPr>
        <p:spPr>
          <a:xfrm>
            <a:off x="4843120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R$ 1.650</a:t>
            </a:r>
            <a:endParaRPr lang="en-US" sz="1100" dirty="0"/>
          </a:p>
        </p:txBody>
      </p:sp>
      <p:sp>
        <p:nvSpPr>
          <p:cNvPr id="18" name="implantação linha 3"/>
          <p:cNvSpPr/>
          <p:nvPr/>
        </p:nvSpPr>
        <p:spPr>
          <a:xfrm>
            <a:off x="685800" y="304495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19" name="implantação item 3"/>
          <p:cNvSpPr txBox="1"/>
          <p:nvPr/>
        </p:nvSpPr>
        <p:spPr>
          <a:xfrm>
            <a:off x="685800" y="308152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Reformulação do Instagram</a:t>
            </a:r>
            <a:endParaRPr lang="en-US" sz="1300" dirty="0"/>
          </a:p>
        </p:txBody>
      </p:sp>
      <p:sp>
        <p:nvSpPr>
          <p:cNvPr id="20" name="implantação valor 3.1"/>
          <p:cNvSpPr txBox="1"/>
          <p:nvPr/>
        </p:nvSpPr>
        <p:spPr>
          <a:xfrm>
            <a:off x="2794864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R$ 2.500</a:t>
            </a:r>
            <a:endParaRPr lang="en-US" sz="1100" dirty="0"/>
          </a:p>
        </p:txBody>
      </p:sp>
      <p:sp>
        <p:nvSpPr>
          <p:cNvPr id="21" name="implantação valor 3.2"/>
          <p:cNvSpPr txBox="1"/>
          <p:nvPr/>
        </p:nvSpPr>
        <p:spPr>
          <a:xfrm>
            <a:off x="3818992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22" name="implantação valor 3.3"/>
          <p:cNvSpPr txBox="1"/>
          <p:nvPr/>
        </p:nvSpPr>
        <p:spPr>
          <a:xfrm>
            <a:off x="4843120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R$ 825</a:t>
            </a:r>
            <a:endParaRPr lang="en-US" sz="1100" dirty="0"/>
          </a:p>
        </p:txBody>
      </p:sp>
      <p:sp>
        <p:nvSpPr>
          <p:cNvPr id="23" name="implantação linha 4"/>
          <p:cNvSpPr/>
          <p:nvPr/>
        </p:nvSpPr>
        <p:spPr>
          <a:xfrm>
            <a:off x="685800" y="341071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24" name="implantação item 4"/>
          <p:cNvSpPr txBox="1"/>
          <p:nvPr/>
        </p:nvSpPr>
        <p:spPr>
          <a:xfrm>
            <a:off x="685800" y="344728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Reformulação do LinkedIn</a:t>
            </a:r>
            <a:endParaRPr lang="en-US" sz="1300" dirty="0"/>
          </a:p>
        </p:txBody>
      </p:sp>
      <p:sp>
        <p:nvSpPr>
          <p:cNvPr id="25" name="implantação valor 4.1"/>
          <p:cNvSpPr txBox="1"/>
          <p:nvPr/>
        </p:nvSpPr>
        <p:spPr>
          <a:xfrm>
            <a:off x="2794864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R$ 2.500</a:t>
            </a:r>
            <a:endParaRPr lang="en-US" sz="1100" dirty="0"/>
          </a:p>
        </p:txBody>
      </p:sp>
      <p:sp>
        <p:nvSpPr>
          <p:cNvPr id="26" name="implantação valor 4.2"/>
          <p:cNvSpPr txBox="1"/>
          <p:nvPr/>
        </p:nvSpPr>
        <p:spPr>
          <a:xfrm>
            <a:off x="3818992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27" name="implantação valor 4.3"/>
          <p:cNvSpPr txBox="1"/>
          <p:nvPr/>
        </p:nvSpPr>
        <p:spPr>
          <a:xfrm>
            <a:off x="4843120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R$ 825</a:t>
            </a:r>
            <a:endParaRPr lang="en-US" sz="1100" dirty="0"/>
          </a:p>
        </p:txBody>
      </p:sp>
      <p:sp>
        <p:nvSpPr>
          <p:cNvPr id="28" name="implantação linha 5"/>
          <p:cNvSpPr/>
          <p:nvPr/>
        </p:nvSpPr>
        <p:spPr>
          <a:xfrm>
            <a:off x="685800" y="377647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29" name="implantação item 5"/>
          <p:cNvSpPr txBox="1"/>
          <p:nvPr/>
        </p:nvSpPr>
        <p:spPr>
          <a:xfrm>
            <a:off x="685800" y="381304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Site/LP</a:t>
            </a:r>
            <a:endParaRPr lang="en-US" sz="1300" dirty="0"/>
          </a:p>
        </p:txBody>
      </p:sp>
      <p:sp>
        <p:nvSpPr>
          <p:cNvPr id="30" name="implantação valor 5.1"/>
          <p:cNvSpPr txBox="1"/>
          <p:nvPr/>
        </p:nvSpPr>
        <p:spPr>
          <a:xfrm>
            <a:off x="2794864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31" name="implantação valor 5.2"/>
          <p:cNvSpPr txBox="1"/>
          <p:nvPr/>
        </p:nvSpPr>
        <p:spPr>
          <a:xfrm>
            <a:off x="3818992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32" name="implantação valor 5.3"/>
          <p:cNvSpPr txBox="1"/>
          <p:nvPr/>
        </p:nvSpPr>
        <p:spPr>
          <a:xfrm>
            <a:off x="4843120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R$ 1.650</a:t>
            </a:r>
            <a:endParaRPr lang="en-US" sz="1100" dirty="0"/>
          </a:p>
        </p:txBody>
      </p:sp>
      <p:sp>
        <p:nvSpPr>
          <p:cNvPr id="33" name="implantação linha total"/>
          <p:cNvSpPr/>
          <p:nvPr/>
        </p:nvSpPr>
        <p:spPr>
          <a:xfrm>
            <a:off x="685800" y="4142232"/>
            <a:ext cx="5181448" cy="0"/>
          </a:xfrm>
          <a:prstGeom prst="line">
            <a:avLst/>
          </a:prstGeom>
          <a:noFill/>
          <a:ln w="12700">
            <a:solidFill>
              <a:srgbClr val="FAF8F4"/>
            </a:solidFill>
            <a:prstDash val="solid"/>
          </a:ln>
        </p:spPr>
      </p:sp>
      <p:sp>
        <p:nvSpPr>
          <p:cNvPr id="34" name="implantação subtotal"/>
          <p:cNvSpPr txBox="1"/>
          <p:nvPr/>
        </p:nvSpPr>
        <p:spPr>
          <a:xfrm>
            <a:off x="685800" y="4197096"/>
            <a:ext cx="2109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Subtotal</a:t>
            </a:r>
            <a:endParaRPr lang="en-US" sz="1300" dirty="0"/>
          </a:p>
        </p:txBody>
      </p:sp>
      <p:sp>
        <p:nvSpPr>
          <p:cNvPr id="35" name="implantação subtotal 1"/>
          <p:cNvSpPr txBox="1"/>
          <p:nvPr/>
        </p:nvSpPr>
        <p:spPr>
          <a:xfrm>
            <a:off x="2794864" y="41970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R$ 16.000</a:t>
            </a:r>
            <a:endParaRPr lang="en-US" sz="1200" dirty="0"/>
          </a:p>
        </p:txBody>
      </p:sp>
      <p:sp>
        <p:nvSpPr>
          <p:cNvPr id="36" name="implantação subtotal 2"/>
          <p:cNvSpPr txBox="1"/>
          <p:nvPr/>
        </p:nvSpPr>
        <p:spPr>
          <a:xfrm>
            <a:off x="3818992" y="41970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R$ 12.000</a:t>
            </a:r>
            <a:endParaRPr lang="en-US" sz="1200" dirty="0"/>
          </a:p>
        </p:txBody>
      </p:sp>
      <p:sp>
        <p:nvSpPr>
          <p:cNvPr id="37" name="implantação subtotal 3"/>
          <p:cNvSpPr txBox="1"/>
          <p:nvPr/>
        </p:nvSpPr>
        <p:spPr>
          <a:xfrm>
            <a:off x="4843120" y="41970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R$ 6.600</a:t>
            </a:r>
            <a:endParaRPr lang="en-US" sz="1200" dirty="0"/>
          </a:p>
        </p:txBody>
      </p:sp>
      <p:sp>
        <p:nvSpPr>
          <p:cNvPr id="38" name="mensal título"/>
          <p:cNvSpPr txBox="1"/>
          <p:nvPr/>
        </p:nvSpPr>
        <p:spPr>
          <a:xfrm>
            <a:off x="6324448" y="1965960"/>
            <a:ext cx="2109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MENSAL</a:t>
            </a:r>
            <a:endParaRPr lang="en-US" sz="1000" dirty="0"/>
          </a:p>
        </p:txBody>
      </p:sp>
      <p:sp>
        <p:nvSpPr>
          <p:cNvPr id="39" name="mensal coluna 1"/>
          <p:cNvSpPr txBox="1"/>
          <p:nvPr/>
        </p:nvSpPr>
        <p:spPr>
          <a:xfrm>
            <a:off x="8433511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AVULSO</a:t>
            </a:r>
            <a:endParaRPr lang="en-US" sz="1000" dirty="0"/>
          </a:p>
        </p:txBody>
      </p:sp>
      <p:sp>
        <p:nvSpPr>
          <p:cNvPr id="40" name="mensal coluna 2"/>
          <p:cNvSpPr txBox="1"/>
          <p:nvPr/>
        </p:nvSpPr>
        <p:spPr>
          <a:xfrm>
            <a:off x="9457639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PACOTE</a:t>
            </a:r>
            <a:endParaRPr lang="en-US" sz="1000" dirty="0"/>
          </a:p>
        </p:txBody>
      </p:sp>
      <p:sp>
        <p:nvSpPr>
          <p:cNvPr id="41" name="mensal coluna 3"/>
          <p:cNvSpPr txBox="1"/>
          <p:nvPr/>
        </p:nvSpPr>
        <p:spPr>
          <a:xfrm>
            <a:off x="10481767" y="19659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PARA VOCÊ</a:t>
            </a:r>
            <a:endParaRPr lang="en-US" sz="1000" dirty="0"/>
          </a:p>
        </p:txBody>
      </p:sp>
      <p:sp>
        <p:nvSpPr>
          <p:cNvPr id="42" name="mensal linha 1"/>
          <p:cNvSpPr/>
          <p:nvPr/>
        </p:nvSpPr>
        <p:spPr>
          <a:xfrm>
            <a:off x="6324448" y="231343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43" name="mensal item 1"/>
          <p:cNvSpPr txBox="1"/>
          <p:nvPr/>
        </p:nvSpPr>
        <p:spPr>
          <a:xfrm>
            <a:off x="6324448" y="235000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Gravações de Vlogcast</a:t>
            </a:r>
            <a:endParaRPr lang="en-US" sz="1300" dirty="0"/>
          </a:p>
        </p:txBody>
      </p:sp>
      <p:sp>
        <p:nvSpPr>
          <p:cNvPr id="44" name="mensal valor 1.1"/>
          <p:cNvSpPr txBox="1"/>
          <p:nvPr/>
        </p:nvSpPr>
        <p:spPr>
          <a:xfrm>
            <a:off x="8433511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R$ 4.000</a:t>
            </a:r>
            <a:endParaRPr lang="en-US" sz="1100" dirty="0"/>
          </a:p>
        </p:txBody>
      </p:sp>
      <p:sp>
        <p:nvSpPr>
          <p:cNvPr id="45" name="mensal valor 1.2"/>
          <p:cNvSpPr txBox="1"/>
          <p:nvPr/>
        </p:nvSpPr>
        <p:spPr>
          <a:xfrm>
            <a:off x="9457639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46" name="mensal valor 1.3"/>
          <p:cNvSpPr txBox="1"/>
          <p:nvPr/>
        </p:nvSpPr>
        <p:spPr>
          <a:xfrm>
            <a:off x="10481767" y="23500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R$ 1.600</a:t>
            </a:r>
            <a:endParaRPr lang="en-US" sz="1100" dirty="0"/>
          </a:p>
        </p:txBody>
      </p:sp>
      <p:sp>
        <p:nvSpPr>
          <p:cNvPr id="47" name="mensal linha 2"/>
          <p:cNvSpPr/>
          <p:nvPr/>
        </p:nvSpPr>
        <p:spPr>
          <a:xfrm>
            <a:off x="6324448" y="267919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48" name="mensal item 2"/>
          <p:cNvSpPr txBox="1"/>
          <p:nvPr/>
        </p:nvSpPr>
        <p:spPr>
          <a:xfrm>
            <a:off x="6324448" y="271576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Edição de 12 reels</a:t>
            </a:r>
            <a:endParaRPr lang="en-US" sz="1300" dirty="0"/>
          </a:p>
        </p:txBody>
      </p:sp>
      <p:sp>
        <p:nvSpPr>
          <p:cNvPr id="49" name="mensal valor 2.1"/>
          <p:cNvSpPr txBox="1"/>
          <p:nvPr/>
        </p:nvSpPr>
        <p:spPr>
          <a:xfrm>
            <a:off x="8433511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R$ 4.200</a:t>
            </a:r>
            <a:endParaRPr lang="en-US" sz="1100" dirty="0"/>
          </a:p>
        </p:txBody>
      </p:sp>
      <p:sp>
        <p:nvSpPr>
          <p:cNvPr id="50" name="mensal valor 2.2"/>
          <p:cNvSpPr txBox="1"/>
          <p:nvPr/>
        </p:nvSpPr>
        <p:spPr>
          <a:xfrm>
            <a:off x="9457639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R$ 3.000</a:t>
            </a:r>
            <a:endParaRPr lang="en-US" sz="1100" dirty="0"/>
          </a:p>
        </p:txBody>
      </p:sp>
      <p:sp>
        <p:nvSpPr>
          <p:cNvPr id="51" name="mensal valor 2.3"/>
          <p:cNvSpPr txBox="1"/>
          <p:nvPr/>
        </p:nvSpPr>
        <p:spPr>
          <a:xfrm>
            <a:off x="10481767" y="271576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R$ 1.600</a:t>
            </a:r>
            <a:endParaRPr lang="en-US" sz="1100" dirty="0"/>
          </a:p>
        </p:txBody>
      </p:sp>
      <p:sp>
        <p:nvSpPr>
          <p:cNvPr id="52" name="mensal linha 3"/>
          <p:cNvSpPr/>
          <p:nvPr/>
        </p:nvSpPr>
        <p:spPr>
          <a:xfrm>
            <a:off x="6324448" y="304495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53" name="mensal item 3"/>
          <p:cNvSpPr txBox="1"/>
          <p:nvPr/>
        </p:nvSpPr>
        <p:spPr>
          <a:xfrm>
            <a:off x="6324448" y="308152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carrosséis</a:t>
            </a:r>
            <a:endParaRPr lang="en-US" sz="1300" dirty="0"/>
          </a:p>
        </p:txBody>
      </p:sp>
      <p:sp>
        <p:nvSpPr>
          <p:cNvPr id="54" name="mensal valor 3.1"/>
          <p:cNvSpPr txBox="1"/>
          <p:nvPr/>
        </p:nvSpPr>
        <p:spPr>
          <a:xfrm>
            <a:off x="8433511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R$ 2.400</a:t>
            </a:r>
            <a:endParaRPr lang="en-US" sz="1100" dirty="0"/>
          </a:p>
        </p:txBody>
      </p:sp>
      <p:sp>
        <p:nvSpPr>
          <p:cNvPr id="55" name="mensal valor 3.2"/>
          <p:cNvSpPr txBox="1"/>
          <p:nvPr/>
        </p:nvSpPr>
        <p:spPr>
          <a:xfrm>
            <a:off x="9457639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56" name="mensal valor 3.3"/>
          <p:cNvSpPr txBox="1"/>
          <p:nvPr/>
        </p:nvSpPr>
        <p:spPr>
          <a:xfrm>
            <a:off x="10481767" y="30815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R$ 1.070</a:t>
            </a:r>
            <a:endParaRPr lang="en-US" sz="1100" dirty="0"/>
          </a:p>
        </p:txBody>
      </p:sp>
      <p:sp>
        <p:nvSpPr>
          <p:cNvPr id="57" name="mensal linha 4"/>
          <p:cNvSpPr/>
          <p:nvPr/>
        </p:nvSpPr>
        <p:spPr>
          <a:xfrm>
            <a:off x="6324448" y="341071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58" name="mensal item 4"/>
          <p:cNvSpPr txBox="1"/>
          <p:nvPr/>
        </p:nvSpPr>
        <p:spPr>
          <a:xfrm>
            <a:off x="6324448" y="344728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posts no LinkedIn</a:t>
            </a:r>
            <a:endParaRPr lang="en-US" sz="1300" dirty="0"/>
          </a:p>
        </p:txBody>
      </p:sp>
      <p:sp>
        <p:nvSpPr>
          <p:cNvPr id="59" name="mensal valor 4.1"/>
          <p:cNvSpPr txBox="1"/>
          <p:nvPr/>
        </p:nvSpPr>
        <p:spPr>
          <a:xfrm>
            <a:off x="8433511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R$ 1.400</a:t>
            </a:r>
            <a:endParaRPr lang="en-US" sz="1100" dirty="0"/>
          </a:p>
        </p:txBody>
      </p:sp>
      <p:sp>
        <p:nvSpPr>
          <p:cNvPr id="60" name="mensal valor 4.2"/>
          <p:cNvSpPr txBox="1"/>
          <p:nvPr/>
        </p:nvSpPr>
        <p:spPr>
          <a:xfrm>
            <a:off x="9457639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R$ 1.000</a:t>
            </a:r>
            <a:endParaRPr lang="en-US" sz="1100" dirty="0"/>
          </a:p>
        </p:txBody>
      </p:sp>
      <p:sp>
        <p:nvSpPr>
          <p:cNvPr id="61" name="mensal valor 4.3"/>
          <p:cNvSpPr txBox="1"/>
          <p:nvPr/>
        </p:nvSpPr>
        <p:spPr>
          <a:xfrm>
            <a:off x="10481767" y="344728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R$ 530</a:t>
            </a:r>
            <a:endParaRPr lang="en-US" sz="1100" dirty="0"/>
          </a:p>
        </p:txBody>
      </p:sp>
      <p:sp>
        <p:nvSpPr>
          <p:cNvPr id="62" name="mensal linha 5"/>
          <p:cNvSpPr/>
          <p:nvPr/>
        </p:nvSpPr>
        <p:spPr>
          <a:xfrm>
            <a:off x="6324448" y="377647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63" name="mensal item 5"/>
          <p:cNvSpPr txBox="1"/>
          <p:nvPr/>
        </p:nvSpPr>
        <p:spPr>
          <a:xfrm>
            <a:off x="6324448" y="381304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Pautas e roteiros</a:t>
            </a:r>
            <a:endParaRPr lang="en-US" sz="1300" dirty="0"/>
          </a:p>
        </p:txBody>
      </p:sp>
      <p:sp>
        <p:nvSpPr>
          <p:cNvPr id="64" name="mensal valor 5.1"/>
          <p:cNvSpPr txBox="1"/>
          <p:nvPr/>
        </p:nvSpPr>
        <p:spPr>
          <a:xfrm>
            <a:off x="8433511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R$ 1.400</a:t>
            </a:r>
            <a:endParaRPr lang="en-US" sz="1100" dirty="0"/>
          </a:p>
        </p:txBody>
      </p:sp>
      <p:sp>
        <p:nvSpPr>
          <p:cNvPr id="65" name="mensal valor 5.2"/>
          <p:cNvSpPr txBox="1"/>
          <p:nvPr/>
        </p:nvSpPr>
        <p:spPr>
          <a:xfrm>
            <a:off x="9457639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R$ 1.000</a:t>
            </a:r>
            <a:endParaRPr lang="en-US" sz="1100" dirty="0"/>
          </a:p>
        </p:txBody>
      </p:sp>
      <p:sp>
        <p:nvSpPr>
          <p:cNvPr id="66" name="mensal valor 5.3"/>
          <p:cNvSpPr txBox="1"/>
          <p:nvPr/>
        </p:nvSpPr>
        <p:spPr>
          <a:xfrm>
            <a:off x="10481767" y="381304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R$ 530</a:t>
            </a:r>
            <a:endParaRPr lang="en-US" sz="1100" dirty="0"/>
          </a:p>
        </p:txBody>
      </p:sp>
      <p:sp>
        <p:nvSpPr>
          <p:cNvPr id="67" name="mensal linha 6"/>
          <p:cNvSpPr/>
          <p:nvPr/>
        </p:nvSpPr>
        <p:spPr>
          <a:xfrm>
            <a:off x="6324448" y="4142232"/>
            <a:ext cx="5181448" cy="0"/>
          </a:xfrm>
          <a:prstGeom prst="line">
            <a:avLst/>
          </a:prstGeom>
          <a:noFill/>
          <a:ln w="9525">
            <a:solidFill>
              <a:srgbClr val="59625A"/>
            </a:solidFill>
            <a:prstDash val="solid"/>
          </a:ln>
        </p:spPr>
      </p:sp>
      <p:sp>
        <p:nvSpPr>
          <p:cNvPr id="68" name="mensal item 6"/>
          <p:cNvSpPr txBox="1"/>
          <p:nvPr/>
        </p:nvSpPr>
        <p:spPr>
          <a:xfrm>
            <a:off x="6324448" y="4178808"/>
            <a:ext cx="2109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Gestão, relatório e reuniões</a:t>
            </a:r>
            <a:endParaRPr lang="en-US" sz="1300" dirty="0"/>
          </a:p>
        </p:txBody>
      </p:sp>
      <p:sp>
        <p:nvSpPr>
          <p:cNvPr id="69" name="mensal valor 6.1"/>
          <p:cNvSpPr txBox="1"/>
          <p:nvPr/>
        </p:nvSpPr>
        <p:spPr>
          <a:xfrm>
            <a:off x="8433511" y="41788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R$ 2.600</a:t>
            </a:r>
            <a:endParaRPr lang="en-US" sz="1100" dirty="0"/>
          </a:p>
        </p:txBody>
      </p:sp>
      <p:sp>
        <p:nvSpPr>
          <p:cNvPr id="70" name="mensal valor 6.2"/>
          <p:cNvSpPr txBox="1"/>
          <p:nvPr/>
        </p:nvSpPr>
        <p:spPr>
          <a:xfrm>
            <a:off x="9457639" y="41788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R$ 2.000</a:t>
            </a:r>
            <a:endParaRPr lang="en-US" sz="1100" dirty="0"/>
          </a:p>
        </p:txBody>
      </p:sp>
      <p:sp>
        <p:nvSpPr>
          <p:cNvPr id="71" name="mensal valor 6.3"/>
          <p:cNvSpPr txBox="1"/>
          <p:nvPr/>
        </p:nvSpPr>
        <p:spPr>
          <a:xfrm>
            <a:off x="10481767" y="41788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R$ 1.070</a:t>
            </a:r>
            <a:endParaRPr lang="en-US" sz="1100" dirty="0"/>
          </a:p>
        </p:txBody>
      </p:sp>
      <p:sp>
        <p:nvSpPr>
          <p:cNvPr id="72" name="mensal linha total"/>
          <p:cNvSpPr/>
          <p:nvPr/>
        </p:nvSpPr>
        <p:spPr>
          <a:xfrm>
            <a:off x="6324448" y="4507992"/>
            <a:ext cx="5181448" cy="0"/>
          </a:xfrm>
          <a:prstGeom prst="line">
            <a:avLst/>
          </a:prstGeom>
          <a:noFill/>
          <a:ln w="12700">
            <a:solidFill>
              <a:srgbClr val="FAF8F4"/>
            </a:solidFill>
            <a:prstDash val="solid"/>
          </a:ln>
        </p:spPr>
      </p:sp>
      <p:sp>
        <p:nvSpPr>
          <p:cNvPr id="73" name="mensal subtotal"/>
          <p:cNvSpPr txBox="1"/>
          <p:nvPr/>
        </p:nvSpPr>
        <p:spPr>
          <a:xfrm>
            <a:off x="6324448" y="4562856"/>
            <a:ext cx="2109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Subtotal por mês</a:t>
            </a:r>
            <a:endParaRPr lang="en-US" sz="1300" dirty="0"/>
          </a:p>
        </p:txBody>
      </p:sp>
      <p:sp>
        <p:nvSpPr>
          <p:cNvPr id="74" name="mensal subtotal 1"/>
          <p:cNvSpPr txBox="1"/>
          <p:nvPr/>
        </p:nvSpPr>
        <p:spPr>
          <a:xfrm>
            <a:off x="8433511" y="45628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R$ 16.000</a:t>
            </a:r>
            <a:endParaRPr lang="en-US" sz="1200" dirty="0"/>
          </a:p>
        </p:txBody>
      </p:sp>
      <p:sp>
        <p:nvSpPr>
          <p:cNvPr id="75" name="mensal subtotal 2"/>
          <p:cNvSpPr txBox="1"/>
          <p:nvPr/>
        </p:nvSpPr>
        <p:spPr>
          <a:xfrm>
            <a:off x="9457639" y="45628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trike="sngStrike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R$ 12.000</a:t>
            </a:r>
            <a:endParaRPr lang="en-US" sz="1200" dirty="0"/>
          </a:p>
        </p:txBody>
      </p:sp>
      <p:sp>
        <p:nvSpPr>
          <p:cNvPr id="76" name="mensal subtotal 3"/>
          <p:cNvSpPr txBox="1"/>
          <p:nvPr/>
        </p:nvSpPr>
        <p:spPr>
          <a:xfrm>
            <a:off x="10481767" y="456285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R$ 6.400</a:t>
            </a:r>
            <a:endParaRPr lang="en-US" sz="1200" dirty="0"/>
          </a:p>
        </p:txBody>
      </p:sp>
      <p:sp>
        <p:nvSpPr>
          <p:cNvPr id="77" name="Faixa total especial"/>
          <p:cNvSpPr/>
          <p:nvPr/>
        </p:nvSpPr>
        <p:spPr>
          <a:xfrm>
            <a:off x="685800" y="5120640"/>
            <a:ext cx="9631375" cy="100584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8" name="Total especial"/>
          <p:cNvSpPr txBox="1"/>
          <p:nvPr/>
        </p:nvSpPr>
        <p:spPr>
          <a:xfrm>
            <a:off x="1005840" y="5120640"/>
            <a:ext cx="899129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CICLO DE 6 MESES  </a:t>
            </a:r>
            <a:pPr indent="0" marL="0">
              <a:buNone/>
            </a:pPr>
            <a:r>
              <a:rPr lang="en-US" sz="1300" strike="sngStrike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R$ 112.000   R$ 84.000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   para você  </a:t>
            </a:r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R$ 45.000</a:t>
            </a:r>
            <a:endParaRPr lang="en-US" sz="1100" dirty="0"/>
          </a:p>
        </p:txBody>
      </p:sp>
      <p:sp>
        <p:nvSpPr>
          <p:cNvPr id="79" name="Parcelas especial"/>
          <p:cNvSpPr txBox="1"/>
          <p:nvPr/>
        </p:nvSpPr>
        <p:spPr>
          <a:xfrm>
            <a:off x="1005840" y="5715000"/>
            <a:ext cx="8991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IMPLANTAÇÃO EM 3X DE R$ 2.200  ·  MESES 1–3: R$ 8.600/MÊS  ·  MESES 4–6: R$ 6.400/MÊS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 · COMBINADOS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spc="-60" kern="0" dirty="0">
                <a:solidFill>
                  <a:schemeClr val="tx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O que fica de fora e pode ser contratado à parte.</a:t>
            </a:r>
            <a:endParaRPr lang="en-US" sz="3400" dirty="0"/>
          </a:p>
        </p:txBody>
      </p:sp>
      <p:sp>
        <p:nvSpPr>
          <p:cNvPr id="4" name="Fora 1 cartão"/>
          <p:cNvSpPr/>
          <p:nvPr/>
        </p:nvSpPr>
        <p:spPr>
          <a:xfrm>
            <a:off x="685800" y="1965960"/>
            <a:ext cx="345429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Fora 1 ponto"/>
          <p:cNvSpPr/>
          <p:nvPr/>
        </p:nvSpPr>
        <p:spPr>
          <a:xfrm>
            <a:off x="941832" y="2231136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Fora 1 nome"/>
          <p:cNvSpPr txBox="1"/>
          <p:nvPr/>
        </p:nvSpPr>
        <p:spPr>
          <a:xfrm>
            <a:off x="1161288" y="2167128"/>
            <a:ext cx="276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PRODUÇÃO</a:t>
            </a:r>
            <a:endParaRPr lang="en-US" sz="1000" dirty="0"/>
          </a:p>
        </p:txBody>
      </p:sp>
      <p:sp>
        <p:nvSpPr>
          <p:cNvPr id="7" name="Fora 1 texto"/>
          <p:cNvSpPr txBox="1"/>
          <p:nvPr/>
        </p:nvSpPr>
        <p:spPr>
          <a:xfrm>
            <a:off x="941832" y="2468880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Tráfego pago · deslocamento fora da Grande SP · locação, maquiagem e figurino · modelos, drone e equipe extra · vídeos longos e eventos</a:t>
            </a:r>
            <a:endParaRPr lang="en-US" sz="1300" dirty="0"/>
          </a:p>
        </p:txBody>
      </p:sp>
      <p:sp>
        <p:nvSpPr>
          <p:cNvPr id="8" name="Fora 2 cartão"/>
          <p:cNvSpPr/>
          <p:nvPr/>
        </p:nvSpPr>
        <p:spPr>
          <a:xfrm>
            <a:off x="4368698" y="1965960"/>
            <a:ext cx="345429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Fora 2 ponto"/>
          <p:cNvSpPr/>
          <p:nvPr/>
        </p:nvSpPr>
        <p:spPr>
          <a:xfrm>
            <a:off x="4624730" y="2231136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Fora 2 nome"/>
          <p:cNvSpPr txBox="1"/>
          <p:nvPr/>
        </p:nvSpPr>
        <p:spPr>
          <a:xfrm>
            <a:off x="4844186" y="2167128"/>
            <a:ext cx="276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GESTÃO E CANAIS</a:t>
            </a:r>
            <a:endParaRPr lang="en-US" sz="1000" dirty="0"/>
          </a:p>
        </p:txBody>
      </p:sp>
      <p:sp>
        <p:nvSpPr>
          <p:cNvPr id="11" name="Fora 2 texto"/>
          <p:cNvSpPr txBox="1"/>
          <p:nvPr/>
        </p:nvSpPr>
        <p:spPr>
          <a:xfrm>
            <a:off x="4624730" y="2468880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Responder comentários e DMs (fica com você, para manter sua voz real) · stories do dia a dia · outras redes · e-mail marketing</a:t>
            </a:r>
            <a:endParaRPr lang="en-US" sz="1300" dirty="0"/>
          </a:p>
        </p:txBody>
      </p:sp>
      <p:sp>
        <p:nvSpPr>
          <p:cNvPr id="12" name="Fora 3 cartão"/>
          <p:cNvSpPr/>
          <p:nvPr/>
        </p:nvSpPr>
        <p:spPr>
          <a:xfrm>
            <a:off x="8051597" y="1965960"/>
            <a:ext cx="345429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Fora 3 ponto"/>
          <p:cNvSpPr/>
          <p:nvPr/>
        </p:nvSpPr>
        <p:spPr>
          <a:xfrm>
            <a:off x="8307629" y="2231136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Fora 3 nome"/>
          <p:cNvSpPr txBox="1"/>
          <p:nvPr/>
        </p:nvSpPr>
        <p:spPr>
          <a:xfrm>
            <a:off x="8527085" y="2167128"/>
            <a:ext cx="276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COMUNICAÇÃO</a:t>
            </a:r>
            <a:endParaRPr lang="en-US" sz="1000" dirty="0"/>
          </a:p>
        </p:txBody>
      </p:sp>
      <p:sp>
        <p:nvSpPr>
          <p:cNvPr id="15" name="Fora 3 texto"/>
          <p:cNvSpPr txBox="1"/>
          <p:nvPr/>
        </p:nvSpPr>
        <p:spPr>
          <a:xfrm>
            <a:off x="8307629" y="2468880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Assessoria de imprensa · parcerias com influenciadores · tradução e outros idiomas · trilhas licenciadas pagas</a:t>
            </a:r>
            <a:endParaRPr lang="en-US" sz="1300" dirty="0"/>
          </a:p>
        </p:txBody>
      </p:sp>
      <p:sp>
        <p:nvSpPr>
          <p:cNvPr id="16" name="Fora 4 cartão"/>
          <p:cNvSpPr/>
          <p:nvPr/>
        </p:nvSpPr>
        <p:spPr>
          <a:xfrm>
            <a:off x="685800" y="3776472"/>
            <a:ext cx="345429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Fora 4 ponto"/>
          <p:cNvSpPr/>
          <p:nvPr/>
        </p:nvSpPr>
        <p:spPr>
          <a:xfrm>
            <a:off x="941832" y="4041648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Fora 4 nome"/>
          <p:cNvSpPr txBox="1"/>
          <p:nvPr/>
        </p:nvSpPr>
        <p:spPr>
          <a:xfrm>
            <a:off x="1161288" y="3977640"/>
            <a:ext cx="276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SITE</a:t>
            </a:r>
            <a:endParaRPr lang="en-US" sz="1000" dirty="0"/>
          </a:p>
        </p:txBody>
      </p:sp>
      <p:sp>
        <p:nvSpPr>
          <p:cNvPr id="19" name="Fora 4 texto"/>
          <p:cNvSpPr txBox="1"/>
          <p:nvPr/>
        </p:nvSpPr>
        <p:spPr>
          <a:xfrm>
            <a:off x="941832" y="427939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Site com várias páginas, blog ou loja · domínio, hospedagem e manutenção</a:t>
            </a:r>
            <a:endParaRPr lang="en-US" sz="1300" dirty="0"/>
          </a:p>
        </p:txBody>
      </p:sp>
      <p:sp>
        <p:nvSpPr>
          <p:cNvPr id="20" name="Fora 5 cartão"/>
          <p:cNvSpPr/>
          <p:nvPr/>
        </p:nvSpPr>
        <p:spPr>
          <a:xfrm>
            <a:off x="4368698" y="3776472"/>
            <a:ext cx="345429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Fora 5 ponto"/>
          <p:cNvSpPr/>
          <p:nvPr/>
        </p:nvSpPr>
        <p:spPr>
          <a:xfrm>
            <a:off x="4624730" y="4041648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Fora 5 nome"/>
          <p:cNvSpPr txBox="1"/>
          <p:nvPr/>
        </p:nvSpPr>
        <p:spPr>
          <a:xfrm>
            <a:off x="4844186" y="3977640"/>
            <a:ext cx="276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MARCA E JURÍDICO</a:t>
            </a:r>
            <a:endParaRPr lang="en-US" sz="1000" dirty="0"/>
          </a:p>
        </p:txBody>
      </p:sp>
      <p:sp>
        <p:nvSpPr>
          <p:cNvPr id="23" name="Fora 5 texto"/>
          <p:cNvSpPr txBox="1"/>
          <p:nvPr/>
        </p:nvSpPr>
        <p:spPr>
          <a:xfrm>
            <a:off x="4624730" y="427939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Criação de logotipo · registro no INPI · revisão jurídica e compliance · autorização de imagem de terceiros</a:t>
            </a:r>
            <a:endParaRPr lang="en-US" sz="1300" dirty="0"/>
          </a:p>
        </p:txBody>
      </p:sp>
      <p:sp>
        <p:nvSpPr>
          <p:cNvPr id="24" name="Fora 6 cartão"/>
          <p:cNvSpPr/>
          <p:nvPr/>
        </p:nvSpPr>
        <p:spPr>
          <a:xfrm>
            <a:off x="8051597" y="3776472"/>
            <a:ext cx="345429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Fora 6 ponto"/>
          <p:cNvSpPr/>
          <p:nvPr/>
        </p:nvSpPr>
        <p:spPr>
          <a:xfrm>
            <a:off x="8307629" y="4041648"/>
            <a:ext cx="128016" cy="12801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Fora 6 nome"/>
          <p:cNvSpPr txBox="1"/>
          <p:nvPr/>
        </p:nvSpPr>
        <p:spPr>
          <a:xfrm>
            <a:off x="8527085" y="3977640"/>
            <a:ext cx="2768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27" name="Fora 6 texto"/>
          <p:cNvSpPr txBox="1"/>
          <p:nvPr/>
        </p:nvSpPr>
        <p:spPr>
          <a:xfrm>
            <a:off x="8307629" y="427939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chemeClr val="tx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Não garantimos seguidores, views ou vendas: garantimos método, qualidade e constância. Nunca compramos seguidores.</a:t>
            </a:r>
            <a:endParaRPr lang="en-US" sz="1300" dirty="0"/>
          </a:p>
        </p:txBody>
      </p:sp>
      <p:sp>
        <p:nvSpPr>
          <p:cNvPr id="28" name="Rótulo combinados"/>
          <p:cNvSpPr txBox="1"/>
          <p:nvPr/>
        </p:nvSpPr>
        <p:spPr>
          <a:xfrm>
            <a:off x="685800" y="5532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COMO TRABALHAMOS</a:t>
            </a:r>
            <a:endParaRPr lang="en-US" sz="1000" dirty="0"/>
          </a:p>
        </p:txBody>
      </p:sp>
      <p:sp>
        <p:nvSpPr>
          <p:cNvPr id="29" name="Combinado 1 fundo"/>
          <p:cNvSpPr/>
          <p:nvPr/>
        </p:nvSpPr>
        <p:spPr>
          <a:xfrm>
            <a:off x="685800" y="5806440"/>
            <a:ext cx="1792224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30" name="Combinado 1"/>
          <p:cNvSpPr txBox="1"/>
          <p:nvPr/>
        </p:nvSpPr>
        <p:spPr>
          <a:xfrm>
            <a:off x="685800" y="580644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Ciclo de 6 meses</a:t>
            </a:r>
            <a:endParaRPr lang="en-US" sz="1100" dirty="0"/>
          </a:p>
        </p:txBody>
      </p:sp>
      <p:sp>
        <p:nvSpPr>
          <p:cNvPr id="31" name="Combinado 2 fundo"/>
          <p:cNvSpPr/>
          <p:nvPr/>
        </p:nvSpPr>
        <p:spPr>
          <a:xfrm>
            <a:off x="2754782" y="5806440"/>
            <a:ext cx="2336292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32" name="Combinado 2"/>
          <p:cNvSpPr txBox="1"/>
          <p:nvPr/>
        </p:nvSpPr>
        <p:spPr>
          <a:xfrm>
            <a:off x="2754782" y="5806440"/>
            <a:ext cx="2336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Até 2 rodadas de ajuste</a:t>
            </a:r>
            <a:endParaRPr lang="en-US" sz="1100" dirty="0"/>
          </a:p>
        </p:txBody>
      </p:sp>
      <p:sp>
        <p:nvSpPr>
          <p:cNvPr id="33" name="Combinado 3 fundo"/>
          <p:cNvSpPr/>
          <p:nvPr/>
        </p:nvSpPr>
        <p:spPr>
          <a:xfrm>
            <a:off x="5367833" y="5806440"/>
            <a:ext cx="2647188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34" name="Combinado 3"/>
          <p:cNvSpPr txBox="1"/>
          <p:nvPr/>
        </p:nvSpPr>
        <p:spPr>
          <a:xfrm>
            <a:off x="5367833" y="5806440"/>
            <a:ext cx="2647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Mínimos mensais sem acúmulo</a:t>
            </a:r>
            <a:endParaRPr lang="en-US" sz="1100" dirty="0"/>
          </a:p>
        </p:txBody>
      </p:sp>
      <p:sp>
        <p:nvSpPr>
          <p:cNvPr id="35" name="Combinado 4 fundo"/>
          <p:cNvSpPr/>
          <p:nvPr/>
        </p:nvSpPr>
        <p:spPr>
          <a:xfrm>
            <a:off x="8291779" y="5806440"/>
            <a:ext cx="2025396" cy="38404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36" name="Combinado 4"/>
          <p:cNvSpPr txBox="1"/>
          <p:nvPr/>
        </p:nvSpPr>
        <p:spPr>
          <a:xfrm>
            <a:off x="8291779" y="5806440"/>
            <a:ext cx="2025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Extras sob consulta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905256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 · PRÓXIMOS PASSOS</a:t>
            </a:r>
            <a:endParaRPr lang="en-US" sz="1100" dirty="0"/>
          </a:p>
        </p:txBody>
      </p:sp>
      <p:sp>
        <p:nvSpPr>
          <p:cNvPr id="3" name="Frase 1"/>
          <p:cNvSpPr txBox="1"/>
          <p:nvPr/>
        </p:nvSpPr>
        <p:spPr>
          <a:xfrm>
            <a:off x="685800" y="1280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chemeClr val="bg1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Você já tem a voz.</a:t>
            </a:r>
            <a:endParaRPr lang="en-US" sz="4600" dirty="0"/>
          </a:p>
        </p:txBody>
      </p:sp>
      <p:sp>
        <p:nvSpPr>
          <p:cNvPr id="4" name="Frase 2"/>
          <p:cNvSpPr txBox="1"/>
          <p:nvPr/>
        </p:nvSpPr>
        <p:spPr>
          <a:xfrm>
            <a:off x="685800" y="2103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 gente ajuda você a colocá-la no mundo.</a:t>
            </a:r>
            <a:endParaRPr lang="en-US" sz="2600" dirty="0"/>
          </a:p>
        </p:txBody>
      </p:sp>
      <p:sp>
        <p:nvSpPr>
          <p:cNvPr id="5" name="Passo 1"/>
          <p:cNvSpPr/>
          <p:nvPr/>
        </p:nvSpPr>
        <p:spPr>
          <a:xfrm>
            <a:off x="685800" y="3337560"/>
            <a:ext cx="475488" cy="4754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Passo 1 número"/>
          <p:cNvSpPr txBox="1"/>
          <p:nvPr/>
        </p:nvSpPr>
        <p:spPr>
          <a:xfrm>
            <a:off x="685800" y="3337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Passo 1 texto"/>
          <p:cNvSpPr txBox="1"/>
          <p:nvPr/>
        </p:nvSpPr>
        <p:spPr>
          <a:xfrm>
            <a:off x="1371600" y="32826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Aprovação da proposta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valida o escopo e a condição especial.</a:t>
            </a:r>
            <a:endParaRPr lang="en-US" sz="1600" dirty="0"/>
          </a:p>
        </p:txBody>
      </p:sp>
      <p:sp>
        <p:nvSpPr>
          <p:cNvPr id="8" name="Passo 2"/>
          <p:cNvSpPr/>
          <p:nvPr/>
        </p:nvSpPr>
        <p:spPr>
          <a:xfrm>
            <a:off x="685800" y="4114800"/>
            <a:ext cx="475488" cy="4754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Passo 2 número"/>
          <p:cNvSpPr txBox="1"/>
          <p:nvPr/>
        </p:nvSpPr>
        <p:spPr>
          <a:xfrm>
            <a:off x="685800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Passo 2 texto"/>
          <p:cNvSpPr txBox="1"/>
          <p:nvPr/>
        </p:nvSpPr>
        <p:spPr>
          <a:xfrm>
            <a:off x="1371600" y="40599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Assinatura do contrato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Formalizamos o ciclo de 6 meses.</a:t>
            </a:r>
            <a:endParaRPr lang="en-US" sz="1600" dirty="0"/>
          </a:p>
        </p:txBody>
      </p:sp>
      <p:sp>
        <p:nvSpPr>
          <p:cNvPr id="11" name="Passo 3"/>
          <p:cNvSpPr/>
          <p:nvPr/>
        </p:nvSpPr>
        <p:spPr>
          <a:xfrm>
            <a:off x="685800" y="4892040"/>
            <a:ext cx="475488" cy="475488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Passo 3 número"/>
          <p:cNvSpPr txBox="1"/>
          <p:nvPr/>
        </p:nvSpPr>
        <p:spPr>
          <a:xfrm>
            <a:off x="685800" y="4892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Passo 3 texto"/>
          <p:cNvSpPr txBox="1"/>
          <p:nvPr/>
        </p:nvSpPr>
        <p:spPr>
          <a:xfrm>
            <a:off x="1371600" y="48371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Diagnóstico e imersão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Agendamos o primeiro encontro presencial.</a:t>
            </a:r>
            <a:endParaRPr lang="en-US" sz="1600" dirty="0"/>
          </a:p>
        </p:txBody>
      </p:sp>
      <p:sp>
        <p:nvSpPr>
          <p:cNvPr id="14" name="Assinatura"/>
          <p:cNvSpPr txBox="1"/>
          <p:nvPr/>
        </p:nvSpPr>
        <p:spPr>
          <a:xfrm>
            <a:off x="685800" y="58978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DIOGO &amp; RAFAEL · MEOV MARCA PESSOAL · @MEOV.MP · MEOV.COM.BR</a:t>
            </a:r>
            <a:endParaRPr lang="en-US" sz="1000" dirty="0"/>
          </a:p>
        </p:txBody>
      </p:sp>
      <p:sp>
        <p:nvSpPr>
          <p:cNvPr id="15" name="Antes painel"/>
          <p:cNvSpPr/>
          <p:nvPr/>
        </p:nvSpPr>
        <p:spPr>
          <a:xfrm>
            <a:off x="6537960" y="1234440"/>
            <a:ext cx="2346808" cy="2788920"/>
          </a:xfrm>
          <a:prstGeom prst="roundRect">
            <a:avLst>
              <a:gd name="adj" fmla="val 6234"/>
            </a:avLst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sp>
        <p:nvSpPr>
          <p:cNvPr id="16" name="Antes pessoa corpo"/>
          <p:cNvSpPr/>
          <p:nvPr/>
        </p:nvSpPr>
        <p:spPr>
          <a:xfrm>
            <a:off x="7139864" y="3273552"/>
            <a:ext cx="1143000" cy="731520"/>
          </a:xfrm>
          <a:prstGeom prst="round2SameRect">
            <a:avLst>
              <a:gd name="adj" fmla="val 62500"/>
            </a:avLst>
          </a:prstGeom>
          <a:solidFill>
            <a:srgbClr val="59625A"/>
          </a:solidFill>
          <a:ln w="15875">
            <a:solidFill>
              <a:srgbClr val="D8DACD"/>
            </a:solidFill>
            <a:prstDash val="dash"/>
          </a:ln>
        </p:spPr>
      </p:sp>
      <p:sp>
        <p:nvSpPr>
          <p:cNvPr id="17" name="Antes pessoa cabeça"/>
          <p:cNvSpPr/>
          <p:nvPr/>
        </p:nvSpPr>
        <p:spPr>
          <a:xfrm>
            <a:off x="7427900" y="2633472"/>
            <a:ext cx="566928" cy="566928"/>
          </a:xfrm>
          <a:prstGeom prst="ellipse">
            <a:avLst/>
          </a:prstGeom>
          <a:solidFill>
            <a:srgbClr val="59625A"/>
          </a:solidFill>
          <a:ln w="15875">
            <a:solidFill>
              <a:srgbClr val="D8DACD"/>
            </a:solidFill>
            <a:prstDash val="dash"/>
          </a:ln>
        </p:spPr>
      </p:sp>
      <p:sp>
        <p:nvSpPr>
          <p:cNvPr id="18" name="Antes círculo"/>
          <p:cNvSpPr/>
          <p:nvPr/>
        </p:nvSpPr>
        <p:spPr>
          <a:xfrm>
            <a:off x="6842684" y="2048256"/>
            <a:ext cx="1737360" cy="1737360"/>
          </a:xfrm>
          <a:prstGeom prst="ellipse">
            <a:avLst/>
          </a:prstGeom>
          <a:solidFill>
            <a:srgbClr val="59625A">
              <a:alpha val="0"/>
            </a:srgbClr>
          </a:solidFill>
          <a:ln w="9525">
            <a:solidFill>
              <a:srgbClr val="D8DACD"/>
            </a:solidFill>
            <a:prstDash val="sysDot"/>
          </a:ln>
        </p:spPr>
      </p:sp>
      <p:sp>
        <p:nvSpPr>
          <p:cNvPr id="19" name="Antes público 1"/>
          <p:cNvSpPr/>
          <p:nvPr/>
        </p:nvSpPr>
        <p:spPr>
          <a:xfrm>
            <a:off x="6766560" y="1508760"/>
            <a:ext cx="128016" cy="128016"/>
          </a:xfrm>
          <a:prstGeom prst="ellipse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20" name="Antes público 2"/>
          <p:cNvSpPr/>
          <p:nvPr/>
        </p:nvSpPr>
        <p:spPr>
          <a:xfrm>
            <a:off x="7040880" y="1435608"/>
            <a:ext cx="128016" cy="128016"/>
          </a:xfrm>
          <a:prstGeom prst="ellipse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21" name="Antes público 3"/>
          <p:cNvSpPr/>
          <p:nvPr/>
        </p:nvSpPr>
        <p:spPr>
          <a:xfrm>
            <a:off x="8412480" y="1490472"/>
            <a:ext cx="128016" cy="128016"/>
          </a:xfrm>
          <a:prstGeom prst="ellipse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22" name="Antes público 4"/>
          <p:cNvSpPr/>
          <p:nvPr/>
        </p:nvSpPr>
        <p:spPr>
          <a:xfrm>
            <a:off x="8595360" y="1801368"/>
            <a:ext cx="128016" cy="128016"/>
          </a:xfrm>
          <a:prstGeom prst="ellipse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23" name="Antes público 5"/>
          <p:cNvSpPr/>
          <p:nvPr/>
        </p:nvSpPr>
        <p:spPr>
          <a:xfrm>
            <a:off x="6720840" y="2103120"/>
            <a:ext cx="128016" cy="128016"/>
          </a:xfrm>
          <a:prstGeom prst="ellipse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24" name="Antes público 6"/>
          <p:cNvSpPr/>
          <p:nvPr/>
        </p:nvSpPr>
        <p:spPr>
          <a:xfrm>
            <a:off x="8549640" y="2377440"/>
            <a:ext cx="128016" cy="128016"/>
          </a:xfrm>
          <a:prstGeom prst="ellipse">
            <a:avLst/>
          </a:prstGeom>
          <a:solidFill>
            <a:srgbClr val="1C211E"/>
          </a:solidFill>
          <a:ln w="12700">
            <a:solidFill>
              <a:srgbClr val="1C211E"/>
            </a:solidFill>
            <a:prstDash val="solid"/>
          </a:ln>
        </p:spPr>
      </p:sp>
      <p:sp>
        <p:nvSpPr>
          <p:cNvPr id="25" name="Antes rótulo"/>
          <p:cNvSpPr txBox="1"/>
          <p:nvPr/>
        </p:nvSpPr>
        <p:spPr>
          <a:xfrm>
            <a:off x="6537960" y="4206240"/>
            <a:ext cx="2346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bg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ANTES</a:t>
            </a:r>
            <a:endParaRPr lang="en-US" sz="1000" dirty="0"/>
          </a:p>
        </p:txBody>
      </p:sp>
      <p:sp>
        <p:nvSpPr>
          <p:cNvPr id="26" name="Antes texto"/>
          <p:cNvSpPr txBox="1"/>
          <p:nvPr/>
        </p:nvSpPr>
        <p:spPr>
          <a:xfrm>
            <a:off x="6537960" y="4480560"/>
            <a:ext cx="2346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Reputação forte, mas restrita ao seu círculo. Quem precisa da sua experiência ainda não sabe que você existe.</a:t>
            </a:r>
            <a:endParaRPr lang="en-US" sz="1200" dirty="0"/>
          </a:p>
        </p:txBody>
      </p:sp>
      <p:sp>
        <p:nvSpPr>
          <p:cNvPr id="27" name="Depois painel"/>
          <p:cNvSpPr/>
          <p:nvPr/>
        </p:nvSpPr>
        <p:spPr>
          <a:xfrm>
            <a:off x="9159088" y="1234440"/>
            <a:ext cx="2346808" cy="2788920"/>
          </a:xfrm>
          <a:prstGeom prst="roundRect">
            <a:avLst>
              <a:gd name="adj" fmla="val 6234"/>
            </a:avLst>
          </a:prstGeom>
          <a:solidFill>
            <a:srgbClr val="59625A"/>
          </a:solidFill>
          <a:ln w="12700">
            <a:solidFill>
              <a:srgbClr val="59625A"/>
            </a:solidFill>
            <a:prstDash val="solid"/>
          </a:ln>
        </p:spPr>
      </p:sp>
      <p:sp>
        <p:nvSpPr>
          <p:cNvPr id="28" name="Depois pessoa corpo"/>
          <p:cNvSpPr/>
          <p:nvPr/>
        </p:nvSpPr>
        <p:spPr>
          <a:xfrm>
            <a:off x="9760991" y="3273552"/>
            <a:ext cx="1143000" cy="731520"/>
          </a:xfrm>
          <a:prstGeom prst="round2SameRect">
            <a:avLst>
              <a:gd name="adj" fmla="val 62500"/>
            </a:avLst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29" name="Depois pessoa cabeça"/>
          <p:cNvSpPr/>
          <p:nvPr/>
        </p:nvSpPr>
        <p:spPr>
          <a:xfrm>
            <a:off x="10049027" y="2633472"/>
            <a:ext cx="566928" cy="566928"/>
          </a:xfrm>
          <a:prstGeom prst="ellipse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30" name="Depois onda 1.1"/>
          <p:cNvSpPr/>
          <p:nvPr/>
        </p:nvSpPr>
        <p:spPr>
          <a:xfrm>
            <a:off x="9765563" y="2350008"/>
            <a:ext cx="1133856" cy="1133856"/>
          </a:xfrm>
          <a:prstGeom prst="blockArc">
            <a:avLst>
              <a:gd name="adj1" fmla="val 18000000"/>
              <a:gd name="adj2" fmla="val 3600000"/>
              <a:gd name="adj3" fmla="val 4032"/>
            </a:avLst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sp>
        <p:nvSpPr>
          <p:cNvPr id="31" name="Depois onda 1.2"/>
          <p:cNvSpPr/>
          <p:nvPr/>
        </p:nvSpPr>
        <p:spPr>
          <a:xfrm>
            <a:off x="9765563" y="2350008"/>
            <a:ext cx="1133856" cy="1133856"/>
          </a:xfrm>
          <a:prstGeom prst="blockArc">
            <a:avLst>
              <a:gd name="adj1" fmla="val 7200000"/>
              <a:gd name="adj2" fmla="val 14400000"/>
              <a:gd name="adj3" fmla="val 4032"/>
            </a:avLst>
          </a:prstGeom>
          <a:solidFill>
            <a:srgbClr val="FF19B1"/>
          </a:solidFill>
          <a:ln w="12700">
            <a:solidFill>
              <a:srgbClr val="FF19B1"/>
            </a:solidFill>
            <a:prstDash val="solid"/>
          </a:ln>
        </p:spPr>
      </p:sp>
      <p:sp>
        <p:nvSpPr>
          <p:cNvPr id="32" name="Depois onda 2.1"/>
          <p:cNvSpPr/>
          <p:nvPr/>
        </p:nvSpPr>
        <p:spPr>
          <a:xfrm>
            <a:off x="9546107" y="2130552"/>
            <a:ext cx="1572768" cy="1572768"/>
          </a:xfrm>
          <a:prstGeom prst="blockArc">
            <a:avLst>
              <a:gd name="adj1" fmla="val 18000000"/>
              <a:gd name="adj2" fmla="val 3600000"/>
              <a:gd name="adj3" fmla="val 2907"/>
            </a:avLst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33" name="Depois onda 2.2"/>
          <p:cNvSpPr/>
          <p:nvPr/>
        </p:nvSpPr>
        <p:spPr>
          <a:xfrm>
            <a:off x="9546107" y="2130552"/>
            <a:ext cx="1572768" cy="1572768"/>
          </a:xfrm>
          <a:prstGeom prst="blockArc">
            <a:avLst>
              <a:gd name="adj1" fmla="val 7200000"/>
              <a:gd name="adj2" fmla="val 14400000"/>
              <a:gd name="adj3" fmla="val 2907"/>
            </a:avLst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34" name="Depois onda 3.1"/>
          <p:cNvSpPr/>
          <p:nvPr/>
        </p:nvSpPr>
        <p:spPr>
          <a:xfrm>
            <a:off x="9326651" y="1911096"/>
            <a:ext cx="2011680" cy="2011680"/>
          </a:xfrm>
          <a:prstGeom prst="blockArc">
            <a:avLst>
              <a:gd name="adj1" fmla="val 18000000"/>
              <a:gd name="adj2" fmla="val 3600000"/>
              <a:gd name="adj3" fmla="val 2273"/>
            </a:avLst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35" name="Depois onda 3.2"/>
          <p:cNvSpPr/>
          <p:nvPr/>
        </p:nvSpPr>
        <p:spPr>
          <a:xfrm>
            <a:off x="9326651" y="1911096"/>
            <a:ext cx="2011680" cy="2011680"/>
          </a:xfrm>
          <a:prstGeom prst="blockArc">
            <a:avLst>
              <a:gd name="adj1" fmla="val 7200000"/>
              <a:gd name="adj2" fmla="val 14400000"/>
              <a:gd name="adj3" fmla="val 2273"/>
            </a:avLst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36" name="Depois público 1"/>
          <p:cNvSpPr/>
          <p:nvPr/>
        </p:nvSpPr>
        <p:spPr>
          <a:xfrm>
            <a:off x="9323680" y="1463040"/>
            <a:ext cx="146304" cy="14630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37" name="Depois público 2"/>
          <p:cNvSpPr/>
          <p:nvPr/>
        </p:nvSpPr>
        <p:spPr>
          <a:xfrm>
            <a:off x="9707728" y="1371600"/>
            <a:ext cx="146304" cy="14630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38" name="Depois público 3"/>
          <p:cNvSpPr/>
          <p:nvPr/>
        </p:nvSpPr>
        <p:spPr>
          <a:xfrm>
            <a:off x="10896448" y="1371600"/>
            <a:ext cx="146304" cy="146304"/>
          </a:xfrm>
          <a:prstGeom prst="ellipse">
            <a:avLst/>
          </a:prstGeom>
          <a:solidFill>
            <a:srgbClr val="DBFF00"/>
          </a:solidFill>
          <a:ln w="12700">
            <a:solidFill>
              <a:srgbClr val="DBFF00"/>
            </a:solidFill>
            <a:prstDash val="solid"/>
          </a:ln>
        </p:spPr>
      </p:sp>
      <p:sp>
        <p:nvSpPr>
          <p:cNvPr id="39" name="Depois público 4"/>
          <p:cNvSpPr/>
          <p:nvPr/>
        </p:nvSpPr>
        <p:spPr>
          <a:xfrm>
            <a:off x="11262208" y="1508760"/>
            <a:ext cx="146304" cy="14630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40" name="Depois público 5"/>
          <p:cNvSpPr/>
          <p:nvPr/>
        </p:nvSpPr>
        <p:spPr>
          <a:xfrm>
            <a:off x="9268816" y="1920240"/>
            <a:ext cx="146304" cy="14630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41" name="Depois público 6"/>
          <p:cNvSpPr/>
          <p:nvPr/>
        </p:nvSpPr>
        <p:spPr>
          <a:xfrm>
            <a:off x="11307928" y="1965960"/>
            <a:ext cx="146304" cy="146304"/>
          </a:xfrm>
          <a:prstGeom prst="ellipse">
            <a:avLst/>
          </a:prstGeom>
          <a:solidFill>
            <a:srgbClr val="FAF8F4"/>
          </a:solidFill>
          <a:ln w="12700">
            <a:solidFill>
              <a:srgbClr val="FAF8F4"/>
            </a:solidFill>
            <a:prstDash val="solid"/>
          </a:ln>
        </p:spPr>
      </p:sp>
      <p:sp>
        <p:nvSpPr>
          <p:cNvPr id="42" name="Depois rótulo"/>
          <p:cNvSpPr txBox="1"/>
          <p:nvPr/>
        </p:nvSpPr>
        <p:spPr>
          <a:xfrm>
            <a:off x="9159088" y="4206240"/>
            <a:ext cx="2346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chemeClr val="accent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DEPOIS</a:t>
            </a:r>
            <a:endParaRPr lang="en-US" sz="1000" dirty="0"/>
          </a:p>
        </p:txBody>
      </p:sp>
      <p:sp>
        <p:nvSpPr>
          <p:cNvPr id="43" name="Depois texto"/>
          <p:cNvSpPr txBox="1"/>
          <p:nvPr/>
        </p:nvSpPr>
        <p:spPr>
          <a:xfrm>
            <a:off x="9159088" y="4480560"/>
            <a:ext cx="2346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história clara e constante, com voz própria, chegando a quem precisa de você e gerando conversas e negócios.</a:t>
            </a:r>
            <a:endParaRPr lang="en-US" sz="1200" dirty="0"/>
          </a:p>
        </p:txBody>
      </p:sp>
      <p:sp>
        <p:nvSpPr>
          <p:cNvPr id="44" name="Seta antes depois fundo"/>
          <p:cNvSpPr/>
          <p:nvPr/>
        </p:nvSpPr>
        <p:spPr>
          <a:xfrm>
            <a:off x="8811616" y="2418588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5" name="Seta antes depois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2565" y="2519538"/>
            <a:ext cx="218724" cy="218724"/>
          </a:xfrm>
          <a:prstGeom prst="rect">
            <a:avLst/>
          </a:prstGeom>
        </p:spPr>
      </p:pic>
      <p:sp>
        <p:nvSpPr>
          <p:cNvPr id="46" name="Text 1"/>
          <p:cNvSpPr/>
          <p:nvPr>
            <p:ph idx="104" type="title" hasCustomPrompt="1"/>
          </p:nvPr>
        </p:nvSpPr>
        <p:spPr>
          <a:xfrm>
            <a:off x="685800" y="114300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85800" y="3474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  <a:latin typeface="Geist Mono"/>
                <a:ea typeface="Geist Mono"/>
                <a:cs typeface="Geist Mon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tipo Meov" descr="Logotipo Me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528" y="2586875"/>
            <a:ext cx="5120640" cy="1044170"/>
          </a:xfrm>
          <a:prstGeom prst="rect">
            <a:avLst/>
          </a:prstGeom>
        </p:spPr>
      </p:pic>
      <p:sp>
        <p:nvSpPr>
          <p:cNvPr id="3" name="Agradecimento"/>
          <p:cNvSpPr txBox="1"/>
          <p:nvPr/>
        </p:nvSpPr>
        <p:spPr>
          <a:xfrm>
            <a:off x="0" y="4271125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obrigado.</a:t>
            </a:r>
            <a:endParaRPr lang="en-US" sz="1800" dirty="0"/>
          </a:p>
        </p:txBody>
      </p:sp>
      <p:sp>
        <p:nvSpPr>
          <p:cNvPr id="4" name="Contatos"/>
          <p:cNvSpPr txBox="1"/>
          <p:nvPr/>
        </p:nvSpPr>
        <p:spPr>
          <a:xfrm>
            <a:off x="0" y="6172200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@MEOV.MP · MEOV.COM.BR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ov MP">
  <a:themeElements>
    <a:clrScheme name="Meov MP">
      <a:dk1>
        <a:srgbClr val="1C211E"/>
      </a:dk1>
      <a:lt1>
        <a:srgbClr val="FAF8F4"/>
      </a:lt1>
      <a:dk2>
        <a:srgbClr val="59625A"/>
      </a:dk2>
      <a:lt2>
        <a:srgbClr val="D8DACD"/>
      </a:lt2>
      <a:accent1>
        <a:srgbClr val="FF19B1"/>
      </a:accent1>
      <a:accent2>
        <a:srgbClr val="DBFF00"/>
      </a:accent2>
      <a:accent3>
        <a:srgbClr val="D8DACD"/>
      </a:accent3>
      <a:accent4>
        <a:srgbClr val="59625A"/>
      </a:accent4>
      <a:accent5>
        <a:srgbClr val="1C211E"/>
      </a:accent5>
      <a:accent6>
        <a:srgbClr val="FFFFFF"/>
      </a:accent6>
      <a:hlink>
        <a:srgbClr val="FF19B1"/>
      </a:hlink>
      <a:folHlink>
        <a:srgbClr val="59625A"/>
      </a:folHlink>
    </a:clrScheme>
    <a:fontScheme name="Meov MP">
      <a:majorFont>
        <a:latin typeface="Manrope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Meov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marca Fernando Lohmann · Proposta Meov</dc:title>
  <dc:subject>PptxGenJS Presentation</dc:subject>
  <dc:creator>Diogo &amp;amp; Rafael | Meov Marca Pessoal</dc:creator>
  <cp:lastModifiedBy>Diogo &amp;amp; Rafael | Meov Marca Pessoal</cp:lastModifiedBy>
  <cp:revision>1</cp:revision>
  <dcterms:created xsi:type="dcterms:W3CDTF">2026-10-29T20:04:14Z</dcterms:created>
  <dcterms:modified xsi:type="dcterms:W3CDTF">2026-10-29T20:04:14Z</dcterms:modified>
</cp:coreProperties>
</file>