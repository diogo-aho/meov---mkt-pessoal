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050c588-5594-be1d-ade8-efab6838c063}">
          <p14:sldIdLst>
            <p14:sldId id="256"/>
            <p14:sldId id="257"/>
          </p14:sldIdLst>
        </p14:section>
        <p14:section name="A Meov" id="{9a9b5160-fe88-a397-689c-5ddb59d8354e}">
          <p14:sldIdLst>
            <p14:sldId id="258"/>
            <p14:sldId id="259"/>
            <p14:sldId id="260"/>
          </p14:sldIdLst>
        </p14:section>
        <p14:section name="Escopo" id="{6f21eba3-4f9d-edf3-0631-757e1f2b5057}">
          <p14:sldIdLst>
            <p14:sldId id="261"/>
            <p14:sldId id="262"/>
            <p14:sldId id="263"/>
            <p14:sldId id="264"/>
            <p14:sldId id="265"/>
          </p14:sldIdLst>
        </p14:section>
        <p14:section name="Investimento" id="{9b48579a-cdbe-d4d7-5e4c-7637fa18dcca}">
          <p14:sldIdLst>
            <p14:sldId id="266"/>
            <p14:sldId id="267"/>
          </p14:sldIdLst>
        </p14:section>
        <p14:section name="Combinados" id="{3fdea179-2181-f281-6ee1-850c60cedbb4}">
          <p14:sldIdLst>
            <p14:sldId id="268"/>
            <p14:sldId id="269"/>
          </p14:sldIdLst>
        </p14:section>
        <p14:section name="Encerramento" id="{8d1505ad-dea0-ecf8-81ec-2693b872de4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020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02020"/>
                </a:solidFill>
                <a:latin typeface="+mn-lt"/>
              </a:rPr>
              <a:t>gravações por mês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Incluído no plano</c:v>
                </c:pt>
              </c:strCache>
            </c:strRef>
          </c:tx>
          <c:spPr>
            <a:solidFill>
              <a:srgbClr val="4F5F6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mês 1</c:v>
                  </c:pt>
                  <c:pt idx="1">
                    <c:v>mês 2</c:v>
                  </c:pt>
                  <c:pt idx="2">
                    <c:v>mês 3</c:v>
                  </c:pt>
                  <c:pt idx="3">
                    <c:v>mês 4</c:v>
                  </c:pt>
                  <c:pt idx="4">
                    <c:v>mês 5</c:v>
                  </c:pt>
                  <c:pt idx="5">
                    <c:v>mês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Bônus Meov</c:v>
                </c:pt>
              </c:strCache>
            </c:strRef>
          </c:tx>
          <c:spPr>
            <a:solidFill>
              <a:srgbClr val="FF19B1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mês 1</c:v>
                  </c:pt>
                  <c:pt idx="1">
                    <c:v>mês 2</c:v>
                  </c:pt>
                  <c:pt idx="2">
                    <c:v>mês 3</c:v>
                  </c:pt>
                  <c:pt idx="3">
                    <c:v>mês 4</c:v>
                  </c:pt>
                  <c:pt idx="4">
                    <c:v>mês 5</c:v>
                  </c:pt>
                  <c:pt idx="5">
                    <c:v>mês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CEEE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F5F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ECEEE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020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02020"/>
                </a:solidFill>
                <a:latin typeface="+mn-lt"/>
              </a:rPr>
              <a:t>valor mensal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Acompanhamento</c:v>
                </c:pt>
              </c:strCache>
            </c:strRef>
          </c:tx>
          <c:spPr>
            <a:solidFill>
              <a:srgbClr val="202020"/>
            </a:solidFill>
            <a:effectLst/>
          </c:spPr>
          <c:invertIfNegative val="0"/>
          <c:dLbls>
            <c:numFmt formatCode="&quot;R$ &quot;0&quot; mil&quot;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mês 1</c:v>
                  </c:pt>
                  <c:pt idx="1">
                    <c:v>mês 2</c:v>
                  </c:pt>
                  <c:pt idx="2">
                    <c:v>mês 3</c:v>
                  </c:pt>
                  <c:pt idx="3">
                    <c:v>mês 4</c:v>
                  </c:pt>
                  <c:pt idx="4">
                    <c:v>mês 5</c:v>
                  </c:pt>
                  <c:pt idx="5">
                    <c:v>mês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Implantação</c:v>
                </c:pt>
              </c:strCache>
            </c:strRef>
          </c:tx>
          <c:spPr>
            <a:solidFill>
              <a:srgbClr val="FF19B1"/>
            </a:solidFill>
            <a:effectLst/>
          </c:spPr>
          <c:invertIfNegative val="0"/>
          <c:dLbls>
            <c:numFmt formatCode="&quot;R$ &quot;0&quot; mil&quot;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mês 1</c:v>
                  </c:pt>
                  <c:pt idx="1">
                    <c:v>mês 2</c:v>
                  </c:pt>
                  <c:pt idx="2">
                    <c:v>mês 3</c:v>
                  </c:pt>
                  <c:pt idx="3">
                    <c:v>mês 4</c:v>
                  </c:pt>
                  <c:pt idx="4">
                    <c:v>mês 5</c:v>
                  </c:pt>
                  <c:pt idx="5">
                    <c:v>mês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&quot;R$ &quot;0&quot; mil&quot;;;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CEEE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F5F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ECEEE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Proposta de marca pessoal para Fernando Lohmann.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ov 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419531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5331" y="6272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proposta · fernando lohmann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ov 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 ros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8686800" cy="981608"/>
          </a:xfrm>
          <a:prstGeom prst="rect">
            <a:avLst/>
          </a:prstGeom>
        </p:spPr>
      </p:pic>
      <p:pic>
        <p:nvPicPr>
          <p:cNvPr id="3" name="Logotipo Meov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737360" cy="354813"/>
          </a:xfrm>
          <a:prstGeom prst="rect">
            <a:avLst/>
          </a:prstGeom>
        </p:spPr>
      </p:pic>
      <p:sp>
        <p:nvSpPr>
          <p:cNvPr id="4" name="Sobretítulo"/>
          <p:cNvSpPr txBox="1"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proposta de</a:t>
            </a:r>
            <a:endParaRPr lang="en-US" sz="22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97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hillax" pitchFamily="34" charset="0"/>
                <a:ea typeface="Chillax" pitchFamily="34" charset="-122"/>
                <a:cs typeface="Chillax" pitchFamily="34" charset="-120"/>
              </a:rPr>
              <a:t>Marca Pessoal</a:t>
            </a:r>
            <a:endParaRPr lang="en-US" sz="6600" dirty="0"/>
          </a:p>
        </p:txBody>
      </p:sp>
      <p:sp>
        <p:nvSpPr>
          <p:cNvPr id="6" name="Destinatário"/>
          <p:cNvSpPr txBox="1"/>
          <p:nvPr/>
        </p:nvSpPr>
        <p:spPr>
          <a:xfrm>
            <a:off x="548640" y="4160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aos cuidados de</a:t>
            </a:r>
            <a:endParaRPr lang="en-US" sz="1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Fernando Lohmann</a:t>
            </a:r>
            <a:endParaRPr lang="en-US" sz="1600" dirty="0"/>
          </a:p>
        </p:txBody>
      </p:sp>
      <p:sp>
        <p:nvSpPr>
          <p:cNvPr id="7" name="Data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outubro 2026  ·  ciclo de 6 meses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ponto de partida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Você já é referência. Falta o digital mostrar</a:t>
            </a:r>
            <a:endParaRPr lang="en-US" sz="3200" dirty="0"/>
          </a:p>
        </p:txBody>
      </p:sp>
      <p:sp>
        <p:nvSpPr>
          <p:cNvPr id="4" name="Barra 1 rótulo"/>
          <p:cNvSpPr txBox="1"/>
          <p:nvPr/>
        </p:nvSpPr>
        <p:spPr>
          <a:xfrm>
            <a:off x="54864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Reputação construída fora das redes</a:t>
            </a:r>
            <a:endParaRPr lang="en-US" sz="1800" dirty="0"/>
          </a:p>
        </p:txBody>
      </p:sp>
      <p:sp>
        <p:nvSpPr>
          <p:cNvPr id="5" name="Barra 1 trilho"/>
          <p:cNvSpPr/>
          <p:nvPr/>
        </p:nvSpPr>
        <p:spPr>
          <a:xfrm>
            <a:off x="548640" y="2606040"/>
            <a:ext cx="6949440" cy="502920"/>
          </a:xfrm>
          <a:prstGeom prst="roundRect">
            <a:avLst>
              <a:gd name="adj" fmla="val 2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Barra 1 valor"/>
          <p:cNvSpPr/>
          <p:nvPr/>
        </p:nvSpPr>
        <p:spPr>
          <a:xfrm>
            <a:off x="548640" y="2606040"/>
            <a:ext cx="6393485" cy="502920"/>
          </a:xfrm>
          <a:prstGeom prst="roundRect">
            <a:avLst>
              <a:gd name="adj" fmla="val 2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Barra 1 legenda"/>
          <p:cNvSpPr txBox="1"/>
          <p:nvPr/>
        </p:nvSpPr>
        <p:spPr>
          <a:xfrm>
            <a:off x="548640" y="3200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anos de trabalho, clientes, indicações</a:t>
            </a:r>
            <a:endParaRPr lang="en-US" sz="1400" dirty="0"/>
          </a:p>
        </p:txBody>
      </p:sp>
      <p:sp>
        <p:nvSpPr>
          <p:cNvPr id="8" name="Barra 2 rótulo"/>
          <p:cNvSpPr txBox="1"/>
          <p:nvPr/>
        </p:nvSpPr>
        <p:spPr>
          <a:xfrm>
            <a:off x="548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Presença no digital hoje</a:t>
            </a:r>
            <a:endParaRPr lang="en-US" sz="1800" dirty="0"/>
          </a:p>
        </p:txBody>
      </p:sp>
      <p:sp>
        <p:nvSpPr>
          <p:cNvPr id="9" name="Barra 2 trilho"/>
          <p:cNvSpPr/>
          <p:nvPr/>
        </p:nvSpPr>
        <p:spPr>
          <a:xfrm>
            <a:off x="548640" y="4343400"/>
            <a:ext cx="6949440" cy="502920"/>
          </a:xfrm>
          <a:prstGeom prst="roundRect">
            <a:avLst>
              <a:gd name="adj" fmla="val 2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Barra 2 valor"/>
          <p:cNvSpPr/>
          <p:nvPr/>
        </p:nvSpPr>
        <p:spPr>
          <a:xfrm>
            <a:off x="548640" y="4343400"/>
            <a:ext cx="1528877" cy="502920"/>
          </a:xfrm>
          <a:prstGeom prst="roundRect">
            <a:avLst>
              <a:gd name="adj" fmla="val 2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rra 2 legenda"/>
          <p:cNvSpPr txBox="1"/>
          <p:nvPr/>
        </p:nvSpPr>
        <p:spPr>
          <a:xfrm>
            <a:off x="548640" y="4937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pouco do que você é aparece</a:t>
            </a:r>
            <a:endParaRPr lang="en-US" sz="1400" dirty="0"/>
          </a:p>
        </p:txBody>
      </p:sp>
      <p:sp>
        <p:nvSpPr>
          <p:cNvPr id="12" name="Quadro distância"/>
          <p:cNvSpPr/>
          <p:nvPr/>
        </p:nvSpPr>
        <p:spPr>
          <a:xfrm>
            <a:off x="8092440" y="2148840"/>
            <a:ext cx="3547872" cy="3429000"/>
          </a:xfrm>
          <a:prstGeom prst="roundRect">
            <a:avLst>
              <a:gd name="adj" fmla="val 37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Onda lim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514600"/>
            <a:ext cx="3017520" cy="340980"/>
          </a:xfrm>
          <a:prstGeom prst="rect">
            <a:avLst/>
          </a:prstGeom>
        </p:spPr>
      </p:pic>
      <p:sp>
        <p:nvSpPr>
          <p:cNvPr id="14" name="Texto distância"/>
          <p:cNvSpPr txBox="1"/>
          <p:nvPr/>
        </p:nvSpPr>
        <p:spPr>
          <a:xfrm>
            <a:off x="8366760" y="3840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distância entre as duas barras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é exatamente onde a Meov trabalha.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quem somos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 time ao seu lado, da estratégia à câmera</a:t>
            </a:r>
            <a:endParaRPr lang="en-US" sz="3200" dirty="0"/>
          </a:p>
        </p:txBody>
      </p:sp>
      <p:sp>
        <p:nvSpPr>
          <p:cNvPr id="4" name="Manifesto"/>
          <p:cNvSpPr txBox="1"/>
          <p:nvPr/>
        </p:nvSpPr>
        <p:spPr>
          <a:xfrm>
            <a:off x="548640" y="21031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Não somos uma agência de marketing.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Somos um time que apoia técnica e emocionalmente quem decide colocar a própria voz no mundo.</a:t>
            </a:r>
            <a:endParaRPr lang="en-US" sz="2200" dirty="0"/>
          </a:p>
        </p:txBody>
      </p:sp>
      <p:sp>
        <p:nvSpPr>
          <p:cNvPr id="5" name="Frase"/>
          <p:cNvSpPr txBox="1"/>
          <p:nvPr/>
        </p:nvSpPr>
        <p:spPr>
          <a:xfrm>
            <a:off x="54864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Seja nas redes quem você já é na vida.</a:t>
            </a:r>
            <a:endParaRPr lang="en-US" sz="1600" dirty="0"/>
          </a:p>
        </p:txBody>
      </p:sp>
      <p:sp>
        <p:nvSpPr>
          <p:cNvPr id="6" name="Frente 1 cartão"/>
          <p:cNvSpPr/>
          <p:nvPr/>
        </p:nvSpPr>
        <p:spPr>
          <a:xfrm>
            <a:off x="5120640" y="2103120"/>
            <a:ext cx="6519672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Frente 1 fundo"/>
          <p:cNvSpPr/>
          <p:nvPr/>
        </p:nvSpPr>
        <p:spPr>
          <a:xfrm>
            <a:off x="5349240" y="23317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Frente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116" y="2482596"/>
            <a:ext cx="384048" cy="384048"/>
          </a:xfrm>
          <a:prstGeom prst="rect">
            <a:avLst/>
          </a:prstGeom>
        </p:spPr>
      </p:pic>
      <p:sp>
        <p:nvSpPr>
          <p:cNvPr id="9" name="Frente 1 nome"/>
          <p:cNvSpPr txBox="1"/>
          <p:nvPr/>
        </p:nvSpPr>
        <p:spPr>
          <a:xfrm>
            <a:off x="626364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Estratégia</a:t>
            </a:r>
            <a:endParaRPr lang="en-US" sz="1800" dirty="0"/>
          </a:p>
        </p:txBody>
      </p:sp>
      <p:sp>
        <p:nvSpPr>
          <p:cNvPr id="10" name="Frente 1 descrição"/>
          <p:cNvSpPr txBox="1"/>
          <p:nvPr/>
        </p:nvSpPr>
        <p:spPr>
          <a:xfrm>
            <a:off x="626364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Método Meov: imersão, Brandbook e plano de 6 meses.</a:t>
            </a:r>
            <a:endParaRPr lang="en-US" sz="1400" dirty="0"/>
          </a:p>
        </p:txBody>
      </p:sp>
      <p:sp>
        <p:nvSpPr>
          <p:cNvPr id="11" name="Frente 2 cartão"/>
          <p:cNvSpPr/>
          <p:nvPr/>
        </p:nvSpPr>
        <p:spPr>
          <a:xfrm>
            <a:off x="5120640" y="3429000"/>
            <a:ext cx="6519672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Frente 2 fundo"/>
          <p:cNvSpPr/>
          <p:nvPr/>
        </p:nvSpPr>
        <p:spPr>
          <a:xfrm>
            <a:off x="5349240" y="3657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Frente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6" y="3808476"/>
            <a:ext cx="384048" cy="384048"/>
          </a:xfrm>
          <a:prstGeom prst="rect">
            <a:avLst/>
          </a:prstGeom>
        </p:spPr>
      </p:pic>
      <p:sp>
        <p:nvSpPr>
          <p:cNvPr id="14" name="Frente 2 nome"/>
          <p:cNvSpPr txBox="1"/>
          <p:nvPr/>
        </p:nvSpPr>
        <p:spPr>
          <a:xfrm>
            <a:off x="62636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Audiovisual</a:t>
            </a:r>
            <a:endParaRPr lang="en-US" sz="1800" dirty="0"/>
          </a:p>
        </p:txBody>
      </p:sp>
      <p:sp>
        <p:nvSpPr>
          <p:cNvPr id="15" name="Frente 2 descrição"/>
          <p:cNvSpPr txBox="1"/>
          <p:nvPr/>
        </p:nvSpPr>
        <p:spPr>
          <a:xfrm>
            <a:off x="6263640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Direção de imagem, foto, vídeo e edição com o nosso fino trato.</a:t>
            </a:r>
            <a:endParaRPr lang="en-US" sz="1400" dirty="0"/>
          </a:p>
        </p:txBody>
      </p:sp>
      <p:sp>
        <p:nvSpPr>
          <p:cNvPr id="16" name="Frente 3 cartão"/>
          <p:cNvSpPr/>
          <p:nvPr/>
        </p:nvSpPr>
        <p:spPr>
          <a:xfrm>
            <a:off x="5120640" y="4754880"/>
            <a:ext cx="6519672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Frente 3 fundo"/>
          <p:cNvSpPr/>
          <p:nvPr/>
        </p:nvSpPr>
        <p:spPr>
          <a:xfrm>
            <a:off x="5349240" y="49834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Frente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5134356"/>
            <a:ext cx="384048" cy="384048"/>
          </a:xfrm>
          <a:prstGeom prst="rect">
            <a:avLst/>
          </a:prstGeom>
        </p:spPr>
      </p:pic>
      <p:sp>
        <p:nvSpPr>
          <p:cNvPr id="19" name="Frente 3 nome"/>
          <p:cNvSpPr txBox="1"/>
          <p:nvPr/>
        </p:nvSpPr>
        <p:spPr>
          <a:xfrm>
            <a:off x="626364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Gestão das redes</a:t>
            </a:r>
            <a:endParaRPr lang="en-US" sz="1800" dirty="0"/>
          </a:p>
        </p:txBody>
      </p:sp>
      <p:sp>
        <p:nvSpPr>
          <p:cNvPr id="20" name="Frente 3 descrição"/>
          <p:cNvSpPr txBox="1"/>
          <p:nvPr/>
        </p:nvSpPr>
        <p:spPr>
          <a:xfrm>
            <a:off x="626364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Instagram, LinkedIn e Site/LP: calendário, roteiros, design, publicação e relatórios.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método meov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 Raiz à Voz: estratégia antes de estética</a:t>
            </a:r>
            <a:endParaRPr lang="en-US" sz="3200" dirty="0"/>
          </a:p>
        </p:txBody>
      </p:sp>
      <p:sp>
        <p:nvSpPr>
          <p:cNvPr id="4" name="Conexão 1"/>
          <p:cNvSpPr/>
          <p:nvPr/>
        </p:nvSpPr>
        <p:spPr>
          <a:xfrm>
            <a:off x="1440180" y="2400300"/>
            <a:ext cx="2788920" cy="1417320"/>
          </a:xfrm>
          <a:prstGeom prst="line">
            <a:avLst/>
          </a:prstGeom>
          <a:noFill/>
          <a:ln w="31750">
            <a:solidFill>
              <a:schemeClr val="tx2"/>
            </a:solidFill>
            <a:prstDash val="dash"/>
          </a:ln>
        </p:spPr>
      </p:sp>
      <p:sp>
        <p:nvSpPr>
          <p:cNvPr id="5" name="Conexão 2"/>
          <p:cNvSpPr/>
          <p:nvPr/>
        </p:nvSpPr>
        <p:spPr>
          <a:xfrm flipV="1">
            <a:off x="4229100" y="2400300"/>
            <a:ext cx="2788920" cy="1417320"/>
          </a:xfrm>
          <a:prstGeom prst="line">
            <a:avLst/>
          </a:prstGeom>
          <a:noFill/>
          <a:ln w="31750">
            <a:solidFill>
              <a:schemeClr val="tx2"/>
            </a:solidFill>
            <a:prstDash val="dash"/>
          </a:ln>
        </p:spPr>
      </p:sp>
      <p:sp>
        <p:nvSpPr>
          <p:cNvPr id="6" name="Conexão 3"/>
          <p:cNvSpPr/>
          <p:nvPr/>
        </p:nvSpPr>
        <p:spPr>
          <a:xfrm>
            <a:off x="7018020" y="2400300"/>
            <a:ext cx="2788920" cy="1417320"/>
          </a:xfrm>
          <a:prstGeom prst="line">
            <a:avLst/>
          </a:prstGeom>
          <a:noFill/>
          <a:ln w="31750">
            <a:solidFill>
              <a:schemeClr val="tx2"/>
            </a:solidFill>
            <a:prstDash val="dash"/>
          </a:ln>
        </p:spPr>
      </p:sp>
      <p:sp>
        <p:nvSpPr>
          <p:cNvPr id="7" name="Movimento 1"/>
          <p:cNvSpPr/>
          <p:nvPr/>
        </p:nvSpPr>
        <p:spPr>
          <a:xfrm>
            <a:off x="868680" y="1828800"/>
            <a:ext cx="1143000" cy="1143000"/>
          </a:xfrm>
          <a:prstGeom prst="ellipse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8" name="Movimento 1 número"/>
          <p:cNvSpPr txBox="1"/>
          <p:nvPr/>
        </p:nvSpPr>
        <p:spPr>
          <a:xfrm>
            <a:off x="86868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Movimento 1 nome"/>
          <p:cNvSpPr txBox="1"/>
          <p:nvPr/>
        </p:nvSpPr>
        <p:spPr>
          <a:xfrm>
            <a:off x="45720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Raiz</a:t>
            </a:r>
            <a:endParaRPr lang="en-US" sz="2000" dirty="0"/>
          </a:p>
        </p:txBody>
      </p:sp>
      <p:sp>
        <p:nvSpPr>
          <p:cNvPr id="10" name="Movimento 1 pergunta"/>
          <p:cNvSpPr txBox="1"/>
          <p:nvPr/>
        </p:nvSpPr>
        <p:spPr>
          <a:xfrm>
            <a:off x="365760" y="349300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Quem você é e por que quer aparecer</a:t>
            </a:r>
            <a:endParaRPr lang="en-US" sz="1400" dirty="0"/>
          </a:p>
        </p:txBody>
      </p:sp>
      <p:sp>
        <p:nvSpPr>
          <p:cNvPr id="11" name="Movimento 2"/>
          <p:cNvSpPr/>
          <p:nvPr/>
        </p:nvSpPr>
        <p:spPr>
          <a:xfrm>
            <a:off x="3657600" y="3246120"/>
            <a:ext cx="1143000" cy="1143000"/>
          </a:xfrm>
          <a:prstGeom prst="ellipse">
            <a:avLst/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sp>
        <p:nvSpPr>
          <p:cNvPr id="12" name="Movimento 2 número"/>
          <p:cNvSpPr txBox="1"/>
          <p:nvPr/>
        </p:nvSpPr>
        <p:spPr>
          <a:xfrm>
            <a:off x="3657600" y="32461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Movimento 2 nome"/>
          <p:cNvSpPr txBox="1"/>
          <p:nvPr/>
        </p:nvSpPr>
        <p:spPr>
          <a:xfrm>
            <a:off x="324612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Território</a:t>
            </a:r>
            <a:endParaRPr lang="en-US" sz="2000" dirty="0"/>
          </a:p>
        </p:txBody>
      </p:sp>
      <p:sp>
        <p:nvSpPr>
          <p:cNvPr id="14" name="Movimento 2 pergunta"/>
          <p:cNvSpPr txBox="1"/>
          <p:nvPr/>
        </p:nvSpPr>
        <p:spPr>
          <a:xfrm>
            <a:off x="3154680" y="4910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 quem você fala e onde se posiciona</a:t>
            </a:r>
            <a:endParaRPr lang="en-US" sz="1400" dirty="0"/>
          </a:p>
        </p:txBody>
      </p:sp>
      <p:sp>
        <p:nvSpPr>
          <p:cNvPr id="15" name="Movimento 3"/>
          <p:cNvSpPr/>
          <p:nvPr/>
        </p:nvSpPr>
        <p:spPr>
          <a:xfrm>
            <a:off x="6446520" y="1828800"/>
            <a:ext cx="1143000" cy="1143000"/>
          </a:xfrm>
          <a:prstGeom prst="ellipse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16" name="Movimento 3 número"/>
          <p:cNvSpPr txBox="1"/>
          <p:nvPr/>
        </p:nvSpPr>
        <p:spPr>
          <a:xfrm>
            <a:off x="644652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03</a:t>
            </a:r>
            <a:endParaRPr lang="en-US" sz="2600" dirty="0"/>
          </a:p>
        </p:txBody>
      </p:sp>
      <p:sp>
        <p:nvSpPr>
          <p:cNvPr id="17" name="Movimento 3 nome"/>
          <p:cNvSpPr txBox="1"/>
          <p:nvPr/>
        </p:nvSpPr>
        <p:spPr>
          <a:xfrm>
            <a:off x="603504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Voz</a:t>
            </a:r>
            <a:endParaRPr lang="en-US" sz="2000" dirty="0"/>
          </a:p>
        </p:txBody>
      </p:sp>
      <p:sp>
        <p:nvSpPr>
          <p:cNvPr id="18" name="Movimento 3 pergunta"/>
          <p:cNvSpPr txBox="1"/>
          <p:nvPr/>
        </p:nvSpPr>
        <p:spPr>
          <a:xfrm>
            <a:off x="5943600" y="349300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Como você fala, aparece e oferece</a:t>
            </a:r>
            <a:endParaRPr lang="en-US" sz="1400" dirty="0"/>
          </a:p>
        </p:txBody>
      </p:sp>
      <p:sp>
        <p:nvSpPr>
          <p:cNvPr id="19" name="Movimento 4"/>
          <p:cNvSpPr/>
          <p:nvPr/>
        </p:nvSpPr>
        <p:spPr>
          <a:xfrm>
            <a:off x="9235440" y="3246120"/>
            <a:ext cx="1143000" cy="1143000"/>
          </a:xfrm>
          <a:prstGeom prst="ellipse">
            <a:avLst/>
          </a:prstGeom>
          <a:solidFill>
            <a:srgbClr val="31F8FF"/>
          </a:solidFill>
          <a:ln w="12700">
            <a:solidFill>
              <a:srgbClr val="31F8FF"/>
            </a:solidFill>
            <a:prstDash val="solid"/>
          </a:ln>
        </p:spPr>
      </p:sp>
      <p:sp>
        <p:nvSpPr>
          <p:cNvPr id="20" name="Movimento 4 número"/>
          <p:cNvSpPr txBox="1"/>
          <p:nvPr/>
        </p:nvSpPr>
        <p:spPr>
          <a:xfrm>
            <a:off x="9235440" y="32461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04</a:t>
            </a:r>
            <a:endParaRPr lang="en-US" sz="2600" dirty="0"/>
          </a:p>
        </p:txBody>
      </p:sp>
      <p:sp>
        <p:nvSpPr>
          <p:cNvPr id="21" name="Movimento 4 nome"/>
          <p:cNvSpPr txBox="1"/>
          <p:nvPr/>
        </p:nvSpPr>
        <p:spPr>
          <a:xfrm>
            <a:off x="882396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Movimento</a:t>
            </a:r>
            <a:endParaRPr lang="en-US" sz="2000" dirty="0"/>
          </a:p>
        </p:txBody>
      </p:sp>
      <p:sp>
        <p:nvSpPr>
          <p:cNvPr id="22" name="Movimento 4 pergunta"/>
          <p:cNvSpPr txBox="1"/>
          <p:nvPr/>
        </p:nvSpPr>
        <p:spPr>
          <a:xfrm>
            <a:off x="8732520" y="4910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Presença constante por 6 meses</a:t>
            </a:r>
            <a:endParaRPr lang="en-US" sz="1400" dirty="0"/>
          </a:p>
        </p:txBody>
      </p:sp>
      <p:sp>
        <p:nvSpPr>
          <p:cNvPr id="23" name="Rodapé método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Tudo vira o seu Brandbook: o guia da marca e do trabalho dos próximos 6 meses.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sua jornada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Seis meses do diagnóstico à colheita</a:t>
            </a:r>
            <a:endParaRPr lang="en-US" sz="3200" dirty="0"/>
          </a:p>
        </p:txBody>
      </p:sp>
      <p:sp>
        <p:nvSpPr>
          <p:cNvPr id="4" name="Fase 0 cartão"/>
          <p:cNvSpPr/>
          <p:nvPr/>
        </p:nvSpPr>
        <p:spPr>
          <a:xfrm>
            <a:off x="548640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Fase 0 rótulo"/>
          <p:cNvSpPr txBox="1"/>
          <p:nvPr/>
        </p:nvSpPr>
        <p:spPr>
          <a:xfrm>
            <a:off x="685800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início</a:t>
            </a:r>
            <a:endParaRPr lang="en-US" sz="1200" dirty="0"/>
          </a:p>
        </p:txBody>
      </p:sp>
      <p:sp>
        <p:nvSpPr>
          <p:cNvPr id="6" name="Fase 0 número"/>
          <p:cNvSpPr txBox="1"/>
          <p:nvPr/>
        </p:nvSpPr>
        <p:spPr>
          <a:xfrm>
            <a:off x="685800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0</a:t>
            </a:r>
            <a:endParaRPr lang="en-US" sz="5400" dirty="0"/>
          </a:p>
        </p:txBody>
      </p:sp>
      <p:sp>
        <p:nvSpPr>
          <p:cNvPr id="7" name="Fase 0 nome"/>
          <p:cNvSpPr txBox="1"/>
          <p:nvPr/>
        </p:nvSpPr>
        <p:spPr>
          <a:xfrm>
            <a:off x="685800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Implantação</a:t>
            </a:r>
            <a:endParaRPr lang="en-US" sz="1500" dirty="0"/>
          </a:p>
        </p:txBody>
      </p:sp>
      <p:sp>
        <p:nvSpPr>
          <p:cNvPr id="8" name="Fase 0 descrição"/>
          <p:cNvSpPr txBox="1"/>
          <p:nvPr/>
        </p:nvSpPr>
        <p:spPr>
          <a:xfrm>
            <a:off x="685800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Método, ensaio e canais prontos</a:t>
            </a:r>
            <a:endParaRPr lang="en-US" sz="1200" dirty="0"/>
          </a:p>
        </p:txBody>
      </p:sp>
      <p:sp>
        <p:nvSpPr>
          <p:cNvPr id="9" name="Fase 1 cartão"/>
          <p:cNvSpPr/>
          <p:nvPr/>
        </p:nvSpPr>
        <p:spPr>
          <a:xfrm>
            <a:off x="2152759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Fase 1 rótulo"/>
          <p:cNvSpPr txBox="1"/>
          <p:nvPr/>
        </p:nvSpPr>
        <p:spPr>
          <a:xfrm>
            <a:off x="2289919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mês</a:t>
            </a:r>
            <a:endParaRPr lang="en-US" sz="1200" dirty="0"/>
          </a:p>
        </p:txBody>
      </p:sp>
      <p:sp>
        <p:nvSpPr>
          <p:cNvPr id="11" name="Fase 1 número"/>
          <p:cNvSpPr txBox="1"/>
          <p:nvPr/>
        </p:nvSpPr>
        <p:spPr>
          <a:xfrm>
            <a:off x="2289919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</a:t>
            </a:r>
            <a:endParaRPr lang="en-US" sz="5400" dirty="0"/>
          </a:p>
        </p:txBody>
      </p:sp>
      <p:sp>
        <p:nvSpPr>
          <p:cNvPr id="12" name="Fase 1 nome"/>
          <p:cNvSpPr txBox="1"/>
          <p:nvPr/>
        </p:nvSpPr>
        <p:spPr>
          <a:xfrm>
            <a:off x="2289919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Fundação</a:t>
            </a:r>
            <a:endParaRPr lang="en-US" sz="1500" dirty="0"/>
          </a:p>
        </p:txBody>
      </p:sp>
      <p:sp>
        <p:nvSpPr>
          <p:cNvPr id="13" name="Fase 1 descrição"/>
          <p:cNvSpPr txBox="1"/>
          <p:nvPr/>
        </p:nvSpPr>
        <p:spPr>
          <a:xfrm>
            <a:off x="2289919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Primeiros conteúdos no ar</a:t>
            </a:r>
            <a:endParaRPr lang="en-US" sz="1200" dirty="0"/>
          </a:p>
        </p:txBody>
      </p:sp>
      <p:sp>
        <p:nvSpPr>
          <p:cNvPr id="14" name="Fase 2 cartão"/>
          <p:cNvSpPr/>
          <p:nvPr/>
        </p:nvSpPr>
        <p:spPr>
          <a:xfrm>
            <a:off x="3756878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Fase 2 rótulo"/>
          <p:cNvSpPr txBox="1"/>
          <p:nvPr/>
        </p:nvSpPr>
        <p:spPr>
          <a:xfrm>
            <a:off x="3894038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mês</a:t>
            </a:r>
            <a:endParaRPr lang="en-US" sz="1200" dirty="0"/>
          </a:p>
        </p:txBody>
      </p:sp>
      <p:sp>
        <p:nvSpPr>
          <p:cNvPr id="16" name="Fase 2 número"/>
          <p:cNvSpPr txBox="1"/>
          <p:nvPr/>
        </p:nvSpPr>
        <p:spPr>
          <a:xfrm>
            <a:off x="3894038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</a:t>
            </a:r>
            <a:endParaRPr lang="en-US" sz="5400" dirty="0"/>
          </a:p>
        </p:txBody>
      </p:sp>
      <p:sp>
        <p:nvSpPr>
          <p:cNvPr id="17" name="Fase 2 nome"/>
          <p:cNvSpPr txBox="1"/>
          <p:nvPr/>
        </p:nvSpPr>
        <p:spPr>
          <a:xfrm>
            <a:off x="3894038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Ritmo</a:t>
            </a:r>
            <a:endParaRPr lang="en-US" sz="1500" dirty="0"/>
          </a:p>
        </p:txBody>
      </p:sp>
      <p:sp>
        <p:nvSpPr>
          <p:cNvPr id="18" name="Fase 2 descrição"/>
          <p:cNvSpPr txBox="1"/>
          <p:nvPr/>
        </p:nvSpPr>
        <p:spPr>
          <a:xfrm>
            <a:off x="3894038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Constância e rituais</a:t>
            </a:r>
            <a:endParaRPr lang="en-US" sz="1200" dirty="0"/>
          </a:p>
        </p:txBody>
      </p:sp>
      <p:sp>
        <p:nvSpPr>
          <p:cNvPr id="19" name="Fase 3 cartão"/>
          <p:cNvSpPr/>
          <p:nvPr/>
        </p:nvSpPr>
        <p:spPr>
          <a:xfrm>
            <a:off x="5360997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Fase 3 rótulo"/>
          <p:cNvSpPr txBox="1"/>
          <p:nvPr/>
        </p:nvSpPr>
        <p:spPr>
          <a:xfrm>
            <a:off x="5498157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mês</a:t>
            </a:r>
            <a:endParaRPr lang="en-US" sz="1200" dirty="0"/>
          </a:p>
        </p:txBody>
      </p:sp>
      <p:sp>
        <p:nvSpPr>
          <p:cNvPr id="21" name="Fase 3 número"/>
          <p:cNvSpPr txBox="1"/>
          <p:nvPr/>
        </p:nvSpPr>
        <p:spPr>
          <a:xfrm>
            <a:off x="5498157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3</a:t>
            </a:r>
            <a:endParaRPr lang="en-US" sz="5400" dirty="0"/>
          </a:p>
        </p:txBody>
      </p:sp>
      <p:sp>
        <p:nvSpPr>
          <p:cNvPr id="22" name="Fase 3 nome"/>
          <p:cNvSpPr txBox="1"/>
          <p:nvPr/>
        </p:nvSpPr>
        <p:spPr>
          <a:xfrm>
            <a:off x="5498157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Primeira leitura</a:t>
            </a:r>
            <a:endParaRPr lang="en-US" sz="1500" dirty="0"/>
          </a:p>
        </p:txBody>
      </p:sp>
      <p:sp>
        <p:nvSpPr>
          <p:cNvPr id="23" name="Fase 3 descrição"/>
          <p:cNvSpPr txBox="1"/>
          <p:nvPr/>
        </p:nvSpPr>
        <p:spPr>
          <a:xfrm>
            <a:off x="5498157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Revisão de rota com dados</a:t>
            </a:r>
            <a:endParaRPr lang="en-US" sz="1200" dirty="0"/>
          </a:p>
        </p:txBody>
      </p:sp>
      <p:sp>
        <p:nvSpPr>
          <p:cNvPr id="24" name="Fase 4 cartão"/>
          <p:cNvSpPr/>
          <p:nvPr/>
        </p:nvSpPr>
        <p:spPr>
          <a:xfrm>
            <a:off x="6965115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Fase 4 rótulo"/>
          <p:cNvSpPr txBox="1"/>
          <p:nvPr/>
        </p:nvSpPr>
        <p:spPr>
          <a:xfrm>
            <a:off x="7102275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mês</a:t>
            </a:r>
            <a:endParaRPr lang="en-US" sz="1200" dirty="0"/>
          </a:p>
        </p:txBody>
      </p:sp>
      <p:sp>
        <p:nvSpPr>
          <p:cNvPr id="26" name="Fase 4 número"/>
          <p:cNvSpPr txBox="1"/>
          <p:nvPr/>
        </p:nvSpPr>
        <p:spPr>
          <a:xfrm>
            <a:off x="7102275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</a:t>
            </a:r>
            <a:endParaRPr lang="en-US" sz="5400" dirty="0"/>
          </a:p>
        </p:txBody>
      </p:sp>
      <p:sp>
        <p:nvSpPr>
          <p:cNvPr id="27" name="Fase 4 nome"/>
          <p:cNvSpPr txBox="1"/>
          <p:nvPr/>
        </p:nvSpPr>
        <p:spPr>
          <a:xfrm>
            <a:off x="7102275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Autoridade</a:t>
            </a:r>
            <a:endParaRPr lang="en-US" sz="1500" dirty="0"/>
          </a:p>
        </p:txBody>
      </p:sp>
      <p:sp>
        <p:nvSpPr>
          <p:cNvPr id="28" name="Fase 4 descrição"/>
          <p:cNvSpPr txBox="1"/>
          <p:nvPr/>
        </p:nvSpPr>
        <p:spPr>
          <a:xfrm>
            <a:off x="7102275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Casos, provas e novos palcos</a:t>
            </a:r>
            <a:endParaRPr lang="en-US" sz="1200" dirty="0"/>
          </a:p>
        </p:txBody>
      </p:sp>
      <p:sp>
        <p:nvSpPr>
          <p:cNvPr id="29" name="Fase 5 cartão"/>
          <p:cNvSpPr/>
          <p:nvPr/>
        </p:nvSpPr>
        <p:spPr>
          <a:xfrm>
            <a:off x="8569234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Fase 5 rótulo"/>
          <p:cNvSpPr txBox="1"/>
          <p:nvPr/>
        </p:nvSpPr>
        <p:spPr>
          <a:xfrm>
            <a:off x="8706394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mês</a:t>
            </a:r>
            <a:endParaRPr lang="en-US" sz="1200" dirty="0"/>
          </a:p>
        </p:txBody>
      </p:sp>
      <p:sp>
        <p:nvSpPr>
          <p:cNvPr id="31" name="Fase 5 número"/>
          <p:cNvSpPr txBox="1"/>
          <p:nvPr/>
        </p:nvSpPr>
        <p:spPr>
          <a:xfrm>
            <a:off x="8706394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5</a:t>
            </a:r>
            <a:endParaRPr lang="en-US" sz="5400" dirty="0"/>
          </a:p>
        </p:txBody>
      </p:sp>
      <p:sp>
        <p:nvSpPr>
          <p:cNvPr id="32" name="Fase 5 nome"/>
          <p:cNvSpPr txBox="1"/>
          <p:nvPr/>
        </p:nvSpPr>
        <p:spPr>
          <a:xfrm>
            <a:off x="8706394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Autoridade</a:t>
            </a:r>
            <a:endParaRPr lang="en-US" sz="1500" dirty="0"/>
          </a:p>
        </p:txBody>
      </p:sp>
      <p:sp>
        <p:nvSpPr>
          <p:cNvPr id="33" name="Fase 5 descrição"/>
          <p:cNvSpPr txBox="1"/>
          <p:nvPr/>
        </p:nvSpPr>
        <p:spPr>
          <a:xfrm>
            <a:off x="8706394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Aprofundar e converter</a:t>
            </a:r>
            <a:endParaRPr lang="en-US" sz="1200" dirty="0"/>
          </a:p>
        </p:txBody>
      </p:sp>
      <p:sp>
        <p:nvSpPr>
          <p:cNvPr id="34" name="Fase 6 cartão"/>
          <p:cNvSpPr/>
          <p:nvPr/>
        </p:nvSpPr>
        <p:spPr>
          <a:xfrm>
            <a:off x="10173353" y="2240280"/>
            <a:ext cx="1466959" cy="2926080"/>
          </a:xfrm>
          <a:prstGeom prst="roundRect">
            <a:avLst>
              <a:gd name="adj" fmla="val 8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Fase 6 rótulo"/>
          <p:cNvSpPr txBox="1"/>
          <p:nvPr/>
        </p:nvSpPr>
        <p:spPr>
          <a:xfrm>
            <a:off x="10310513" y="2423160"/>
            <a:ext cx="119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mês</a:t>
            </a:r>
            <a:endParaRPr lang="en-US" sz="1200" dirty="0"/>
          </a:p>
        </p:txBody>
      </p:sp>
      <p:sp>
        <p:nvSpPr>
          <p:cNvPr id="36" name="Fase 6 número"/>
          <p:cNvSpPr txBox="1"/>
          <p:nvPr/>
        </p:nvSpPr>
        <p:spPr>
          <a:xfrm>
            <a:off x="10310513" y="2651760"/>
            <a:ext cx="11926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</a:t>
            </a:r>
            <a:endParaRPr lang="en-US" sz="5400" dirty="0"/>
          </a:p>
        </p:txBody>
      </p:sp>
      <p:sp>
        <p:nvSpPr>
          <p:cNvPr id="37" name="Fase 6 nome"/>
          <p:cNvSpPr txBox="1"/>
          <p:nvPr/>
        </p:nvSpPr>
        <p:spPr>
          <a:xfrm>
            <a:off x="10310513" y="3657600"/>
            <a:ext cx="12383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Colheita</a:t>
            </a:r>
            <a:endParaRPr lang="en-US" sz="1500" dirty="0"/>
          </a:p>
        </p:txBody>
      </p:sp>
      <p:sp>
        <p:nvSpPr>
          <p:cNvPr id="38" name="Fase 6 descrição"/>
          <p:cNvSpPr txBox="1"/>
          <p:nvPr/>
        </p:nvSpPr>
        <p:spPr>
          <a:xfrm>
            <a:off x="10310513" y="4251960"/>
            <a:ext cx="1238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Resultado e próximo ciclo</a:t>
            </a:r>
            <a:endParaRPr lang="en-US" sz="1200" dirty="0"/>
          </a:p>
        </p:txBody>
      </p:sp>
      <p:sp>
        <p:nvSpPr>
          <p:cNvPr id="39" name="Nota revisões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Revisões de rota no 3º e no 6º mês, sempre comparando com o seu ponto de partida.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parte 1 · implantação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Sua marca construída, seus canais prontos</a:t>
            </a:r>
            <a:endParaRPr lang="en-US" sz="3200" dirty="0"/>
          </a:p>
        </p:txBody>
      </p:sp>
      <p:sp>
        <p:nvSpPr>
          <p:cNvPr id="4" name="Entrega 1 cartão"/>
          <p:cNvSpPr/>
          <p:nvPr/>
        </p:nvSpPr>
        <p:spPr>
          <a:xfrm>
            <a:off x="548640" y="1828800"/>
            <a:ext cx="3566160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Entrega 1 fundo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Entreg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182124"/>
            <a:ext cx="317480" cy="317480"/>
          </a:xfrm>
          <a:prstGeom prst="rect">
            <a:avLst/>
          </a:prstGeom>
        </p:spPr>
      </p:pic>
      <p:sp>
        <p:nvSpPr>
          <p:cNvPr id="7" name="Entrega 1 nome"/>
          <p:cNvSpPr txBox="1"/>
          <p:nvPr/>
        </p:nvSpPr>
        <p:spPr>
          <a:xfrm>
            <a:off x="15087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Método Meov</a:t>
            </a:r>
            <a:endParaRPr lang="en-US" sz="1800" dirty="0"/>
          </a:p>
        </p:txBody>
      </p:sp>
      <p:sp>
        <p:nvSpPr>
          <p:cNvPr id="8" name="Entrega 1 descrição"/>
          <p:cNvSpPr txBox="1"/>
          <p:nvPr/>
        </p:nvSpPr>
        <p:spPr>
          <a:xfrm>
            <a:off x="77724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Diagnóstico digital e percepção externa · imersão presencial · Brandbook · plano de 6 meses · alinhamento com conselho e compliance</a:t>
            </a:r>
            <a:endParaRPr lang="en-US" sz="1300" dirty="0"/>
          </a:p>
        </p:txBody>
      </p:sp>
      <p:sp>
        <p:nvSpPr>
          <p:cNvPr id="9" name="Entrega 2 cartão"/>
          <p:cNvSpPr/>
          <p:nvPr/>
        </p:nvSpPr>
        <p:spPr>
          <a:xfrm>
            <a:off x="4306824" y="1828800"/>
            <a:ext cx="3566160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Entrega 2 fundo"/>
          <p:cNvSpPr/>
          <p:nvPr/>
        </p:nvSpPr>
        <p:spPr>
          <a:xfrm>
            <a:off x="4535424" y="20574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Entrega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48" y="2182124"/>
            <a:ext cx="317480" cy="317480"/>
          </a:xfrm>
          <a:prstGeom prst="rect">
            <a:avLst/>
          </a:prstGeom>
        </p:spPr>
      </p:pic>
      <p:sp>
        <p:nvSpPr>
          <p:cNvPr id="12" name="Entrega 2 nome"/>
          <p:cNvSpPr txBox="1"/>
          <p:nvPr/>
        </p:nvSpPr>
        <p:spPr>
          <a:xfrm>
            <a:off x="5266944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Ensaio de marca</a:t>
            </a:r>
            <a:endParaRPr lang="en-US" sz="1800" dirty="0"/>
          </a:p>
        </p:txBody>
      </p:sp>
      <p:sp>
        <p:nvSpPr>
          <p:cNvPr id="13" name="Entrega 2 descrição"/>
          <p:cNvSpPr txBox="1"/>
          <p:nvPr/>
        </p:nvSpPr>
        <p:spPr>
          <a:xfrm>
            <a:off x="4535424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 sessão com direção de imagem · 12 fotos tratadas</a:t>
            </a:r>
            <a:endParaRPr lang="en-US" sz="1300" dirty="0"/>
          </a:p>
        </p:txBody>
      </p:sp>
      <p:sp>
        <p:nvSpPr>
          <p:cNvPr id="14" name="Entrega 3 cartão"/>
          <p:cNvSpPr/>
          <p:nvPr/>
        </p:nvSpPr>
        <p:spPr>
          <a:xfrm>
            <a:off x="8065008" y="1828800"/>
            <a:ext cx="3566160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Entrega 3 fundo"/>
          <p:cNvSpPr/>
          <p:nvPr/>
        </p:nvSpPr>
        <p:spPr>
          <a:xfrm>
            <a:off x="8293608" y="205740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Entrega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332" y="2182124"/>
            <a:ext cx="317480" cy="317480"/>
          </a:xfrm>
          <a:prstGeom prst="rect">
            <a:avLst/>
          </a:prstGeom>
        </p:spPr>
      </p:pic>
      <p:sp>
        <p:nvSpPr>
          <p:cNvPr id="17" name="Entrega 3 nome"/>
          <p:cNvSpPr txBox="1"/>
          <p:nvPr/>
        </p:nvSpPr>
        <p:spPr>
          <a:xfrm>
            <a:off x="902512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Instagram</a:t>
            </a:r>
            <a:endParaRPr lang="en-US" sz="1800" dirty="0"/>
          </a:p>
        </p:txBody>
      </p:sp>
      <p:sp>
        <p:nvSpPr>
          <p:cNvPr id="18" name="Entrega 3 descrição"/>
          <p:cNvSpPr txBox="1"/>
          <p:nvPr/>
        </p:nvSpPr>
        <p:spPr>
          <a:xfrm>
            <a:off x="8293608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Conta de criador · bio, link e destaques · 3 posts fixados · templates · duas etapas e Meta Business Suite</a:t>
            </a:r>
            <a:endParaRPr lang="en-US" sz="1300" dirty="0"/>
          </a:p>
        </p:txBody>
      </p:sp>
      <p:sp>
        <p:nvSpPr>
          <p:cNvPr id="19" name="Entrega 4 cartão"/>
          <p:cNvSpPr/>
          <p:nvPr/>
        </p:nvSpPr>
        <p:spPr>
          <a:xfrm>
            <a:off x="548640" y="4023360"/>
            <a:ext cx="3566160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Entrega 4 fundo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Entrega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376684"/>
            <a:ext cx="317480" cy="317480"/>
          </a:xfrm>
          <a:prstGeom prst="rect">
            <a:avLst/>
          </a:prstGeom>
        </p:spPr>
      </p:pic>
      <p:sp>
        <p:nvSpPr>
          <p:cNvPr id="22" name="Entrega 4 nome"/>
          <p:cNvSpPr txBox="1"/>
          <p:nvPr/>
        </p:nvSpPr>
        <p:spPr>
          <a:xfrm>
            <a:off x="150876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LinkedIn</a:t>
            </a:r>
            <a:endParaRPr lang="en-US" sz="1800" dirty="0"/>
          </a:p>
        </p:txBody>
      </p:sp>
      <p:sp>
        <p:nvSpPr>
          <p:cNvPr id="23" name="Entrega 4 descrição"/>
          <p:cNvSpPr txBox="1"/>
          <p:nvPr/>
        </p:nvSpPr>
        <p:spPr>
          <a:xfrm>
            <a:off x="777240" y="4937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Headline e Sobre · experiências como conquistas · banner e URL · Em destaque · modo criador</a:t>
            </a:r>
            <a:endParaRPr lang="en-US" sz="1300" dirty="0"/>
          </a:p>
        </p:txBody>
      </p:sp>
      <p:sp>
        <p:nvSpPr>
          <p:cNvPr id="24" name="Entrega 5 cartão"/>
          <p:cNvSpPr/>
          <p:nvPr/>
        </p:nvSpPr>
        <p:spPr>
          <a:xfrm>
            <a:off x="4306824" y="4023360"/>
            <a:ext cx="3566160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Entrega 5 fundo"/>
          <p:cNvSpPr/>
          <p:nvPr/>
        </p:nvSpPr>
        <p:spPr>
          <a:xfrm>
            <a:off x="4535424" y="42519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Entrega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148" y="4376684"/>
            <a:ext cx="317480" cy="317480"/>
          </a:xfrm>
          <a:prstGeom prst="rect">
            <a:avLst/>
          </a:prstGeom>
        </p:spPr>
      </p:pic>
      <p:sp>
        <p:nvSpPr>
          <p:cNvPr id="27" name="Entrega 5 nome"/>
          <p:cNvSpPr txBox="1"/>
          <p:nvPr/>
        </p:nvSpPr>
        <p:spPr>
          <a:xfrm>
            <a:off x="5266944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Site/LP</a:t>
            </a:r>
            <a:endParaRPr lang="en-US" sz="1800" dirty="0"/>
          </a:p>
        </p:txBody>
      </p:sp>
      <p:sp>
        <p:nvSpPr>
          <p:cNvPr id="28" name="Entrega 5 descrição"/>
          <p:cNvSpPr txBox="1"/>
          <p:nvPr/>
        </p:nvSpPr>
        <p:spPr>
          <a:xfrm>
            <a:off x="4535424" y="4937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Página única com sua história, como você ajuda, provas, WhatsApp e links para todas as redes</a:t>
            </a:r>
            <a:endParaRPr lang="en-US" sz="1300" dirty="0"/>
          </a:p>
        </p:txBody>
      </p:sp>
      <p:sp>
        <p:nvSpPr>
          <p:cNvPr id="29" name="Entrega 6 cartão"/>
          <p:cNvSpPr/>
          <p:nvPr/>
        </p:nvSpPr>
        <p:spPr>
          <a:xfrm>
            <a:off x="8065008" y="4023360"/>
            <a:ext cx="3566160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Entrega 6 fundo"/>
          <p:cNvSpPr/>
          <p:nvPr/>
        </p:nvSpPr>
        <p:spPr>
          <a:xfrm>
            <a:off x="8293608" y="4251960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Entrega 6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8332" y="4376684"/>
            <a:ext cx="317480" cy="317480"/>
          </a:xfrm>
          <a:prstGeom prst="rect">
            <a:avLst/>
          </a:prstGeom>
        </p:spPr>
      </p:pic>
      <p:sp>
        <p:nvSpPr>
          <p:cNvPr id="32" name="Entrega 6 nome"/>
          <p:cNvSpPr txBox="1"/>
          <p:nvPr/>
        </p:nvSpPr>
        <p:spPr>
          <a:xfrm>
            <a:off x="9025128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Também inclui</a:t>
            </a:r>
            <a:endParaRPr lang="en-US" sz="1800" dirty="0"/>
          </a:p>
        </p:txBody>
      </p:sp>
      <p:sp>
        <p:nvSpPr>
          <p:cNvPr id="33" name="Entrega 6 descrição"/>
          <p:cNvSpPr txBox="1"/>
          <p:nvPr/>
        </p:nvSpPr>
        <p:spPr>
          <a:xfrm>
            <a:off x="8293608" y="4937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Fluxo de aprovação combinado · autorização de uso de imagem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parte 2 · acompanhamento mensal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Presença constante, todo mês, por 6 meses</a:t>
            </a:r>
            <a:endParaRPr lang="en-US" sz="3200" dirty="0"/>
          </a:p>
        </p:txBody>
      </p:sp>
      <p:sp>
        <p:nvSpPr>
          <p:cNvPr id="4" name="Número 1 cartão"/>
          <p:cNvSpPr/>
          <p:nvPr/>
        </p:nvSpPr>
        <p:spPr>
          <a:xfrm>
            <a:off x="548640" y="1828800"/>
            <a:ext cx="2633472" cy="2331720"/>
          </a:xfrm>
          <a:prstGeom prst="roundRect">
            <a:avLst>
              <a:gd name="adj" fmla="val 549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Número 1 valor"/>
          <p:cNvSpPr txBox="1"/>
          <p:nvPr/>
        </p:nvSpPr>
        <p:spPr>
          <a:xfrm>
            <a:off x="822960" y="201168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12</a:t>
            </a:r>
            <a:endParaRPr lang="en-US" sz="8000" dirty="0"/>
          </a:p>
        </p:txBody>
      </p:sp>
      <p:sp>
        <p:nvSpPr>
          <p:cNvPr id="6" name="Número 1 rótulo"/>
          <p:cNvSpPr txBox="1"/>
          <p:nvPr/>
        </p:nvSpPr>
        <p:spPr>
          <a:xfrm>
            <a:off x="822960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reels editados</a:t>
            </a:r>
            <a:endParaRPr lang="en-US" sz="1600" dirty="0"/>
          </a:p>
        </p:txBody>
      </p:sp>
      <p:sp>
        <p:nvSpPr>
          <p:cNvPr id="7" name="Número 2 cartão"/>
          <p:cNvSpPr/>
          <p:nvPr/>
        </p:nvSpPr>
        <p:spPr>
          <a:xfrm>
            <a:off x="3364992" y="1828800"/>
            <a:ext cx="2633472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Número 2 valor"/>
          <p:cNvSpPr txBox="1"/>
          <p:nvPr/>
        </p:nvSpPr>
        <p:spPr>
          <a:xfrm>
            <a:off x="3639312" y="201168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8</a:t>
            </a:r>
            <a:endParaRPr lang="en-US" sz="8000" dirty="0"/>
          </a:p>
        </p:txBody>
      </p:sp>
      <p:sp>
        <p:nvSpPr>
          <p:cNvPr id="9" name="Número 2 rótulo"/>
          <p:cNvSpPr txBox="1"/>
          <p:nvPr/>
        </p:nvSpPr>
        <p:spPr>
          <a:xfrm>
            <a:off x="3639312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carrosséis com texto e design</a:t>
            </a:r>
            <a:endParaRPr lang="en-US" sz="1600" dirty="0"/>
          </a:p>
        </p:txBody>
      </p:sp>
      <p:sp>
        <p:nvSpPr>
          <p:cNvPr id="10" name="Número 3 cartão"/>
          <p:cNvSpPr/>
          <p:nvPr/>
        </p:nvSpPr>
        <p:spPr>
          <a:xfrm>
            <a:off x="6181344" y="1828800"/>
            <a:ext cx="2633472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Número 3 valor"/>
          <p:cNvSpPr txBox="1"/>
          <p:nvPr/>
        </p:nvSpPr>
        <p:spPr>
          <a:xfrm>
            <a:off x="6455664" y="201168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4</a:t>
            </a:r>
            <a:endParaRPr lang="en-US" sz="8000" dirty="0"/>
          </a:p>
        </p:txBody>
      </p:sp>
      <p:sp>
        <p:nvSpPr>
          <p:cNvPr id="12" name="Número 3 rótulo"/>
          <p:cNvSpPr txBox="1"/>
          <p:nvPr/>
        </p:nvSpPr>
        <p:spPr>
          <a:xfrm>
            <a:off x="6455664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posts de texto no LinkedIn</a:t>
            </a:r>
            <a:endParaRPr lang="en-US" sz="1600" dirty="0"/>
          </a:p>
        </p:txBody>
      </p:sp>
      <p:sp>
        <p:nvSpPr>
          <p:cNvPr id="13" name="Número 4 cartão"/>
          <p:cNvSpPr/>
          <p:nvPr/>
        </p:nvSpPr>
        <p:spPr>
          <a:xfrm>
            <a:off x="8997696" y="1828800"/>
            <a:ext cx="2633472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Número 4 valor"/>
          <p:cNvSpPr txBox="1"/>
          <p:nvPr/>
        </p:nvSpPr>
        <p:spPr>
          <a:xfrm>
            <a:off x="9272016" y="201168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2</a:t>
            </a:r>
            <a:endParaRPr lang="en-US" sz="8000" dirty="0"/>
          </a:p>
        </p:txBody>
      </p:sp>
      <p:sp>
        <p:nvSpPr>
          <p:cNvPr id="15" name="Número 4 rótulo"/>
          <p:cNvSpPr txBox="1"/>
          <p:nvPr/>
        </p:nvSpPr>
        <p:spPr>
          <a:xfrm>
            <a:off x="9272016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gravações por mês</a:t>
            </a:r>
            <a:endParaRPr lang="en-US" sz="1600" dirty="0"/>
          </a:p>
        </p:txBody>
      </p:sp>
      <p:sp>
        <p:nvSpPr>
          <p:cNvPr id="16" name="Nota mínimos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mínimos por mês: feriados e semanas difíceis não reduzem o volume</a:t>
            </a:r>
            <a:endParaRPr lang="en-US" sz="1200" dirty="0"/>
          </a:p>
        </p:txBody>
      </p:sp>
      <p:sp>
        <p:nvSpPr>
          <p:cNvPr id="17" name="Inclui 1 fundo"/>
          <p:cNvSpPr/>
          <p:nvPr/>
        </p:nvSpPr>
        <p:spPr>
          <a:xfrm>
            <a:off x="548640" y="4846320"/>
            <a:ext cx="2016252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8" name="Inclui 1"/>
          <p:cNvSpPr txBox="1"/>
          <p:nvPr/>
        </p:nvSpPr>
        <p:spPr>
          <a:xfrm>
            <a:off x="548640" y="4846320"/>
            <a:ext cx="20162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Pautas e roteiros</a:t>
            </a:r>
            <a:endParaRPr lang="en-US" sz="1300" dirty="0"/>
          </a:p>
        </p:txBody>
      </p:sp>
      <p:sp>
        <p:nvSpPr>
          <p:cNvPr id="19" name="Inclui 2 fundo"/>
          <p:cNvSpPr/>
          <p:nvPr/>
        </p:nvSpPr>
        <p:spPr>
          <a:xfrm>
            <a:off x="2702052" y="4846320"/>
            <a:ext cx="2304288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0" name="Inclui 2"/>
          <p:cNvSpPr txBox="1"/>
          <p:nvPr/>
        </p:nvSpPr>
        <p:spPr>
          <a:xfrm>
            <a:off x="2702052" y="484632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Calendário editorial</a:t>
            </a:r>
            <a:endParaRPr lang="en-US" sz="1300" dirty="0"/>
          </a:p>
        </p:txBody>
      </p:sp>
      <p:sp>
        <p:nvSpPr>
          <p:cNvPr id="21" name="Inclui 3 fundo"/>
          <p:cNvSpPr/>
          <p:nvPr/>
        </p:nvSpPr>
        <p:spPr>
          <a:xfrm>
            <a:off x="5143500" y="4846320"/>
            <a:ext cx="24003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Inclui 3"/>
          <p:cNvSpPr txBox="1"/>
          <p:nvPr/>
        </p:nvSpPr>
        <p:spPr>
          <a:xfrm>
            <a:off x="5143500" y="4846320"/>
            <a:ext cx="2400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Legendas e publicação</a:t>
            </a:r>
            <a:endParaRPr lang="en-US" sz="1300" dirty="0"/>
          </a:p>
        </p:txBody>
      </p:sp>
      <p:sp>
        <p:nvSpPr>
          <p:cNvPr id="23" name="Inclui 4 fundo"/>
          <p:cNvSpPr/>
          <p:nvPr/>
        </p:nvSpPr>
        <p:spPr>
          <a:xfrm>
            <a:off x="7680960" y="4846320"/>
            <a:ext cx="2784348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Inclui 4"/>
          <p:cNvSpPr txBox="1"/>
          <p:nvPr/>
        </p:nvSpPr>
        <p:spPr>
          <a:xfrm>
            <a:off x="7680960" y="4846320"/>
            <a:ext cx="27843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Adaptação para o LinkedIn</a:t>
            </a:r>
            <a:endParaRPr lang="en-US" sz="1300" dirty="0"/>
          </a:p>
        </p:txBody>
      </p:sp>
      <p:sp>
        <p:nvSpPr>
          <p:cNvPr id="25" name="Inclui 5 fundo"/>
          <p:cNvSpPr/>
          <p:nvPr/>
        </p:nvSpPr>
        <p:spPr>
          <a:xfrm>
            <a:off x="548640" y="5413248"/>
            <a:ext cx="28803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6" name="Inclui 5"/>
          <p:cNvSpPr txBox="1"/>
          <p:nvPr/>
        </p:nvSpPr>
        <p:spPr>
          <a:xfrm>
            <a:off x="548640" y="54132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Relatório e reunião mensal</a:t>
            </a:r>
            <a:endParaRPr lang="en-US" sz="1300" dirty="0"/>
          </a:p>
        </p:txBody>
      </p:sp>
      <p:sp>
        <p:nvSpPr>
          <p:cNvPr id="27" name="Inclui 6 fundo"/>
          <p:cNvSpPr/>
          <p:nvPr/>
        </p:nvSpPr>
        <p:spPr>
          <a:xfrm>
            <a:off x="3566160" y="5413248"/>
            <a:ext cx="2592324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Inclui 6"/>
          <p:cNvSpPr txBox="1"/>
          <p:nvPr/>
        </p:nvSpPr>
        <p:spPr>
          <a:xfrm>
            <a:off x="3566160" y="5413248"/>
            <a:ext cx="25923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Revisões no 3º e 6º mês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como funciona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gente cuida da técnica. Você aparece com verdade</a:t>
            </a:r>
            <a:endParaRPr lang="en-US" sz="3200" dirty="0"/>
          </a:p>
        </p:txBody>
      </p:sp>
      <p:sp>
        <p:nvSpPr>
          <p:cNvPr id="4" name="Texto ciclo"/>
          <p:cNvSpPr txBox="1"/>
          <p:nvPr/>
        </p:nvSpPr>
        <p:spPr>
          <a:xfrm>
            <a:off x="548640" y="210312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Todo mês roda um ciclo completo de produção.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Seu tempo vai para o que só você pode fazer: estar diante da câmera e responder sua tribo.</a:t>
            </a:r>
            <a:endParaRPr lang="en-US" sz="2000" dirty="0"/>
          </a:p>
        </p:txBody>
      </p:sp>
      <p:sp>
        <p:nvSpPr>
          <p:cNvPr id="5" name="Quadro você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Você fundo"/>
          <p:cNvSpPr/>
          <p:nvPr/>
        </p:nvSpPr>
        <p:spPr>
          <a:xfrm>
            <a:off x="777240" y="481888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Você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4969764"/>
            <a:ext cx="384048" cy="384048"/>
          </a:xfrm>
          <a:prstGeom prst="rect">
            <a:avLst/>
          </a:prstGeom>
        </p:spPr>
      </p:pic>
      <p:sp>
        <p:nvSpPr>
          <p:cNvPr id="8" name="Você texto"/>
          <p:cNvSpPr txBox="1"/>
          <p:nvPr/>
        </p:nvSpPr>
        <p:spPr>
          <a:xfrm>
            <a:off x="1645920" y="4754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Seu papel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gravar e aprovar</a:t>
            </a:r>
            <a:endParaRPr lang="en-US" sz="1500" dirty="0"/>
          </a:p>
        </p:txBody>
      </p:sp>
      <p:sp>
        <p:nvSpPr>
          <p:cNvPr id="9" name="Anel do ciclo"/>
          <p:cNvSpPr/>
          <p:nvPr/>
        </p:nvSpPr>
        <p:spPr>
          <a:xfrm>
            <a:off x="6583680" y="2331720"/>
            <a:ext cx="3200400" cy="32004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2"/>
            </a:solidFill>
            <a:prstDash val="dash"/>
          </a:ln>
        </p:spPr>
      </p:sp>
      <p:pic>
        <p:nvPicPr>
          <p:cNvPr id="10" name="Símbolo centr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766620"/>
            <a:ext cx="1097280" cy="478321"/>
          </a:xfrm>
          <a:prstGeom prst="rect">
            <a:avLst/>
          </a:prstGeom>
        </p:spPr>
      </p:pic>
      <p:sp>
        <p:nvSpPr>
          <p:cNvPr id="11" name="Etapa 1 fundo"/>
          <p:cNvSpPr/>
          <p:nvPr/>
        </p:nvSpPr>
        <p:spPr>
          <a:xfrm>
            <a:off x="7795260" y="19431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Etapa 1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53" y="2114093"/>
            <a:ext cx="435254" cy="435254"/>
          </a:xfrm>
          <a:prstGeom prst="rect">
            <a:avLst/>
          </a:prstGeom>
        </p:spPr>
      </p:pic>
      <p:sp>
        <p:nvSpPr>
          <p:cNvPr id="13" name="Etapa 1 nome"/>
          <p:cNvSpPr txBox="1"/>
          <p:nvPr/>
        </p:nvSpPr>
        <p:spPr>
          <a:xfrm>
            <a:off x="7315200" y="15316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Pauta e roteiro</a:t>
            </a:r>
            <a:endParaRPr lang="en-US" sz="1400" dirty="0"/>
          </a:p>
        </p:txBody>
      </p:sp>
      <p:sp>
        <p:nvSpPr>
          <p:cNvPr id="14" name="Etapa 2 fundo"/>
          <p:cNvSpPr/>
          <p:nvPr/>
        </p:nvSpPr>
        <p:spPr>
          <a:xfrm>
            <a:off x="9317141" y="3048811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Etapa 2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133" y="3219804"/>
            <a:ext cx="435254" cy="435254"/>
          </a:xfrm>
          <a:prstGeom prst="rect">
            <a:avLst/>
          </a:prstGeom>
        </p:spPr>
      </p:pic>
      <p:sp>
        <p:nvSpPr>
          <p:cNvPr id="16" name="Etapa 2 nome"/>
          <p:cNvSpPr txBox="1"/>
          <p:nvPr/>
        </p:nvSpPr>
        <p:spPr>
          <a:xfrm>
            <a:off x="10204109" y="3254551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Gravação</a:t>
            </a:r>
            <a:endParaRPr lang="en-US" sz="1400" dirty="0"/>
          </a:p>
        </p:txBody>
      </p:sp>
      <p:sp>
        <p:nvSpPr>
          <p:cNvPr id="17" name="Etapa 3 fundo"/>
          <p:cNvSpPr/>
          <p:nvPr/>
        </p:nvSpPr>
        <p:spPr>
          <a:xfrm>
            <a:off x="8735834" y="4837889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Etapa 3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827" y="5008882"/>
            <a:ext cx="435254" cy="435254"/>
          </a:xfrm>
          <a:prstGeom prst="rect">
            <a:avLst/>
          </a:prstGeom>
        </p:spPr>
      </p:pic>
      <p:sp>
        <p:nvSpPr>
          <p:cNvPr id="19" name="Etapa 3 nome"/>
          <p:cNvSpPr txBox="1"/>
          <p:nvPr/>
        </p:nvSpPr>
        <p:spPr>
          <a:xfrm>
            <a:off x="9622802" y="5043629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Edição e design</a:t>
            </a:r>
            <a:endParaRPr lang="en-US" sz="1400" dirty="0"/>
          </a:p>
        </p:txBody>
      </p:sp>
      <p:sp>
        <p:nvSpPr>
          <p:cNvPr id="20" name="Etapa 4 fundo"/>
          <p:cNvSpPr/>
          <p:nvPr/>
        </p:nvSpPr>
        <p:spPr>
          <a:xfrm>
            <a:off x="6854686" y="4837889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Etapa 4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679" y="5008882"/>
            <a:ext cx="435254" cy="435254"/>
          </a:xfrm>
          <a:prstGeom prst="rect">
            <a:avLst/>
          </a:prstGeom>
        </p:spPr>
      </p:pic>
      <p:sp>
        <p:nvSpPr>
          <p:cNvPr id="22" name="Etapa 4 nome"/>
          <p:cNvSpPr txBox="1"/>
          <p:nvPr/>
        </p:nvSpPr>
        <p:spPr>
          <a:xfrm>
            <a:off x="5007598" y="5043629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Publicação</a:t>
            </a:r>
            <a:endParaRPr lang="en-US" sz="1400" dirty="0"/>
          </a:p>
        </p:txBody>
      </p:sp>
      <p:sp>
        <p:nvSpPr>
          <p:cNvPr id="23" name="Etapa 5 fundo"/>
          <p:cNvSpPr/>
          <p:nvPr/>
        </p:nvSpPr>
        <p:spPr>
          <a:xfrm>
            <a:off x="6273379" y="3048811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Etapa 5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372" y="3219804"/>
            <a:ext cx="435254" cy="435254"/>
          </a:xfrm>
          <a:prstGeom prst="rect">
            <a:avLst/>
          </a:prstGeom>
        </p:spPr>
      </p:pic>
      <p:sp>
        <p:nvSpPr>
          <p:cNvPr id="25" name="Etapa 5 nome"/>
          <p:cNvSpPr txBox="1"/>
          <p:nvPr/>
        </p:nvSpPr>
        <p:spPr>
          <a:xfrm>
            <a:off x="4426291" y="3254551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5. Relatório e reunião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condição especial de boas-vindas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Nos 3 primeiros meses, gravação semanal</a:t>
            </a:r>
            <a:endParaRPr lang="en-US" sz="3200" dirty="0"/>
          </a:p>
        </p:txBody>
      </p:sp>
      <p:graphicFrame>
        <p:nvGraphicFramePr>
          <p:cNvPr id="4" name="Gráfico de gravações" descr=""/>
          <p:cNvGraphicFramePr/>
          <p:nvPr/>
        </p:nvGraphicFramePr>
        <p:xfrm>
          <a:off x="54864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Quadro bônus"/>
          <p:cNvSpPr/>
          <p:nvPr/>
        </p:nvSpPr>
        <p:spPr>
          <a:xfrm>
            <a:off x="7909560" y="1783080"/>
            <a:ext cx="3730752" cy="4206240"/>
          </a:xfrm>
          <a:prstGeom prst="roundRect">
            <a:avLst>
              <a:gd name="adj" fmla="val 34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esente fundo"/>
          <p:cNvSpPr/>
          <p:nvPr/>
        </p:nvSpPr>
        <p:spPr>
          <a:xfrm>
            <a:off x="8183880" y="205740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Present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2218334"/>
            <a:ext cx="409651" cy="409651"/>
          </a:xfrm>
          <a:prstGeom prst="rect">
            <a:avLst/>
          </a:prstGeom>
        </p:spPr>
      </p:pic>
      <p:sp>
        <p:nvSpPr>
          <p:cNvPr id="8" name="Bônus valor"/>
          <p:cNvSpPr txBox="1"/>
          <p:nvPr/>
        </p:nvSpPr>
        <p:spPr>
          <a:xfrm>
            <a:off x="8183880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+6</a:t>
            </a:r>
            <a:endParaRPr lang="en-US" sz="8000" dirty="0"/>
          </a:p>
        </p:txBody>
      </p:sp>
      <p:sp>
        <p:nvSpPr>
          <p:cNvPr id="9" name="Bônus rótulo"/>
          <p:cNvSpPr txBox="1"/>
          <p:nvPr/>
        </p:nvSpPr>
        <p:spPr>
          <a:xfrm>
            <a:off x="8183880" y="4069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gravações de presente, sem custo adicional</a:t>
            </a:r>
            <a:endParaRPr lang="en-US" sz="1800" dirty="0"/>
          </a:p>
        </p:txBody>
      </p:sp>
      <p:sp>
        <p:nvSpPr>
          <p:cNvPr id="10" name="Bônus motivo"/>
          <p:cNvSpPr txBox="1"/>
          <p:nvPr/>
        </p:nvSpPr>
        <p:spPr>
          <a:xfrm>
            <a:off x="818388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Mais material no início, quando o ritmo da sua marca está nascendo.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como medimos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Não medimos só seguidores</a:t>
            </a:r>
            <a:endParaRPr lang="en-US" sz="3200" dirty="0"/>
          </a:p>
        </p:txBody>
      </p:sp>
      <p:sp>
        <p:nvSpPr>
          <p:cNvPr id="4" name="Camada 1"/>
          <p:cNvSpPr/>
          <p:nvPr/>
        </p:nvSpPr>
        <p:spPr>
          <a:xfrm>
            <a:off x="548640" y="1783080"/>
            <a:ext cx="676656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amada 1 nome"/>
          <p:cNvSpPr txBox="1"/>
          <p:nvPr/>
        </p:nvSpPr>
        <p:spPr>
          <a:xfrm>
            <a:off x="548640" y="178308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Presença</a:t>
            </a:r>
            <a:endParaRPr lang="en-US" sz="1700" dirty="0"/>
          </a:p>
        </p:txBody>
      </p:sp>
      <p:sp>
        <p:nvSpPr>
          <p:cNvPr id="6" name="Camada 1 pergunta"/>
          <p:cNvSpPr txBox="1"/>
          <p:nvPr/>
        </p:nvSpPr>
        <p:spPr>
          <a:xfrm>
            <a:off x="7680960" y="1938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você está aparecendo com constância?</a:t>
            </a:r>
            <a:endParaRPr lang="en-US" sz="1400" dirty="0"/>
          </a:p>
        </p:txBody>
      </p:sp>
      <p:sp>
        <p:nvSpPr>
          <p:cNvPr id="7" name="Camada 2"/>
          <p:cNvSpPr/>
          <p:nvPr/>
        </p:nvSpPr>
        <p:spPr>
          <a:xfrm>
            <a:off x="891540" y="2606040"/>
            <a:ext cx="608076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amada 2 nome"/>
          <p:cNvSpPr txBox="1"/>
          <p:nvPr/>
        </p:nvSpPr>
        <p:spPr>
          <a:xfrm>
            <a:off x="891540" y="260604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Alcance qualificado</a:t>
            </a:r>
            <a:endParaRPr lang="en-US" sz="1700" dirty="0"/>
          </a:p>
        </p:txBody>
      </p:sp>
      <p:sp>
        <p:nvSpPr>
          <p:cNvPr id="9" name="Camada 2 pergunta"/>
          <p:cNvSpPr txBox="1"/>
          <p:nvPr/>
        </p:nvSpPr>
        <p:spPr>
          <a:xfrm>
            <a:off x="7680960" y="27614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 pessoas certas estão te vendo?</a:t>
            </a:r>
            <a:endParaRPr lang="en-US" sz="1400" dirty="0"/>
          </a:p>
        </p:txBody>
      </p:sp>
      <p:sp>
        <p:nvSpPr>
          <p:cNvPr id="10" name="Camada 3"/>
          <p:cNvSpPr/>
          <p:nvPr/>
        </p:nvSpPr>
        <p:spPr>
          <a:xfrm>
            <a:off x="1234440" y="3429000"/>
            <a:ext cx="5394960" cy="713232"/>
          </a:xfrm>
          <a:prstGeom prst="roundRect">
            <a:avLst>
              <a:gd name="adj" fmla="val 1794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mada 3 nome"/>
          <p:cNvSpPr txBox="1"/>
          <p:nvPr/>
        </p:nvSpPr>
        <p:spPr>
          <a:xfrm>
            <a:off x="1234440" y="342900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Conversa</a:t>
            </a:r>
            <a:endParaRPr lang="en-US" sz="1700" dirty="0"/>
          </a:p>
        </p:txBody>
      </p:sp>
      <p:sp>
        <p:nvSpPr>
          <p:cNvPr id="12" name="Camada 3 pergunta"/>
          <p:cNvSpPr txBox="1"/>
          <p:nvPr/>
        </p:nvSpPr>
        <p:spPr>
          <a:xfrm>
            <a:off x="7680960" y="3584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elas salvam, compartilham e te chamam?</a:t>
            </a:r>
            <a:endParaRPr lang="en-US" sz="1400" dirty="0"/>
          </a:p>
        </p:txBody>
      </p:sp>
      <p:sp>
        <p:nvSpPr>
          <p:cNvPr id="13" name="Camada 4"/>
          <p:cNvSpPr/>
          <p:nvPr/>
        </p:nvSpPr>
        <p:spPr>
          <a:xfrm>
            <a:off x="1577340" y="4251960"/>
            <a:ext cx="4709160" cy="713232"/>
          </a:xfrm>
          <a:prstGeom prst="roundRect">
            <a:avLst>
              <a:gd name="adj" fmla="val 1794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Camada 4 nome"/>
          <p:cNvSpPr txBox="1"/>
          <p:nvPr/>
        </p:nvSpPr>
        <p:spPr>
          <a:xfrm>
            <a:off x="1577340" y="425196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Negócio</a:t>
            </a:r>
            <a:endParaRPr lang="en-US" sz="1700" dirty="0"/>
          </a:p>
        </p:txBody>
      </p:sp>
      <p:sp>
        <p:nvSpPr>
          <p:cNvPr id="15" name="Camada 4 pergunta"/>
          <p:cNvSpPr txBox="1"/>
          <p:nvPr/>
        </p:nvSpPr>
        <p:spPr>
          <a:xfrm>
            <a:off x="7680960" y="4407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isso vira reuniões e clientes?</a:t>
            </a:r>
            <a:endParaRPr lang="en-US" sz="1400" dirty="0"/>
          </a:p>
        </p:txBody>
      </p:sp>
      <p:sp>
        <p:nvSpPr>
          <p:cNvPr id="16" name="Camada 5"/>
          <p:cNvSpPr/>
          <p:nvPr/>
        </p:nvSpPr>
        <p:spPr>
          <a:xfrm>
            <a:off x="1920240" y="5074920"/>
            <a:ext cx="4023360" cy="713232"/>
          </a:xfrm>
          <a:prstGeom prst="roundRect">
            <a:avLst>
              <a:gd name="adj" fmla="val 1794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mada 5 nome"/>
          <p:cNvSpPr txBox="1"/>
          <p:nvPr/>
        </p:nvSpPr>
        <p:spPr>
          <a:xfrm>
            <a:off x="1920240" y="50749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Confiança</a:t>
            </a:r>
            <a:endParaRPr lang="en-US" sz="1700" dirty="0"/>
          </a:p>
        </p:txBody>
      </p:sp>
      <p:sp>
        <p:nvSpPr>
          <p:cNvPr id="18" name="Camada 5 pergunta"/>
          <p:cNvSpPr txBox="1"/>
          <p:nvPr/>
        </p:nvSpPr>
        <p:spPr>
          <a:xfrm>
            <a:off x="7680960" y="5230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você se sente mais seguro sendo quem é?</a:t>
            </a:r>
            <a:endParaRPr lang="en-US" sz="1400" dirty="0"/>
          </a:p>
        </p:txBody>
      </p:sp>
      <p:sp>
        <p:nvSpPr>
          <p:cNvPr id="19" name="Nota medição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Tudo comparado com o seu ponto de partida, levantado no diagnóstico.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investimento</a:t>
            </a:r>
            <a:endParaRPr lang="en-US" sz="14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Um ciclo completo, do começo à colheita</a:t>
            </a:r>
            <a:endParaRPr lang="en-US" sz="3200" dirty="0"/>
          </a:p>
        </p:txBody>
      </p:sp>
      <p:sp>
        <p:nvSpPr>
          <p:cNvPr id="4" name="Valor 1 quadro"/>
          <p:cNvSpPr/>
          <p:nvPr/>
        </p:nvSpPr>
        <p:spPr>
          <a:xfrm>
            <a:off x="548640" y="1965960"/>
            <a:ext cx="5440680" cy="2743200"/>
          </a:xfrm>
          <a:prstGeom prst="roundRect">
            <a:avLst>
              <a:gd name="adj" fmla="val 4667"/>
            </a:avLst>
          </a:prstGeom>
          <a:solidFill>
            <a:srgbClr val="202020">
              <a:alpha val="75000"/>
            </a:srgbClr>
          </a:solidFill>
          <a:ln w="19050">
            <a:solidFill>
              <a:srgbClr val="DBFF00"/>
            </a:solidFill>
            <a:prstDash val="solid"/>
          </a:ln>
        </p:spPr>
      </p:sp>
      <p:sp>
        <p:nvSpPr>
          <p:cNvPr id="5" name="Valor 1 rótulo"/>
          <p:cNvSpPr txBox="1"/>
          <p:nvPr/>
        </p:nvSpPr>
        <p:spPr>
          <a:xfrm>
            <a:off x="914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FF00"/>
                </a:solidFill>
              </a:rPr>
              <a:t>implantação</a:t>
            </a:r>
            <a:endParaRPr lang="en-US" sz="1600" dirty="0"/>
          </a:p>
        </p:txBody>
      </p:sp>
      <p:sp>
        <p:nvSpPr>
          <p:cNvPr id="6" name="Valor 1"/>
          <p:cNvSpPr txBox="1"/>
          <p:nvPr/>
        </p:nvSpPr>
        <p:spPr>
          <a:xfrm>
            <a:off x="914400" y="2697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R$ 12.000</a:t>
            </a:r>
            <a:endParaRPr lang="en-US" sz="6000" dirty="0"/>
          </a:p>
        </p:txBody>
      </p:sp>
      <p:sp>
        <p:nvSpPr>
          <p:cNvPr id="7" name="Valor 1 descrição"/>
          <p:cNvSpPr txBox="1"/>
          <p:nvPr/>
        </p:nvSpPr>
        <p:spPr>
          <a:xfrm>
            <a:off x="91440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em 3x de R$ 4.000, junto às 3 primeiras mensalidades</a:t>
            </a:r>
            <a:endParaRPr lang="en-US" sz="1500" dirty="0"/>
          </a:p>
        </p:txBody>
      </p:sp>
      <p:sp>
        <p:nvSpPr>
          <p:cNvPr id="8" name="Valor 2 quadro"/>
          <p:cNvSpPr/>
          <p:nvPr/>
        </p:nvSpPr>
        <p:spPr>
          <a:xfrm>
            <a:off x="6172200" y="1965960"/>
            <a:ext cx="5440680" cy="2743200"/>
          </a:xfrm>
          <a:prstGeom prst="roundRect">
            <a:avLst>
              <a:gd name="adj" fmla="val 4667"/>
            </a:avLst>
          </a:prstGeom>
          <a:solidFill>
            <a:srgbClr val="202020">
              <a:alpha val="75000"/>
            </a:srgbClr>
          </a:solidFill>
          <a:ln w="19050">
            <a:solidFill>
              <a:srgbClr val="FF19B1"/>
            </a:solidFill>
            <a:prstDash val="solid"/>
          </a:ln>
        </p:spPr>
      </p:sp>
      <p:sp>
        <p:nvSpPr>
          <p:cNvPr id="9" name="Valor 2 rótulo"/>
          <p:cNvSpPr txBox="1"/>
          <p:nvPr/>
        </p:nvSpPr>
        <p:spPr>
          <a:xfrm>
            <a:off x="6537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9B1"/>
                </a:solidFill>
              </a:rPr>
              <a:t>acompanhamento</a:t>
            </a:r>
            <a:endParaRPr lang="en-US" sz="1600" dirty="0"/>
          </a:p>
        </p:txBody>
      </p:sp>
      <p:sp>
        <p:nvSpPr>
          <p:cNvPr id="10" name="Valor 2"/>
          <p:cNvSpPr txBox="1"/>
          <p:nvPr/>
        </p:nvSpPr>
        <p:spPr>
          <a:xfrm>
            <a:off x="6537960" y="2697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R$ 12.000</a:t>
            </a:r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/mês</a:t>
            </a:r>
            <a:endParaRPr lang="en-US" sz="6000" dirty="0"/>
          </a:p>
        </p:txBody>
      </p:sp>
      <p:sp>
        <p:nvSpPr>
          <p:cNvPr id="11" name="Valor 2 descrição"/>
          <p:cNvSpPr txBox="1"/>
          <p:nvPr/>
        </p:nvSpPr>
        <p:spPr>
          <a:xfrm>
            <a:off x="653796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por 6 meses: produção, gravação e gestão das redes</a:t>
            </a:r>
            <a:endParaRPr lang="en-US" sz="1500" dirty="0"/>
          </a:p>
        </p:txBody>
      </p:sp>
      <p:sp>
        <p:nvSpPr>
          <p:cNvPr id="12" name="Total do ciclo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investimento total do ciclo  </a:t>
            </a:r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R$ 84.000</a:t>
            </a:r>
            <a:endParaRPr lang="en-US" sz="1600" dirty="0"/>
          </a:p>
        </p:txBody>
      </p:sp>
      <p:pic>
        <p:nvPicPr>
          <p:cNvPr id="13" name="Logotip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172200"/>
            <a:ext cx="1005840" cy="2054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forma de pagamento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implantação se dilui nos primeiros meses</a:t>
            </a:r>
            <a:endParaRPr lang="en-US" sz="3200" dirty="0"/>
          </a:p>
        </p:txBody>
      </p:sp>
      <p:graphicFrame>
        <p:nvGraphicFramePr>
          <p:cNvPr id="4" name="Gráfico de pagamento" descr=""/>
          <p:cNvGraphicFramePr/>
          <p:nvPr/>
        </p:nvGraphicFramePr>
        <p:xfrm>
          <a:off x="54864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sumo 1 cartão"/>
          <p:cNvSpPr/>
          <p:nvPr/>
        </p:nvSpPr>
        <p:spPr>
          <a:xfrm>
            <a:off x="7909560" y="1783080"/>
            <a:ext cx="3730752" cy="1261872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Resumo 1 rótulo"/>
          <p:cNvSpPr txBox="1"/>
          <p:nvPr/>
        </p:nvSpPr>
        <p:spPr>
          <a:xfrm>
            <a:off x="81838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meses 1 a 3</a:t>
            </a:r>
            <a:endParaRPr lang="en-US" sz="1300" dirty="0"/>
          </a:p>
        </p:txBody>
      </p:sp>
      <p:sp>
        <p:nvSpPr>
          <p:cNvPr id="7" name="Resumo 1 valor"/>
          <p:cNvSpPr txBox="1"/>
          <p:nvPr/>
        </p:nvSpPr>
        <p:spPr>
          <a:xfrm>
            <a:off x="818388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R$ 16.000</a:t>
            </a:r>
            <a:endParaRPr lang="en-US" sz="2800" dirty="0"/>
          </a:p>
        </p:txBody>
      </p:sp>
      <p:sp>
        <p:nvSpPr>
          <p:cNvPr id="8" name="Resumo 1 descrição"/>
          <p:cNvSpPr txBox="1"/>
          <p:nvPr/>
        </p:nvSpPr>
        <p:spPr>
          <a:xfrm>
            <a:off x="8183880" y="2679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R$ 12.000 + R$ 4.000 de implantação</a:t>
            </a:r>
            <a:endParaRPr lang="en-US" sz="1200" dirty="0"/>
          </a:p>
        </p:txBody>
      </p:sp>
      <p:sp>
        <p:nvSpPr>
          <p:cNvPr id="9" name="Resumo 2 cartão"/>
          <p:cNvSpPr/>
          <p:nvPr/>
        </p:nvSpPr>
        <p:spPr>
          <a:xfrm>
            <a:off x="7909560" y="3200400"/>
            <a:ext cx="3730752" cy="1261872"/>
          </a:xfrm>
          <a:prstGeom prst="roundRect">
            <a:avLst>
              <a:gd name="adj" fmla="val 101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Resumo 2 rótulo"/>
          <p:cNvSpPr txBox="1"/>
          <p:nvPr/>
        </p:nvSpPr>
        <p:spPr>
          <a:xfrm>
            <a:off x="818388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meses 4 a 6</a:t>
            </a:r>
            <a:endParaRPr lang="en-US" sz="1300" dirty="0"/>
          </a:p>
        </p:txBody>
      </p:sp>
      <p:sp>
        <p:nvSpPr>
          <p:cNvPr id="11" name="Resumo 2 valor"/>
          <p:cNvSpPr txBox="1"/>
          <p:nvPr/>
        </p:nvSpPr>
        <p:spPr>
          <a:xfrm>
            <a:off x="818388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R$ 12.000</a:t>
            </a:r>
            <a:endParaRPr lang="en-US" sz="2800" dirty="0"/>
          </a:p>
        </p:txBody>
      </p:sp>
      <p:sp>
        <p:nvSpPr>
          <p:cNvPr id="12" name="Resumo 2 descrição"/>
          <p:cNvSpPr txBox="1"/>
          <p:nvPr/>
        </p:nvSpPr>
        <p:spPr>
          <a:xfrm>
            <a:off x="818388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somente o acompanhamento</a:t>
            </a:r>
            <a:endParaRPr lang="en-US" sz="1200" dirty="0"/>
          </a:p>
        </p:txBody>
      </p:sp>
      <p:sp>
        <p:nvSpPr>
          <p:cNvPr id="13" name="Resumo 3 cartão"/>
          <p:cNvSpPr/>
          <p:nvPr/>
        </p:nvSpPr>
        <p:spPr>
          <a:xfrm>
            <a:off x="7909560" y="4617720"/>
            <a:ext cx="3730752" cy="1261872"/>
          </a:xfrm>
          <a:prstGeom prst="roundRect">
            <a:avLst>
              <a:gd name="adj" fmla="val 101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Resumo 3 rótulo"/>
          <p:cNvSpPr txBox="1"/>
          <p:nvPr/>
        </p:nvSpPr>
        <p:spPr>
          <a:xfrm>
            <a:off x="818388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total do ciclo</a:t>
            </a:r>
            <a:endParaRPr lang="en-US" sz="1300" dirty="0"/>
          </a:p>
        </p:txBody>
      </p:sp>
      <p:sp>
        <p:nvSpPr>
          <p:cNvPr id="15" name="Resumo 3 valor"/>
          <p:cNvSpPr txBox="1"/>
          <p:nvPr/>
        </p:nvSpPr>
        <p:spPr>
          <a:xfrm>
            <a:off x="818388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R$ 84.000</a:t>
            </a:r>
            <a:endParaRPr lang="en-US" sz="2800" dirty="0"/>
          </a:p>
        </p:txBody>
      </p:sp>
      <p:sp>
        <p:nvSpPr>
          <p:cNvPr id="16" name="Resumo 3 descrição"/>
          <p:cNvSpPr txBox="1"/>
          <p:nvPr/>
        </p:nvSpPr>
        <p:spPr>
          <a:xfrm>
            <a:off x="8183880" y="5513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6 meses, implantação incluída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para ficar claro desde o começo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não está incluso</a:t>
            </a:r>
            <a:endParaRPr lang="en-US" sz="3200" dirty="0"/>
          </a:p>
        </p:txBody>
      </p:sp>
      <p:sp>
        <p:nvSpPr>
          <p:cNvPr id="4" name="Fora 1 cartão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Fora 1 fundo"/>
          <p:cNvSpPr/>
          <p:nvPr/>
        </p:nvSpPr>
        <p:spPr>
          <a:xfrm>
            <a:off x="749808" y="196596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For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66544"/>
            <a:ext cx="256032" cy="256032"/>
          </a:xfrm>
          <a:prstGeom prst="rect">
            <a:avLst/>
          </a:prstGeom>
        </p:spPr>
      </p:pic>
      <p:sp>
        <p:nvSpPr>
          <p:cNvPr id="7" name="Fora 1 nome"/>
          <p:cNvSpPr txBox="1"/>
          <p:nvPr/>
        </p:nvSpPr>
        <p:spPr>
          <a:xfrm>
            <a:off x="132588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Produção</a:t>
            </a:r>
            <a:endParaRPr lang="en-US" sz="1600" dirty="0"/>
          </a:p>
        </p:txBody>
      </p:sp>
      <p:sp>
        <p:nvSpPr>
          <p:cNvPr id="8" name="Fora 1 itens"/>
          <p:cNvSpPr txBox="1"/>
          <p:nvPr/>
        </p:nvSpPr>
        <p:spPr>
          <a:xfrm>
            <a:off x="749808" y="25328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Tráfego pago e anúncios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Deslocamento fora da Grande SP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Locação, maquiagem e figurino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Modelos, drone e equipe extra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Vídeos longos e eventos</a:t>
            </a:r>
            <a:endParaRPr lang="en-US" sz="1300" dirty="0"/>
          </a:p>
        </p:txBody>
      </p:sp>
      <p:sp>
        <p:nvSpPr>
          <p:cNvPr id="9" name="Fora 2 cartão"/>
          <p:cNvSpPr/>
          <p:nvPr/>
        </p:nvSpPr>
        <p:spPr>
          <a:xfrm>
            <a:off x="4306824" y="178308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Fora 2 fundo"/>
          <p:cNvSpPr/>
          <p:nvPr/>
        </p:nvSpPr>
        <p:spPr>
          <a:xfrm>
            <a:off x="4507992" y="196596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Fora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066544"/>
            <a:ext cx="256032" cy="256032"/>
          </a:xfrm>
          <a:prstGeom prst="rect">
            <a:avLst/>
          </a:prstGeom>
        </p:spPr>
      </p:pic>
      <p:sp>
        <p:nvSpPr>
          <p:cNvPr id="12" name="Fora 2 nome"/>
          <p:cNvSpPr txBox="1"/>
          <p:nvPr/>
        </p:nvSpPr>
        <p:spPr>
          <a:xfrm>
            <a:off x="5084064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Gestão e canais</a:t>
            </a:r>
            <a:endParaRPr lang="en-US" sz="1600" dirty="0"/>
          </a:p>
        </p:txBody>
      </p:sp>
      <p:sp>
        <p:nvSpPr>
          <p:cNvPr id="13" name="Fora 2 itens"/>
          <p:cNvSpPr txBox="1"/>
          <p:nvPr/>
        </p:nvSpPr>
        <p:spPr>
          <a:xfrm>
            <a:off x="4507992" y="25328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Responder comentários e DMs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Stories do dia a dia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Outras redes (TikTok, YouTube…)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Página e redes da empresa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E-mail marketing e newsletter</a:t>
            </a:r>
            <a:endParaRPr lang="en-US" sz="1300" dirty="0"/>
          </a:p>
        </p:txBody>
      </p:sp>
      <p:sp>
        <p:nvSpPr>
          <p:cNvPr id="14" name="Fora 3 cartão"/>
          <p:cNvSpPr/>
          <p:nvPr/>
        </p:nvSpPr>
        <p:spPr>
          <a:xfrm>
            <a:off x="8065008" y="178308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Fora 3 fundo"/>
          <p:cNvSpPr/>
          <p:nvPr/>
        </p:nvSpPr>
        <p:spPr>
          <a:xfrm>
            <a:off x="8266176" y="196596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Fora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66544"/>
            <a:ext cx="256032" cy="256032"/>
          </a:xfrm>
          <a:prstGeom prst="rect">
            <a:avLst/>
          </a:prstGeom>
        </p:spPr>
      </p:pic>
      <p:sp>
        <p:nvSpPr>
          <p:cNvPr id="17" name="Fora 3 nome"/>
          <p:cNvSpPr txBox="1"/>
          <p:nvPr/>
        </p:nvSpPr>
        <p:spPr>
          <a:xfrm>
            <a:off x="8842248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Comunicação</a:t>
            </a:r>
            <a:endParaRPr lang="en-US" sz="1600" dirty="0"/>
          </a:p>
        </p:txBody>
      </p:sp>
      <p:sp>
        <p:nvSpPr>
          <p:cNvPr id="18" name="Fora 3 itens"/>
          <p:cNvSpPr txBox="1"/>
          <p:nvPr/>
        </p:nvSpPr>
        <p:spPr>
          <a:xfrm>
            <a:off x="8266176" y="25328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Assessoria de imprensa e crise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Parcerias com influenciadores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Tradução e outros idiomas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Trilhas licenciadas pagas</a:t>
            </a:r>
            <a:endParaRPr lang="en-US" sz="1300" dirty="0"/>
          </a:p>
        </p:txBody>
      </p:sp>
      <p:sp>
        <p:nvSpPr>
          <p:cNvPr id="19" name="Fora 4 cartão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Fora 4 fundo"/>
          <p:cNvSpPr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Fora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261104"/>
            <a:ext cx="256032" cy="256032"/>
          </a:xfrm>
          <a:prstGeom prst="rect">
            <a:avLst/>
          </a:prstGeom>
        </p:spPr>
      </p:pic>
      <p:sp>
        <p:nvSpPr>
          <p:cNvPr id="22" name="Fora 4 nome"/>
          <p:cNvSpPr txBox="1"/>
          <p:nvPr/>
        </p:nvSpPr>
        <p:spPr>
          <a:xfrm>
            <a:off x="13258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Site</a:t>
            </a:r>
            <a:endParaRPr lang="en-US" sz="1600" dirty="0"/>
          </a:p>
        </p:txBody>
      </p:sp>
      <p:sp>
        <p:nvSpPr>
          <p:cNvPr id="23" name="Fora 4 itens"/>
          <p:cNvSpPr txBox="1"/>
          <p:nvPr/>
        </p:nvSpPr>
        <p:spPr>
          <a:xfrm>
            <a:off x="749808" y="47274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Site com várias páginas, blog ou loja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Domínio, hospedagem e manutenção</a:t>
            </a:r>
            <a:endParaRPr lang="en-US" sz="1300" dirty="0"/>
          </a:p>
        </p:txBody>
      </p:sp>
      <p:sp>
        <p:nvSpPr>
          <p:cNvPr id="24" name="Fora 5 cartão"/>
          <p:cNvSpPr/>
          <p:nvPr/>
        </p:nvSpPr>
        <p:spPr>
          <a:xfrm>
            <a:off x="4306824" y="397764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Fora 5 fundo"/>
          <p:cNvSpPr/>
          <p:nvPr/>
        </p:nvSpPr>
        <p:spPr>
          <a:xfrm>
            <a:off x="4507992" y="416052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6" name="Fora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261104"/>
            <a:ext cx="256032" cy="256032"/>
          </a:xfrm>
          <a:prstGeom prst="rect">
            <a:avLst/>
          </a:prstGeom>
        </p:spPr>
      </p:pic>
      <p:sp>
        <p:nvSpPr>
          <p:cNvPr id="27" name="Fora 5 nome"/>
          <p:cNvSpPr txBox="1"/>
          <p:nvPr/>
        </p:nvSpPr>
        <p:spPr>
          <a:xfrm>
            <a:off x="5084064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Marca e jurídico</a:t>
            </a:r>
            <a:endParaRPr lang="en-US" sz="1600" dirty="0"/>
          </a:p>
        </p:txBody>
      </p:sp>
      <p:sp>
        <p:nvSpPr>
          <p:cNvPr id="28" name="Fora 5 itens"/>
          <p:cNvSpPr txBox="1"/>
          <p:nvPr/>
        </p:nvSpPr>
        <p:spPr>
          <a:xfrm>
            <a:off x="4507992" y="47274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Criação de logotipo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Registro de marca no INPI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Revisão jurídica e compliance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Autorização de imagem de terceiros</a:t>
            </a:r>
            <a:endParaRPr lang="en-US" sz="1300" dirty="0"/>
          </a:p>
        </p:txBody>
      </p:sp>
      <p:sp>
        <p:nvSpPr>
          <p:cNvPr id="29" name="Fora 6 cartão"/>
          <p:cNvSpPr/>
          <p:nvPr/>
        </p:nvSpPr>
        <p:spPr>
          <a:xfrm>
            <a:off x="8065008" y="397764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Fora 6 fundo"/>
          <p:cNvSpPr/>
          <p:nvPr/>
        </p:nvSpPr>
        <p:spPr>
          <a:xfrm>
            <a:off x="8266176" y="416052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1" name="Fora 6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261104"/>
            <a:ext cx="256032" cy="256032"/>
          </a:xfrm>
          <a:prstGeom prst="rect">
            <a:avLst/>
          </a:prstGeom>
        </p:spPr>
      </p:pic>
      <p:sp>
        <p:nvSpPr>
          <p:cNvPr id="32" name="Fora 6 nome"/>
          <p:cNvSpPr txBox="1"/>
          <p:nvPr/>
        </p:nvSpPr>
        <p:spPr>
          <a:xfrm>
            <a:off x="8842248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Resultados</a:t>
            </a:r>
            <a:endParaRPr lang="en-US" sz="1600" dirty="0"/>
          </a:p>
        </p:txBody>
      </p:sp>
      <p:sp>
        <p:nvSpPr>
          <p:cNvPr id="33" name="Fora 6 itens"/>
          <p:cNvSpPr txBox="1"/>
          <p:nvPr/>
        </p:nvSpPr>
        <p:spPr>
          <a:xfrm>
            <a:off x="8266176" y="472744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Garantia de seguidores ou vendas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Selo de verificado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Recuperação de conta invadida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Compra de seguidores (nunca)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combinados e próximos passos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Simples de começar</a:t>
            </a:r>
            <a:endParaRPr lang="en-US" sz="3200" dirty="0"/>
          </a:p>
        </p:txBody>
      </p:sp>
      <p:sp>
        <p:nvSpPr>
          <p:cNvPr id="4" name="Combinado 1 fundo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Combinad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1907804"/>
            <a:ext cx="317480" cy="317480"/>
          </a:xfrm>
          <a:prstGeom prst="rect">
            <a:avLst/>
          </a:prstGeom>
        </p:spPr>
      </p:pic>
      <p:sp>
        <p:nvSpPr>
          <p:cNvPr id="6" name="Combinado 1 texto"/>
          <p:cNvSpPr txBox="1"/>
          <p:nvPr/>
        </p:nvSpPr>
        <p:spPr>
          <a:xfrm>
            <a:off x="1325880" y="17465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Ciclo de 6 meses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 tempo do método completo</a:t>
            </a:r>
            <a:endParaRPr lang="en-US" sz="1600" dirty="0"/>
          </a:p>
        </p:txBody>
      </p:sp>
      <p:sp>
        <p:nvSpPr>
          <p:cNvPr id="7" name="Combinado 2 fundo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Combinad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2712476"/>
            <a:ext cx="317480" cy="317480"/>
          </a:xfrm>
          <a:prstGeom prst="rect">
            <a:avLst/>
          </a:prstGeom>
        </p:spPr>
      </p:pic>
      <p:sp>
        <p:nvSpPr>
          <p:cNvPr id="9" name="Combinado 2 texto"/>
          <p:cNvSpPr txBox="1"/>
          <p:nvPr/>
        </p:nvSpPr>
        <p:spPr>
          <a:xfrm>
            <a:off x="1325880" y="255117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Até 2 rodadas de ajuste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por conteúdo</a:t>
            </a:r>
            <a:endParaRPr lang="en-US" sz="1600" dirty="0"/>
          </a:p>
        </p:txBody>
      </p:sp>
      <p:sp>
        <p:nvSpPr>
          <p:cNvPr id="10" name="Combinado 3 fundo"/>
          <p:cNvSpPr/>
          <p:nvPr/>
        </p:nvSpPr>
        <p:spPr>
          <a:xfrm>
            <a:off x="548640" y="3392424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Combinad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3517148"/>
            <a:ext cx="317480" cy="317480"/>
          </a:xfrm>
          <a:prstGeom prst="rect">
            <a:avLst/>
          </a:prstGeom>
        </p:spPr>
      </p:pic>
      <p:sp>
        <p:nvSpPr>
          <p:cNvPr id="12" name="Combinado 3 texto"/>
          <p:cNvSpPr txBox="1"/>
          <p:nvPr/>
        </p:nvSpPr>
        <p:spPr>
          <a:xfrm>
            <a:off x="1325880" y="33558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Mínimos mensais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 saldo do mês não se acumula</a:t>
            </a:r>
            <a:endParaRPr lang="en-US" sz="1600" dirty="0"/>
          </a:p>
        </p:txBody>
      </p:sp>
      <p:sp>
        <p:nvSpPr>
          <p:cNvPr id="13" name="Combinado 4 fundo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Combinad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4321820"/>
            <a:ext cx="317480" cy="317480"/>
          </a:xfrm>
          <a:prstGeom prst="rect">
            <a:avLst/>
          </a:prstGeom>
        </p:spPr>
      </p:pic>
      <p:sp>
        <p:nvSpPr>
          <p:cNvPr id="15" name="Combinado 4 texto"/>
          <p:cNvSpPr txBox="1"/>
          <p:nvPr/>
        </p:nvSpPr>
        <p:spPr>
          <a:xfrm>
            <a:off x="1325880" y="4160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Extras sob consulta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valores sujeitos à disponibilidade</a:t>
            </a:r>
            <a:endParaRPr lang="en-US" sz="1600" dirty="0"/>
          </a:p>
        </p:txBody>
      </p:sp>
      <p:sp>
        <p:nvSpPr>
          <p:cNvPr id="16" name="Combinado 5 fundo"/>
          <p:cNvSpPr/>
          <p:nvPr/>
        </p:nvSpPr>
        <p:spPr>
          <a:xfrm>
            <a:off x="548640" y="500176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Combinado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5126492"/>
            <a:ext cx="317480" cy="317480"/>
          </a:xfrm>
          <a:prstGeom prst="rect">
            <a:avLst/>
          </a:prstGeom>
        </p:spPr>
      </p:pic>
      <p:sp>
        <p:nvSpPr>
          <p:cNvPr id="18" name="Combinado 5 texto"/>
          <p:cNvSpPr txBox="1"/>
          <p:nvPr/>
        </p:nvSpPr>
        <p:spPr>
          <a:xfrm>
            <a:off x="1325880" y="49651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Portfólio Meov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podemos mostrar o trabalho, salvo pedido de sigilo</a:t>
            </a:r>
            <a:endParaRPr lang="en-US" sz="1600" dirty="0"/>
          </a:p>
        </p:txBody>
      </p:sp>
      <p:sp>
        <p:nvSpPr>
          <p:cNvPr id="19" name="Quadro próximos passos"/>
          <p:cNvSpPr/>
          <p:nvPr/>
        </p:nvSpPr>
        <p:spPr>
          <a:xfrm>
            <a:off x="6400800" y="1783080"/>
            <a:ext cx="5239512" cy="4069080"/>
          </a:xfrm>
          <a:prstGeom prst="roundRect">
            <a:avLst>
              <a:gd name="adj" fmla="val 314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Próximos rótulo"/>
          <p:cNvSpPr txBox="1"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próximos passos</a:t>
            </a:r>
            <a:endParaRPr lang="en-US" sz="1600" dirty="0"/>
          </a:p>
        </p:txBody>
      </p:sp>
      <p:sp>
        <p:nvSpPr>
          <p:cNvPr id="21" name="Passo 1"/>
          <p:cNvSpPr/>
          <p:nvPr/>
        </p:nvSpPr>
        <p:spPr>
          <a:xfrm>
            <a:off x="6766560" y="269748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asso 1 número"/>
          <p:cNvSpPr txBox="1"/>
          <p:nvPr/>
        </p:nvSpPr>
        <p:spPr>
          <a:xfrm>
            <a:off x="6766560" y="2697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23" name="Passo 1 texto"/>
          <p:cNvSpPr txBox="1"/>
          <p:nvPr/>
        </p:nvSpPr>
        <p:spPr>
          <a:xfrm>
            <a:off x="7635240" y="2697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Aprovação da proposta</a:t>
            </a:r>
            <a:endParaRPr lang="en-US" sz="1800" dirty="0"/>
          </a:p>
        </p:txBody>
      </p:sp>
      <p:sp>
        <p:nvSpPr>
          <p:cNvPr id="24" name="Passo 2"/>
          <p:cNvSpPr/>
          <p:nvPr/>
        </p:nvSpPr>
        <p:spPr>
          <a:xfrm>
            <a:off x="6766560" y="365760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Passo 2 número"/>
          <p:cNvSpPr txBox="1"/>
          <p:nvPr/>
        </p:nvSpPr>
        <p:spPr>
          <a:xfrm>
            <a:off x="6766560" y="3657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Passo 2 texto"/>
          <p:cNvSpPr txBox="1"/>
          <p:nvPr/>
        </p:nvSpPr>
        <p:spPr>
          <a:xfrm>
            <a:off x="7635240" y="36576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Assinatura do contrato</a:t>
            </a:r>
            <a:endParaRPr lang="en-US" sz="1800" dirty="0"/>
          </a:p>
        </p:txBody>
      </p:sp>
      <p:sp>
        <p:nvSpPr>
          <p:cNvPr id="27" name="Passo 3"/>
          <p:cNvSpPr/>
          <p:nvPr/>
        </p:nvSpPr>
        <p:spPr>
          <a:xfrm>
            <a:off x="6766560" y="461772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Passo 3 número"/>
          <p:cNvSpPr txBox="1"/>
          <p:nvPr/>
        </p:nvSpPr>
        <p:spPr>
          <a:xfrm>
            <a:off x="6766560" y="4617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29" name="Passo 3 texto"/>
          <p:cNvSpPr txBox="1"/>
          <p:nvPr/>
        </p:nvSpPr>
        <p:spPr>
          <a:xfrm>
            <a:off x="7635240" y="46177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Agendamento do diagnóstico e da imersão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463040" cy="298790"/>
          </a:xfrm>
          <a:prstGeom prst="rect">
            <a:avLst/>
          </a:prstGeom>
        </p:spPr>
      </p:pic>
      <p:sp>
        <p:nvSpPr>
          <p:cNvPr id="3" name="Frase 1"/>
          <p:cNvSpPr txBox="1"/>
          <p:nvPr/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Você já tem a voz.</a:t>
            </a:r>
            <a:endParaRPr lang="en-US" sz="5600" dirty="0"/>
          </a:p>
        </p:txBody>
      </p:sp>
      <p:sp>
        <p:nvSpPr>
          <p:cNvPr id="4" name="Frase 2"/>
          <p:cNvSpPr txBox="1"/>
          <p:nvPr/>
        </p:nvSpPr>
        <p:spPr>
          <a:xfrm>
            <a:off x="548640" y="3337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A gente ajuda você a colocá-la no mundo.</a:t>
            </a:r>
            <a:endParaRPr lang="en-US" sz="3000" dirty="0"/>
          </a:p>
        </p:txBody>
      </p:sp>
      <p:sp>
        <p:nvSpPr>
          <p:cNvPr id="5" name="Frase 3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Sua voz, no ritmo certo.</a:t>
            </a:r>
            <a:endParaRPr lang="en-US" sz="1800" dirty="0"/>
          </a:p>
        </p:txBody>
      </p:sp>
      <p:sp>
        <p:nvSpPr>
          <p:cNvPr id="6" name="Contatos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@meov.creators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  ·   meov.com.br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ov">
  <a:themeElements>
    <a:clrScheme name="Meov">
      <a:dk1>
        <a:srgbClr val="202020"/>
      </a:dk1>
      <a:lt1>
        <a:srgbClr val="FFFFFF"/>
      </a:lt1>
      <a:dk2>
        <a:srgbClr val="4F5F66"/>
      </a:dk2>
      <a:lt2>
        <a:srgbClr val="ECEEEF"/>
      </a:lt2>
      <a:accent1>
        <a:srgbClr val="FF19B1"/>
      </a:accent1>
      <a:accent2>
        <a:srgbClr val="DBFF00"/>
      </a:accent2>
      <a:accent3>
        <a:srgbClr val="31F8FF"/>
      </a:accent3>
      <a:accent4>
        <a:srgbClr val="4F5F66"/>
      </a:accent4>
      <a:accent5>
        <a:srgbClr val="9AA5AA"/>
      </a:accent5>
      <a:accent6>
        <a:srgbClr val="D3D8DA"/>
      </a:accent6>
      <a:hlink>
        <a:srgbClr val="FF19B1"/>
      </a:hlink>
      <a:folHlink>
        <a:srgbClr val="4F5F66"/>
      </a:folHlink>
    </a:clrScheme>
    <a:fontScheme name="Meov">
      <a:majorFont>
        <a:latin typeface="Chillax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hillax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Meov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Meov · Fernando Lohmann</dc:title>
  <dc:subject>PptxGenJS Presentation</dc:subject>
  <dc:creator>Meov</dc:creator>
  <cp:lastModifiedBy>Meov</cp:lastModifiedBy>
  <cp:revision>1</cp:revision>
  <dcterms:created xsi:type="dcterms:W3CDTF">2026-10-28T23:45:39Z</dcterms:created>
  <dcterms:modified xsi:type="dcterms:W3CDTF">2026-10-28T23:45:39Z</dcterms:modified>
</cp:coreProperties>
</file>