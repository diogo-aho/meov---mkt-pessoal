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6d6fd4e-7072-b870-0d1d-d675d49dccf5}">
          <p14:sldIdLst>
            <p14:sldId id="256"/>
            <p14:sldId id="257"/>
          </p14:sldIdLst>
        </p14:section>
        <p14:section name="A Meov" id="{8a6ea511-8feb-f713-e744-d3efa7ffbe83}">
          <p14:sldIdLst>
            <p14:sldId id="258"/>
            <p14:sldId id="259"/>
          </p14:sldIdLst>
        </p14:section>
        <p14:section name="Escopo" id="{2d8b23f1-ed99-b7d0-0dd0-494f310fed52}">
          <p14:sldIdLst>
            <p14:sldId id="260"/>
            <p14:sldId id="261"/>
            <p14:sldId id="262"/>
          </p14:sldIdLst>
        </p14:section>
        <p14:section name="Investimento" id="{95ee3e8a-d1e9-08fd-5ec3-21451fd85b41}">
          <p14:sldIdLst>
            <p14:sldId id="263"/>
          </p14:sldIdLst>
        </p14:section>
        <p14:section name="Combinados" id="{96320df4-da81-c3ae-698d-e64c758c5bc8}">
          <p14:sldIdLst>
            <p14:sldId id="264"/>
          </p14:sldIdLst>
        </p14:section>
        <p14:section name="Encerramento" id="{750ae34c-4db5-ac2b-7f9a-f0f0a244598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D8DAC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D8DACD"/>
                </a:solidFill>
                <a:latin typeface="+mn-lt"/>
              </a:rPr>
              <a:t>valor por mês (R$)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Acompanhamento</c:v>
                </c:pt>
              </c:strCache>
            </c:strRef>
          </c:tx>
          <c:spPr>
            <a:solidFill>
              <a:srgbClr val="D8DACD"/>
            </a:solidFill>
            <a:effectLst/>
          </c:spPr>
          <c:invertIfNegative val="0"/>
          <c:dLbls>
            <c:numFmt formatCode="0&quot; mil&quot;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11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mês 1</c:v>
                  </c:pt>
                  <c:pt idx="1">
                    <c:v>mês 2</c:v>
                  </c:pt>
                  <c:pt idx="2">
                    <c:v>mês 3</c:v>
                  </c:pt>
                  <c:pt idx="3">
                    <c:v>mês 4</c:v>
                  </c:pt>
                  <c:pt idx="4">
                    <c:v>mês 5</c:v>
                  </c:pt>
                  <c:pt idx="5">
                    <c:v>mês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Implantação</c:v>
                </c:pt>
              </c:strCache>
            </c:strRef>
          </c:tx>
          <c:spPr>
            <a:solidFill>
              <a:srgbClr val="FF19B1"/>
            </a:solidFill>
            <a:effectLst/>
          </c:spPr>
          <c:invertIfNegative val="0"/>
          <c:dLbls>
            <c:numFmt formatCode="0&quot; mil&quot;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11E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mês 1</c:v>
                  </c:pt>
                  <c:pt idx="1">
                    <c:v>mês 2</c:v>
                  </c:pt>
                  <c:pt idx="2">
                    <c:v>mês 3</c:v>
                  </c:pt>
                  <c:pt idx="3">
                    <c:v>mês 4</c:v>
                  </c:pt>
                  <c:pt idx="4">
                    <c:v>mês 5</c:v>
                  </c:pt>
                  <c:pt idx="5">
                    <c:v>mês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0&quot; mil&quot;;;;" sourceLinked="0"/>
          <c:txPr>
            <a:bodyPr/>
            <a:lstStyle/>
            <a:p>
              <a:pPr>
                <a:defRPr b="0" i="0" strike="noStrike" sz="1100" u="none">
                  <a:solidFill>
                    <a:srgbClr val="1C211E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8DAC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C211E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D8DAC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1C21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33895" y="3474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PROPOSTA · FERNANDO LOHMANN · 2026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291072"/>
            <a:ext cx="868680" cy="177406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685800" y="868680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33895" y="3474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PROPOSTA · FERNANDO LOHMANN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 ros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5120640"/>
            <a:ext cx="7863840" cy="888614"/>
          </a:xfrm>
          <a:prstGeom prst="rect">
            <a:avLst/>
          </a:prstGeom>
        </p:spPr>
      </p:pic>
      <p:pic>
        <p:nvPicPr>
          <p:cNvPr id="3" name="Logotipo Meov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14400"/>
            <a:ext cx="1554480" cy="317464"/>
          </a:xfrm>
          <a:prstGeom prst="rect">
            <a:avLst/>
          </a:prstGeom>
        </p:spPr>
      </p:pic>
      <p:sp>
        <p:nvSpPr>
          <p:cNvPr id="4" name="Rótulo"/>
          <p:cNvSpPr txBox="1"/>
          <p:nvPr/>
        </p:nvSpPr>
        <p:spPr>
          <a:xfrm>
            <a:off x="685800" y="23774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PROPOSTA COMERCIAL · OUTUBRO 2026</a:t>
            </a:r>
            <a:endParaRPr lang="en-US" sz="100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26974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spc="-10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Marca pessoal, do diagnóstico à presença constante.</a:t>
            </a:r>
            <a:endParaRPr lang="en-US" sz="4600" dirty="0"/>
          </a:p>
        </p:txBody>
      </p:sp>
      <p:sp>
        <p:nvSpPr>
          <p:cNvPr id="6" name="Destinatário"/>
          <p:cNvSpPr txBox="1"/>
          <p:nvPr/>
        </p:nvSpPr>
        <p:spPr>
          <a:xfrm>
            <a:off x="685800" y="4572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aos cuidados de </a:t>
            </a:r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Fernando Lohmann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· O PONTO DE PARTIDA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Você já é referência. Falta o digital mostrar.</a:t>
            </a:r>
            <a:endParaRPr lang="en-US" sz="3400" dirty="0"/>
          </a:p>
        </p:txBody>
      </p:sp>
      <p:sp>
        <p:nvSpPr>
          <p:cNvPr id="4" name="Texto contexto"/>
          <p:cNvSpPr txBox="1"/>
          <p:nvPr/>
        </p:nvSpPr>
        <p:spPr>
          <a:xfrm>
            <a:off x="685800" y="205740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Sua reputação foi construída com anos de entrega, clientes satisfeitos e indicações. Fora das redes, ninguém precisa ser convencido de quem você é.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digital, a história é outra: quem te procura encontra pouco, ou encontra algo que não representa o profissional que você se tornou. Quase sempre não é falta de competência. É falta de clareza sobre o que mostrar, de tempo para produzir com constância e de segurança para se expor.</a:t>
            </a:r>
            <a:endParaRPr lang="en-US" sz="1500" dirty="0"/>
          </a:p>
        </p:txBody>
      </p:sp>
      <p:sp>
        <p:nvSpPr>
          <p:cNvPr id="5" name="Quadro barras"/>
          <p:cNvSpPr/>
          <p:nvPr/>
        </p:nvSpPr>
        <p:spPr>
          <a:xfrm>
            <a:off x="6537960" y="2057400"/>
            <a:ext cx="4967935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Barra 1 rótulo"/>
          <p:cNvSpPr txBox="1"/>
          <p:nvPr/>
        </p:nvSpPr>
        <p:spPr>
          <a:xfrm>
            <a:off x="6858000" y="2286000"/>
            <a:ext cx="4327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REPUTAÇÃO FORA DAS REDES</a:t>
            </a:r>
            <a:endParaRPr lang="en-US" sz="1000" dirty="0"/>
          </a:p>
        </p:txBody>
      </p:sp>
      <p:sp>
        <p:nvSpPr>
          <p:cNvPr id="7" name="Barra 1 trilho"/>
          <p:cNvSpPr/>
          <p:nvPr/>
        </p:nvSpPr>
        <p:spPr>
          <a:xfrm>
            <a:off x="6858000" y="2578608"/>
            <a:ext cx="4327855" cy="329184"/>
          </a:xfrm>
          <a:prstGeom prst="roundRect">
            <a:avLst>
              <a:gd name="adj" fmla="val 4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Barra 1 valor"/>
          <p:cNvSpPr/>
          <p:nvPr/>
        </p:nvSpPr>
        <p:spPr>
          <a:xfrm>
            <a:off x="6858000" y="2578608"/>
            <a:ext cx="3895070" cy="329184"/>
          </a:xfrm>
          <a:prstGeom prst="roundRect">
            <a:avLst>
              <a:gd name="adj" fmla="val 4444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Barra 2 rótulo"/>
          <p:cNvSpPr txBox="1"/>
          <p:nvPr/>
        </p:nvSpPr>
        <p:spPr>
          <a:xfrm>
            <a:off x="6858000" y="3063240"/>
            <a:ext cx="4327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PRESENÇA NO DIGITAL HOJE</a:t>
            </a:r>
            <a:endParaRPr lang="en-US" sz="1000" dirty="0"/>
          </a:p>
        </p:txBody>
      </p:sp>
      <p:sp>
        <p:nvSpPr>
          <p:cNvPr id="10" name="Barra 2 trilho"/>
          <p:cNvSpPr/>
          <p:nvPr/>
        </p:nvSpPr>
        <p:spPr>
          <a:xfrm>
            <a:off x="6858000" y="3355848"/>
            <a:ext cx="4327855" cy="329184"/>
          </a:xfrm>
          <a:prstGeom prst="roundRect">
            <a:avLst>
              <a:gd name="adj" fmla="val 4444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rra 2 valor"/>
          <p:cNvSpPr/>
          <p:nvPr/>
        </p:nvSpPr>
        <p:spPr>
          <a:xfrm>
            <a:off x="6858000" y="3355848"/>
            <a:ext cx="865571" cy="329184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Legenda barras"/>
          <p:cNvSpPr txBox="1"/>
          <p:nvPr/>
        </p:nvSpPr>
        <p:spPr>
          <a:xfrm>
            <a:off x="6858000" y="3767328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distância entre as duas barras é exatamente onde a Meov trabalha.</a:t>
            </a:r>
            <a:endParaRPr lang="en-US" sz="1300" dirty="0"/>
          </a:p>
        </p:txBody>
      </p:sp>
      <p:sp>
        <p:nvSpPr>
          <p:cNvPr id="13" name="Ganho 1 fundo"/>
          <p:cNvSpPr/>
          <p:nvPr/>
        </p:nvSpPr>
        <p:spPr>
          <a:xfrm>
            <a:off x="685800" y="45262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Ganho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4646981"/>
            <a:ext cx="261518" cy="261518"/>
          </a:xfrm>
          <a:prstGeom prst="rect">
            <a:avLst/>
          </a:prstGeom>
        </p:spPr>
      </p:pic>
      <p:sp>
        <p:nvSpPr>
          <p:cNvPr id="15" name="Ganho 1 nome"/>
          <p:cNvSpPr txBox="1"/>
          <p:nvPr/>
        </p:nvSpPr>
        <p:spPr>
          <a:xfrm>
            <a:off x="1371600" y="4599432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Clareza</a:t>
            </a:r>
            <a:endParaRPr lang="en-US" sz="1800" dirty="0"/>
          </a:p>
        </p:txBody>
      </p:sp>
      <p:sp>
        <p:nvSpPr>
          <p:cNvPr id="16" name="Ganho 1 texto"/>
          <p:cNvSpPr txBox="1"/>
          <p:nvPr/>
        </p:nvSpPr>
        <p:spPr>
          <a:xfrm>
            <a:off x="1371600" y="4983480"/>
            <a:ext cx="27227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Saber o que dizer, para quem e por quê. Cada conteúdo nasce de uma estratégia, não de um palpite.</a:t>
            </a:r>
            <a:endParaRPr lang="en-US" sz="1300" dirty="0"/>
          </a:p>
        </p:txBody>
      </p:sp>
      <p:sp>
        <p:nvSpPr>
          <p:cNvPr id="17" name="Ganho 2 fundo"/>
          <p:cNvSpPr/>
          <p:nvPr/>
        </p:nvSpPr>
        <p:spPr>
          <a:xfrm>
            <a:off x="4368698" y="45262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Ganho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399" y="4646981"/>
            <a:ext cx="261518" cy="261518"/>
          </a:xfrm>
          <a:prstGeom prst="rect">
            <a:avLst/>
          </a:prstGeom>
        </p:spPr>
      </p:pic>
      <p:sp>
        <p:nvSpPr>
          <p:cNvPr id="19" name="Ganho 2 nome"/>
          <p:cNvSpPr txBox="1"/>
          <p:nvPr/>
        </p:nvSpPr>
        <p:spPr>
          <a:xfrm>
            <a:off x="5054498" y="4599432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Constância</a:t>
            </a:r>
            <a:endParaRPr lang="en-US" sz="1800" dirty="0"/>
          </a:p>
        </p:txBody>
      </p:sp>
      <p:sp>
        <p:nvSpPr>
          <p:cNvPr id="20" name="Ganho 2 texto"/>
          <p:cNvSpPr txBox="1"/>
          <p:nvPr/>
        </p:nvSpPr>
        <p:spPr>
          <a:xfrm>
            <a:off x="5054498" y="4983480"/>
            <a:ext cx="27227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Presença toda semana, com produção organizada, sem depender da inspiração ou da agenda livre.</a:t>
            </a:r>
            <a:endParaRPr lang="en-US" sz="1300" dirty="0"/>
          </a:p>
        </p:txBody>
      </p:sp>
      <p:sp>
        <p:nvSpPr>
          <p:cNvPr id="21" name="Ganho 3 fundo"/>
          <p:cNvSpPr/>
          <p:nvPr/>
        </p:nvSpPr>
        <p:spPr>
          <a:xfrm>
            <a:off x="8051597" y="4526280"/>
            <a:ext cx="502920" cy="5029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Ganho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2298" y="4646981"/>
            <a:ext cx="261518" cy="261518"/>
          </a:xfrm>
          <a:prstGeom prst="rect">
            <a:avLst/>
          </a:prstGeom>
        </p:spPr>
      </p:pic>
      <p:sp>
        <p:nvSpPr>
          <p:cNvPr id="23" name="Ganho 3 nome"/>
          <p:cNvSpPr txBox="1"/>
          <p:nvPr/>
        </p:nvSpPr>
        <p:spPr>
          <a:xfrm>
            <a:off x="8737397" y="4599432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Segurança</a:t>
            </a:r>
            <a:endParaRPr lang="en-US" sz="1800" dirty="0"/>
          </a:p>
        </p:txBody>
      </p:sp>
      <p:sp>
        <p:nvSpPr>
          <p:cNvPr id="24" name="Ganho 3 texto"/>
          <p:cNvSpPr txBox="1"/>
          <p:nvPr/>
        </p:nvSpPr>
        <p:spPr>
          <a:xfrm>
            <a:off x="8737397" y="4983480"/>
            <a:ext cx="27227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Aparecer sendo quem você é, sem personagem. Com direção de câmera e um time apoiando cada passo.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· QUEM SOMOS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Um time ao seu lado, da estratégia à câmera.</a:t>
            </a:r>
            <a:endParaRPr lang="en-US" sz="3400" dirty="0"/>
          </a:p>
        </p:txBody>
      </p:sp>
      <p:sp>
        <p:nvSpPr>
          <p:cNvPr id="4" name="Quadro manifesto"/>
          <p:cNvSpPr/>
          <p:nvPr/>
        </p:nvSpPr>
        <p:spPr>
          <a:xfrm>
            <a:off x="685800" y="2057400"/>
            <a:ext cx="4343400" cy="3886200"/>
          </a:xfrm>
          <a:prstGeom prst="roundRect">
            <a:avLst>
              <a:gd name="adj" fmla="val 376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Onda manifes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77440"/>
            <a:ext cx="2011680" cy="227320"/>
          </a:xfrm>
          <a:prstGeom prst="rect">
            <a:avLst/>
          </a:prstGeom>
        </p:spPr>
      </p:pic>
      <p:sp>
        <p:nvSpPr>
          <p:cNvPr id="6" name="Manifesto"/>
          <p:cNvSpPr txBox="1"/>
          <p:nvPr/>
        </p:nvSpPr>
        <p:spPr>
          <a:xfrm>
            <a:off x="1051560" y="278892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Não somos uma agência de marketing. Somos um time que apoia técnica e emocionalmente quem decide colocar a própria voz no mundo.</a:t>
            </a:r>
            <a:endParaRPr lang="en-US" sz="1900" dirty="0"/>
          </a:p>
        </p:txBody>
      </p:sp>
      <p:sp>
        <p:nvSpPr>
          <p:cNvPr id="7" name="Manifesto apoio"/>
          <p:cNvSpPr txBox="1"/>
          <p:nvPr/>
        </p:nvSpPr>
        <p:spPr>
          <a:xfrm>
            <a:off x="1051560" y="484632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Por isso nosso trabalho começa antes do primeiro post, entendendo quem você é, e continua depois dele, com produção e gestão todos os meses.</a:t>
            </a:r>
            <a:endParaRPr lang="en-US" sz="1300" dirty="0"/>
          </a:p>
        </p:txBody>
      </p:sp>
      <p:sp>
        <p:nvSpPr>
          <p:cNvPr id="8" name="Frente 1 cartão"/>
          <p:cNvSpPr/>
          <p:nvPr/>
        </p:nvSpPr>
        <p:spPr>
          <a:xfrm>
            <a:off x="5349240" y="2057400"/>
            <a:ext cx="6156655" cy="1261872"/>
          </a:xfrm>
          <a:prstGeom prst="roundRect">
            <a:avLst>
              <a:gd name="adj" fmla="val 115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rente 1 fundo"/>
          <p:cNvSpPr/>
          <p:nvPr/>
        </p:nvSpPr>
        <p:spPr>
          <a:xfrm>
            <a:off x="5623560" y="2331720"/>
            <a:ext cx="640080" cy="64008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0" name="Frente 1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7179" y="2485339"/>
            <a:ext cx="332842" cy="332842"/>
          </a:xfrm>
          <a:prstGeom prst="rect">
            <a:avLst/>
          </a:prstGeom>
        </p:spPr>
      </p:pic>
      <p:sp>
        <p:nvSpPr>
          <p:cNvPr id="11" name="Frente 1 nome"/>
          <p:cNvSpPr txBox="1"/>
          <p:nvPr/>
        </p:nvSpPr>
        <p:spPr>
          <a:xfrm>
            <a:off x="6492240" y="2240280"/>
            <a:ext cx="4785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Estratégia</a:t>
            </a:r>
            <a:endParaRPr lang="en-US" sz="1700" dirty="0"/>
          </a:p>
        </p:txBody>
      </p:sp>
      <p:sp>
        <p:nvSpPr>
          <p:cNvPr id="12" name="Frente 1 texto"/>
          <p:cNvSpPr txBox="1"/>
          <p:nvPr/>
        </p:nvSpPr>
        <p:spPr>
          <a:xfrm>
            <a:off x="6492240" y="2532888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Método Meov organiza quem você é, para quem você fala e como se diferencia no seu mercado. Tudo vira um Brandbook que guia os próximos 6 meses.</a:t>
            </a:r>
            <a:endParaRPr lang="en-US" sz="1300" dirty="0"/>
          </a:p>
        </p:txBody>
      </p:sp>
      <p:sp>
        <p:nvSpPr>
          <p:cNvPr id="13" name="Frente 2 cartão"/>
          <p:cNvSpPr/>
          <p:nvPr/>
        </p:nvSpPr>
        <p:spPr>
          <a:xfrm>
            <a:off x="5349240" y="3383280"/>
            <a:ext cx="6156655" cy="1261872"/>
          </a:xfrm>
          <a:prstGeom prst="roundRect">
            <a:avLst>
              <a:gd name="adj" fmla="val 115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rente 2 fundo"/>
          <p:cNvSpPr/>
          <p:nvPr/>
        </p:nvSpPr>
        <p:spPr>
          <a:xfrm>
            <a:off x="5623560" y="3657600"/>
            <a:ext cx="640080" cy="64008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Frente 2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179" y="3811219"/>
            <a:ext cx="332842" cy="332842"/>
          </a:xfrm>
          <a:prstGeom prst="rect">
            <a:avLst/>
          </a:prstGeom>
        </p:spPr>
      </p:pic>
      <p:sp>
        <p:nvSpPr>
          <p:cNvPr id="16" name="Frente 2 nome"/>
          <p:cNvSpPr txBox="1"/>
          <p:nvPr/>
        </p:nvSpPr>
        <p:spPr>
          <a:xfrm>
            <a:off x="6492240" y="3566160"/>
            <a:ext cx="4785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Audiovisual</a:t>
            </a:r>
            <a:endParaRPr lang="en-US" sz="1700" dirty="0"/>
          </a:p>
        </p:txBody>
      </p:sp>
      <p:sp>
        <p:nvSpPr>
          <p:cNvPr id="17" name="Frente 2 texto"/>
          <p:cNvSpPr txBox="1"/>
          <p:nvPr/>
        </p:nvSpPr>
        <p:spPr>
          <a:xfrm>
            <a:off x="6492240" y="3858768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Direção de imagem, gravação e edição com o cuidado de quem nasceu no audiovisual. Você aparece bem, com naturalidade, e do seu jeito.</a:t>
            </a:r>
            <a:endParaRPr lang="en-US" sz="1300" dirty="0"/>
          </a:p>
        </p:txBody>
      </p:sp>
      <p:sp>
        <p:nvSpPr>
          <p:cNvPr id="18" name="Frente 3 cartão"/>
          <p:cNvSpPr/>
          <p:nvPr/>
        </p:nvSpPr>
        <p:spPr>
          <a:xfrm>
            <a:off x="5349240" y="4709160"/>
            <a:ext cx="6156655" cy="1261872"/>
          </a:xfrm>
          <a:prstGeom prst="roundRect">
            <a:avLst>
              <a:gd name="adj" fmla="val 115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rente 3 fundo"/>
          <p:cNvSpPr/>
          <p:nvPr/>
        </p:nvSpPr>
        <p:spPr>
          <a:xfrm>
            <a:off x="5623560" y="4983480"/>
            <a:ext cx="640080" cy="64008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0" name="Frente 3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7179" y="5137099"/>
            <a:ext cx="332842" cy="332842"/>
          </a:xfrm>
          <a:prstGeom prst="rect">
            <a:avLst/>
          </a:prstGeom>
        </p:spPr>
      </p:pic>
      <p:sp>
        <p:nvSpPr>
          <p:cNvPr id="21" name="Frente 3 nome"/>
          <p:cNvSpPr txBox="1"/>
          <p:nvPr/>
        </p:nvSpPr>
        <p:spPr>
          <a:xfrm>
            <a:off x="6492240" y="4892040"/>
            <a:ext cx="4785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Gestão das redes</a:t>
            </a:r>
            <a:endParaRPr lang="en-US" sz="1700" dirty="0"/>
          </a:p>
        </p:txBody>
      </p:sp>
      <p:sp>
        <p:nvSpPr>
          <p:cNvPr id="22" name="Frente 3 texto"/>
          <p:cNvSpPr txBox="1"/>
          <p:nvPr/>
        </p:nvSpPr>
        <p:spPr>
          <a:xfrm>
            <a:off x="6492240" y="5184648"/>
            <a:ext cx="4785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Instagram, LinkedIn e Site/LP com calendário, roteiros, legendas, design, publicação e relatórios. Você grava e aprova; a gente cuida do resto.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· O MÉTODO E A JORNADA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Da raiz à colheita, em seis meses.</a:t>
            </a:r>
            <a:endParaRPr lang="en-US" sz="3400" dirty="0"/>
          </a:p>
        </p:txBody>
      </p:sp>
      <p:sp>
        <p:nvSpPr>
          <p:cNvPr id="4" name="Linha movimentos"/>
          <p:cNvSpPr/>
          <p:nvPr/>
        </p:nvSpPr>
        <p:spPr>
          <a:xfrm>
            <a:off x="960120" y="2286000"/>
            <a:ext cx="8252231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dash"/>
          </a:ln>
        </p:spPr>
      </p:sp>
      <p:sp>
        <p:nvSpPr>
          <p:cNvPr id="5" name="Movimento 1"/>
          <p:cNvSpPr/>
          <p:nvPr/>
        </p:nvSpPr>
        <p:spPr>
          <a:xfrm>
            <a:off x="685800" y="20116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Movimento 1 número"/>
          <p:cNvSpPr txBox="1"/>
          <p:nvPr/>
        </p:nvSpPr>
        <p:spPr>
          <a:xfrm>
            <a:off x="685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Movimento 1 nome"/>
          <p:cNvSpPr txBox="1"/>
          <p:nvPr/>
        </p:nvSpPr>
        <p:spPr>
          <a:xfrm>
            <a:off x="685800" y="2670048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Raiz</a:t>
            </a:r>
            <a:endParaRPr lang="en-US" sz="1800" dirty="0"/>
          </a:p>
        </p:txBody>
      </p:sp>
      <p:sp>
        <p:nvSpPr>
          <p:cNvPr id="8" name="Movimento 1 texto"/>
          <p:cNvSpPr txBox="1"/>
          <p:nvPr/>
        </p:nvSpPr>
        <p:spPr>
          <a:xfrm>
            <a:off x="685800" y="3017520"/>
            <a:ext cx="2476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Quem você é, por que quer aparecer e o que te torna referência.</a:t>
            </a:r>
            <a:endParaRPr lang="en-US" sz="1300" dirty="0"/>
          </a:p>
        </p:txBody>
      </p:sp>
      <p:sp>
        <p:nvSpPr>
          <p:cNvPr id="9" name="Movimento 2"/>
          <p:cNvSpPr/>
          <p:nvPr/>
        </p:nvSpPr>
        <p:spPr>
          <a:xfrm>
            <a:off x="3436544" y="20116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Movimento 2 número"/>
          <p:cNvSpPr txBox="1"/>
          <p:nvPr/>
        </p:nvSpPr>
        <p:spPr>
          <a:xfrm>
            <a:off x="343654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Movimento 2 nome"/>
          <p:cNvSpPr txBox="1"/>
          <p:nvPr/>
        </p:nvSpPr>
        <p:spPr>
          <a:xfrm>
            <a:off x="3436544" y="2670048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Território</a:t>
            </a:r>
            <a:endParaRPr lang="en-US" sz="1800" dirty="0"/>
          </a:p>
        </p:txBody>
      </p:sp>
      <p:sp>
        <p:nvSpPr>
          <p:cNvPr id="12" name="Movimento 2 texto"/>
          <p:cNvSpPr txBox="1"/>
          <p:nvPr/>
        </p:nvSpPr>
        <p:spPr>
          <a:xfrm>
            <a:off x="3436544" y="3017520"/>
            <a:ext cx="2476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Para quem você fala e qual espaço só você ocupa no mercado.</a:t>
            </a:r>
            <a:endParaRPr lang="en-US" sz="1300" dirty="0"/>
          </a:p>
        </p:txBody>
      </p:sp>
      <p:sp>
        <p:nvSpPr>
          <p:cNvPr id="13" name="Movimento 3"/>
          <p:cNvSpPr/>
          <p:nvPr/>
        </p:nvSpPr>
        <p:spPr>
          <a:xfrm>
            <a:off x="6187288" y="20116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Movimento 3 número"/>
          <p:cNvSpPr txBox="1"/>
          <p:nvPr/>
        </p:nvSpPr>
        <p:spPr>
          <a:xfrm>
            <a:off x="61872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Movimento 3 nome"/>
          <p:cNvSpPr txBox="1"/>
          <p:nvPr/>
        </p:nvSpPr>
        <p:spPr>
          <a:xfrm>
            <a:off x="6187288" y="2670048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Voz</a:t>
            </a:r>
            <a:endParaRPr lang="en-US" sz="1800" dirty="0"/>
          </a:p>
        </p:txBody>
      </p:sp>
      <p:sp>
        <p:nvSpPr>
          <p:cNvPr id="16" name="Movimento 3 texto"/>
          <p:cNvSpPr txBox="1"/>
          <p:nvPr/>
        </p:nvSpPr>
        <p:spPr>
          <a:xfrm>
            <a:off x="6187288" y="3017520"/>
            <a:ext cx="2476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Seu tom, sua imagem e o caminho de quem admira até quem contrata.</a:t>
            </a:r>
            <a:endParaRPr lang="en-US" sz="1300" dirty="0"/>
          </a:p>
        </p:txBody>
      </p:sp>
      <p:sp>
        <p:nvSpPr>
          <p:cNvPr id="17" name="Movimento 4"/>
          <p:cNvSpPr/>
          <p:nvPr/>
        </p:nvSpPr>
        <p:spPr>
          <a:xfrm>
            <a:off x="8938031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Movimento 4 número"/>
          <p:cNvSpPr txBox="1"/>
          <p:nvPr/>
        </p:nvSpPr>
        <p:spPr>
          <a:xfrm>
            <a:off x="8938031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Movimento 4 nome"/>
          <p:cNvSpPr txBox="1"/>
          <p:nvPr/>
        </p:nvSpPr>
        <p:spPr>
          <a:xfrm>
            <a:off x="8938031" y="2670048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Movimento</a:t>
            </a:r>
            <a:endParaRPr lang="en-US" sz="1800" dirty="0"/>
          </a:p>
        </p:txBody>
      </p:sp>
      <p:sp>
        <p:nvSpPr>
          <p:cNvPr id="20" name="Movimento 4 texto"/>
          <p:cNvSpPr txBox="1"/>
          <p:nvPr/>
        </p:nvSpPr>
        <p:spPr>
          <a:xfrm>
            <a:off x="8938031" y="3017520"/>
            <a:ext cx="2476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Temas, canais e plano para aparecer com constância.</a:t>
            </a:r>
            <a:endParaRPr lang="en-US" sz="1300" dirty="0"/>
          </a:p>
        </p:txBody>
      </p:sp>
      <p:sp>
        <p:nvSpPr>
          <p:cNvPr id="21" name="Nota Brandbook"/>
          <p:cNvSpPr txBox="1"/>
          <p:nvPr/>
        </p:nvSpPr>
        <p:spPr>
          <a:xfrm>
            <a:off x="685800" y="3931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resultado é o seu Brandbook: o guia da sua marca e do nosso trabalho conjunto.</a:t>
            </a:r>
            <a:endParaRPr lang="en-US" sz="1300" dirty="0"/>
          </a:p>
        </p:txBody>
      </p:sp>
      <p:sp>
        <p:nvSpPr>
          <p:cNvPr id="22" name="Fase 0 cartão"/>
          <p:cNvSpPr/>
          <p:nvPr/>
        </p:nvSpPr>
        <p:spPr>
          <a:xfrm>
            <a:off x="685800" y="438912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Fase 0 rótulo"/>
          <p:cNvSpPr txBox="1"/>
          <p:nvPr/>
        </p:nvSpPr>
        <p:spPr>
          <a:xfrm>
            <a:off x="850392" y="457200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INÍCIO</a:t>
            </a:r>
            <a:endParaRPr lang="en-US" sz="1000" dirty="0"/>
          </a:p>
        </p:txBody>
      </p:sp>
      <p:sp>
        <p:nvSpPr>
          <p:cNvPr id="24" name="Fase 0 nome"/>
          <p:cNvSpPr txBox="1"/>
          <p:nvPr/>
        </p:nvSpPr>
        <p:spPr>
          <a:xfrm>
            <a:off x="850392" y="489204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Implantação</a:t>
            </a:r>
            <a:endParaRPr lang="en-US" sz="1500" dirty="0"/>
          </a:p>
        </p:txBody>
      </p:sp>
      <p:sp>
        <p:nvSpPr>
          <p:cNvPr id="25" name="Fase 0 texto"/>
          <p:cNvSpPr txBox="1"/>
          <p:nvPr/>
        </p:nvSpPr>
        <p:spPr>
          <a:xfrm>
            <a:off x="850392" y="5257800"/>
            <a:ext cx="11773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método, ensaio e canais prontos</a:t>
            </a:r>
            <a:endParaRPr lang="en-US" sz="1200" dirty="0"/>
          </a:p>
        </p:txBody>
      </p:sp>
      <p:sp>
        <p:nvSpPr>
          <p:cNvPr id="26" name="Fase 1 cartão"/>
          <p:cNvSpPr/>
          <p:nvPr/>
        </p:nvSpPr>
        <p:spPr>
          <a:xfrm>
            <a:off x="2247203" y="438912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ase 1 rótulo"/>
          <p:cNvSpPr txBox="1"/>
          <p:nvPr/>
        </p:nvSpPr>
        <p:spPr>
          <a:xfrm>
            <a:off x="2411795" y="457200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1</a:t>
            </a:r>
            <a:endParaRPr lang="en-US" sz="1000" dirty="0"/>
          </a:p>
        </p:txBody>
      </p:sp>
      <p:sp>
        <p:nvSpPr>
          <p:cNvPr id="28" name="Fase 1 nome"/>
          <p:cNvSpPr txBox="1"/>
          <p:nvPr/>
        </p:nvSpPr>
        <p:spPr>
          <a:xfrm>
            <a:off x="2411795" y="489204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Fundação</a:t>
            </a:r>
            <a:endParaRPr lang="en-US" sz="1500" dirty="0"/>
          </a:p>
        </p:txBody>
      </p:sp>
      <p:sp>
        <p:nvSpPr>
          <p:cNvPr id="29" name="Fase 1 texto"/>
          <p:cNvSpPr txBox="1"/>
          <p:nvPr/>
        </p:nvSpPr>
        <p:spPr>
          <a:xfrm>
            <a:off x="2411795" y="5257800"/>
            <a:ext cx="11773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primeiros conteúdos no ar</a:t>
            </a:r>
            <a:endParaRPr lang="en-US" sz="1200" dirty="0"/>
          </a:p>
        </p:txBody>
      </p:sp>
      <p:sp>
        <p:nvSpPr>
          <p:cNvPr id="30" name="Fase 2 cartão"/>
          <p:cNvSpPr/>
          <p:nvPr/>
        </p:nvSpPr>
        <p:spPr>
          <a:xfrm>
            <a:off x="3808607" y="438912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Fase 2 rótulo"/>
          <p:cNvSpPr txBox="1"/>
          <p:nvPr/>
        </p:nvSpPr>
        <p:spPr>
          <a:xfrm>
            <a:off x="3973199" y="457200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2</a:t>
            </a:r>
            <a:endParaRPr lang="en-US" sz="1000" dirty="0"/>
          </a:p>
        </p:txBody>
      </p:sp>
      <p:sp>
        <p:nvSpPr>
          <p:cNvPr id="32" name="Fase 2 nome"/>
          <p:cNvSpPr txBox="1"/>
          <p:nvPr/>
        </p:nvSpPr>
        <p:spPr>
          <a:xfrm>
            <a:off x="3973199" y="489204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Ritmo</a:t>
            </a:r>
            <a:endParaRPr lang="en-US" sz="1500" dirty="0"/>
          </a:p>
        </p:txBody>
      </p:sp>
      <p:sp>
        <p:nvSpPr>
          <p:cNvPr id="33" name="Fase 2 texto"/>
          <p:cNvSpPr txBox="1"/>
          <p:nvPr/>
        </p:nvSpPr>
        <p:spPr>
          <a:xfrm>
            <a:off x="3973199" y="5257800"/>
            <a:ext cx="11773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constância e séries fixas</a:t>
            </a:r>
            <a:endParaRPr lang="en-US" sz="1200" dirty="0"/>
          </a:p>
        </p:txBody>
      </p:sp>
      <p:sp>
        <p:nvSpPr>
          <p:cNvPr id="34" name="Fase 3 cartão"/>
          <p:cNvSpPr/>
          <p:nvPr/>
        </p:nvSpPr>
        <p:spPr>
          <a:xfrm>
            <a:off x="5370010" y="438912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Fase 3 rótulo"/>
          <p:cNvSpPr txBox="1"/>
          <p:nvPr/>
        </p:nvSpPr>
        <p:spPr>
          <a:xfrm>
            <a:off x="5534602" y="457200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3</a:t>
            </a:r>
            <a:endParaRPr lang="en-US" sz="1000" dirty="0"/>
          </a:p>
        </p:txBody>
      </p:sp>
      <p:sp>
        <p:nvSpPr>
          <p:cNvPr id="36" name="Fase 3 nome"/>
          <p:cNvSpPr txBox="1"/>
          <p:nvPr/>
        </p:nvSpPr>
        <p:spPr>
          <a:xfrm>
            <a:off x="5534602" y="489204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Leitura</a:t>
            </a:r>
            <a:endParaRPr lang="en-US" sz="1500" dirty="0"/>
          </a:p>
        </p:txBody>
      </p:sp>
      <p:sp>
        <p:nvSpPr>
          <p:cNvPr id="37" name="Fase 3 texto"/>
          <p:cNvSpPr txBox="1"/>
          <p:nvPr/>
        </p:nvSpPr>
        <p:spPr>
          <a:xfrm>
            <a:off x="5534602" y="5257800"/>
            <a:ext cx="11773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1ª revisão de rota</a:t>
            </a:r>
            <a:endParaRPr lang="en-US" sz="1200" dirty="0"/>
          </a:p>
        </p:txBody>
      </p:sp>
      <p:sp>
        <p:nvSpPr>
          <p:cNvPr id="38" name="Fase 4 cartão"/>
          <p:cNvSpPr/>
          <p:nvPr/>
        </p:nvSpPr>
        <p:spPr>
          <a:xfrm>
            <a:off x="6931413" y="438912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Fase 4 rótulo"/>
          <p:cNvSpPr txBox="1"/>
          <p:nvPr/>
        </p:nvSpPr>
        <p:spPr>
          <a:xfrm>
            <a:off x="7096005" y="457200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4</a:t>
            </a:r>
            <a:endParaRPr lang="en-US" sz="1000" dirty="0"/>
          </a:p>
        </p:txBody>
      </p:sp>
      <p:sp>
        <p:nvSpPr>
          <p:cNvPr id="40" name="Fase 4 nome"/>
          <p:cNvSpPr txBox="1"/>
          <p:nvPr/>
        </p:nvSpPr>
        <p:spPr>
          <a:xfrm>
            <a:off x="7096005" y="489204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Autoridade</a:t>
            </a:r>
            <a:endParaRPr lang="en-US" sz="1500" dirty="0"/>
          </a:p>
        </p:txBody>
      </p:sp>
      <p:sp>
        <p:nvSpPr>
          <p:cNvPr id="41" name="Fase 4 texto"/>
          <p:cNvSpPr txBox="1"/>
          <p:nvPr/>
        </p:nvSpPr>
        <p:spPr>
          <a:xfrm>
            <a:off x="7096005" y="5257800"/>
            <a:ext cx="11773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casos, provas e opinião</a:t>
            </a:r>
            <a:endParaRPr lang="en-US" sz="1200" dirty="0"/>
          </a:p>
        </p:txBody>
      </p:sp>
      <p:sp>
        <p:nvSpPr>
          <p:cNvPr id="42" name="Fase 5 cartão"/>
          <p:cNvSpPr/>
          <p:nvPr/>
        </p:nvSpPr>
        <p:spPr>
          <a:xfrm>
            <a:off x="8492817" y="438912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Fase 5 rótulo"/>
          <p:cNvSpPr txBox="1"/>
          <p:nvPr/>
        </p:nvSpPr>
        <p:spPr>
          <a:xfrm>
            <a:off x="8657409" y="457200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5</a:t>
            </a:r>
            <a:endParaRPr lang="en-US" sz="1000" dirty="0"/>
          </a:p>
        </p:txBody>
      </p:sp>
      <p:sp>
        <p:nvSpPr>
          <p:cNvPr id="44" name="Fase 5 nome"/>
          <p:cNvSpPr txBox="1"/>
          <p:nvPr/>
        </p:nvSpPr>
        <p:spPr>
          <a:xfrm>
            <a:off x="8657409" y="489204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Autoridade</a:t>
            </a:r>
            <a:endParaRPr lang="en-US" sz="1500" dirty="0"/>
          </a:p>
        </p:txBody>
      </p:sp>
      <p:sp>
        <p:nvSpPr>
          <p:cNvPr id="45" name="Fase 5 texto"/>
          <p:cNvSpPr txBox="1"/>
          <p:nvPr/>
        </p:nvSpPr>
        <p:spPr>
          <a:xfrm>
            <a:off x="8657409" y="5257800"/>
            <a:ext cx="11773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aprofundar e converter</a:t>
            </a:r>
            <a:endParaRPr lang="en-US" sz="1200" dirty="0"/>
          </a:p>
        </p:txBody>
      </p:sp>
      <p:sp>
        <p:nvSpPr>
          <p:cNvPr id="46" name="Fase 6 cartão"/>
          <p:cNvSpPr/>
          <p:nvPr/>
        </p:nvSpPr>
        <p:spPr>
          <a:xfrm>
            <a:off x="10054220" y="4389120"/>
            <a:ext cx="1451675" cy="1600200"/>
          </a:xfrm>
          <a:prstGeom prst="roundRect">
            <a:avLst>
              <a:gd name="adj" fmla="val 1007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Fase 6 rótulo"/>
          <p:cNvSpPr txBox="1"/>
          <p:nvPr/>
        </p:nvSpPr>
        <p:spPr>
          <a:xfrm>
            <a:off x="10218812" y="4572000"/>
            <a:ext cx="11773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MÊS 6</a:t>
            </a:r>
            <a:endParaRPr lang="en-US" sz="1000" dirty="0"/>
          </a:p>
        </p:txBody>
      </p:sp>
      <p:sp>
        <p:nvSpPr>
          <p:cNvPr id="48" name="Fase 6 nome"/>
          <p:cNvSpPr txBox="1"/>
          <p:nvPr/>
        </p:nvSpPr>
        <p:spPr>
          <a:xfrm>
            <a:off x="10218812" y="4892040"/>
            <a:ext cx="1177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Colheita</a:t>
            </a:r>
            <a:endParaRPr lang="en-US" sz="1500" dirty="0"/>
          </a:p>
        </p:txBody>
      </p:sp>
      <p:sp>
        <p:nvSpPr>
          <p:cNvPr id="49" name="Fase 6 texto"/>
          <p:cNvSpPr txBox="1"/>
          <p:nvPr/>
        </p:nvSpPr>
        <p:spPr>
          <a:xfrm>
            <a:off x="10218812" y="5257800"/>
            <a:ext cx="11773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resultado e novo ciclo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 · PARTE 1 · IMPLANTAÇÃO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Primeiro, construímos a base.</a:t>
            </a:r>
            <a:endParaRPr lang="en-US" sz="3400" dirty="0"/>
          </a:p>
        </p:txBody>
      </p:sp>
      <p:sp>
        <p:nvSpPr>
          <p:cNvPr id="4" name="Intro implantação"/>
          <p:cNvSpPr txBox="1"/>
          <p:nvPr/>
        </p:nvSpPr>
        <p:spPr>
          <a:xfrm>
            <a:off x="685800" y="169164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Antes do primeiro conteúdo, organizamos sua marca e deixamos cada canal pronto para receber quem vai te encontrar.</a:t>
            </a:r>
            <a:endParaRPr lang="en-US" sz="1400" dirty="0"/>
          </a:p>
        </p:txBody>
      </p:sp>
      <p:sp>
        <p:nvSpPr>
          <p:cNvPr id="5" name="Entrega 1 cartão"/>
          <p:cNvSpPr/>
          <p:nvPr/>
        </p:nvSpPr>
        <p:spPr>
          <a:xfrm>
            <a:off x="685800" y="2148840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Entrega 1 fundo"/>
          <p:cNvSpPr/>
          <p:nvPr/>
        </p:nvSpPr>
        <p:spPr>
          <a:xfrm>
            <a:off x="941832" y="237744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" name="Entrega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487168"/>
            <a:ext cx="237744" cy="237744"/>
          </a:xfrm>
          <a:prstGeom prst="rect">
            <a:avLst/>
          </a:prstGeom>
        </p:spPr>
      </p:pic>
      <p:sp>
        <p:nvSpPr>
          <p:cNvPr id="8" name="Entrega 1 nome"/>
          <p:cNvSpPr txBox="1"/>
          <p:nvPr/>
        </p:nvSpPr>
        <p:spPr>
          <a:xfrm>
            <a:off x="1527048" y="242316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Método Meov</a:t>
            </a:r>
            <a:endParaRPr lang="en-US" sz="1600" dirty="0"/>
          </a:p>
        </p:txBody>
      </p:sp>
      <p:sp>
        <p:nvSpPr>
          <p:cNvPr id="9" name="Entrega 1 texto"/>
          <p:cNvSpPr txBox="1"/>
          <p:nvPr/>
        </p:nvSpPr>
        <p:spPr>
          <a:xfrm>
            <a:off x="941832" y="292608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Diagnóstico da sua presença atual e de como você é percebido, imersão presencial, Brandbook completo e plano de 6 meses. Regras do seu conselho ou da sua empresa entram desde o início.</a:t>
            </a:r>
            <a:endParaRPr lang="en-US" sz="1200" dirty="0"/>
          </a:p>
        </p:txBody>
      </p:sp>
      <p:sp>
        <p:nvSpPr>
          <p:cNvPr id="10" name="Entrega 2 cartão"/>
          <p:cNvSpPr/>
          <p:nvPr/>
        </p:nvSpPr>
        <p:spPr>
          <a:xfrm>
            <a:off x="4368698" y="2148840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Entrega 2 fundo"/>
          <p:cNvSpPr/>
          <p:nvPr/>
        </p:nvSpPr>
        <p:spPr>
          <a:xfrm>
            <a:off x="4624730" y="237744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2" name="Entrega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58" y="2487168"/>
            <a:ext cx="237744" cy="237744"/>
          </a:xfrm>
          <a:prstGeom prst="rect">
            <a:avLst/>
          </a:prstGeom>
        </p:spPr>
      </p:pic>
      <p:sp>
        <p:nvSpPr>
          <p:cNvPr id="13" name="Entrega 2 nome"/>
          <p:cNvSpPr txBox="1"/>
          <p:nvPr/>
        </p:nvSpPr>
        <p:spPr>
          <a:xfrm>
            <a:off x="5209946" y="242316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Ensaio de marca</a:t>
            </a:r>
            <a:endParaRPr lang="en-US" sz="1600" dirty="0"/>
          </a:p>
        </p:txBody>
      </p:sp>
      <p:sp>
        <p:nvSpPr>
          <p:cNvPr id="14" name="Entrega 2 texto"/>
          <p:cNvSpPr txBox="1"/>
          <p:nvPr/>
        </p:nvSpPr>
        <p:spPr>
          <a:xfrm>
            <a:off x="4624730" y="292608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Uma sessão de fotos com direção de imagem e 12 fotos tratadas, pensadas para perfil, banner, site e conteúdos. Imagem que comunica antes de qualquer palavra.</a:t>
            </a:r>
            <a:endParaRPr lang="en-US" sz="1200" dirty="0"/>
          </a:p>
        </p:txBody>
      </p:sp>
      <p:sp>
        <p:nvSpPr>
          <p:cNvPr id="15" name="Entrega 3 cartão"/>
          <p:cNvSpPr/>
          <p:nvPr/>
        </p:nvSpPr>
        <p:spPr>
          <a:xfrm>
            <a:off x="8051597" y="2148840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ntrega 3 fundo"/>
          <p:cNvSpPr/>
          <p:nvPr/>
        </p:nvSpPr>
        <p:spPr>
          <a:xfrm>
            <a:off x="8307629" y="237744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7" name="Entrega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2487168"/>
            <a:ext cx="237744" cy="237744"/>
          </a:xfrm>
          <a:prstGeom prst="rect">
            <a:avLst/>
          </a:prstGeom>
        </p:spPr>
      </p:pic>
      <p:sp>
        <p:nvSpPr>
          <p:cNvPr id="18" name="Entrega 3 nome"/>
          <p:cNvSpPr txBox="1"/>
          <p:nvPr/>
        </p:nvSpPr>
        <p:spPr>
          <a:xfrm>
            <a:off x="8892845" y="2423160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</a:t>
            </a:r>
            <a:endParaRPr lang="en-US" sz="1600" dirty="0"/>
          </a:p>
        </p:txBody>
      </p:sp>
      <p:sp>
        <p:nvSpPr>
          <p:cNvPr id="19" name="Entrega 3 texto"/>
          <p:cNvSpPr txBox="1"/>
          <p:nvPr/>
        </p:nvSpPr>
        <p:spPr>
          <a:xfrm>
            <a:off x="8307629" y="2926080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Conta de criador, bio, link, destaques, 3 posts fixados e templates próprios. Segurança com verificação em duas etapas e acesso pelo Meta Business Suite, sem troca de senha.</a:t>
            </a:r>
            <a:endParaRPr lang="en-US" sz="1200" dirty="0"/>
          </a:p>
        </p:txBody>
      </p:sp>
      <p:sp>
        <p:nvSpPr>
          <p:cNvPr id="20" name="Entrega 4 cartão"/>
          <p:cNvSpPr/>
          <p:nvPr/>
        </p:nvSpPr>
        <p:spPr>
          <a:xfrm>
            <a:off x="685800" y="4233672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Entrega 4 fundo"/>
          <p:cNvSpPr/>
          <p:nvPr/>
        </p:nvSpPr>
        <p:spPr>
          <a:xfrm>
            <a:off x="941832" y="4462272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2" name="Entrega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572000"/>
            <a:ext cx="237744" cy="237744"/>
          </a:xfrm>
          <a:prstGeom prst="rect">
            <a:avLst/>
          </a:prstGeom>
        </p:spPr>
      </p:pic>
      <p:sp>
        <p:nvSpPr>
          <p:cNvPr id="23" name="Entrega 4 nome"/>
          <p:cNvSpPr txBox="1"/>
          <p:nvPr/>
        </p:nvSpPr>
        <p:spPr>
          <a:xfrm>
            <a:off x="1527048" y="4507992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600" dirty="0"/>
          </a:p>
        </p:txBody>
      </p:sp>
      <p:sp>
        <p:nvSpPr>
          <p:cNvPr id="24" name="Entrega 4 texto"/>
          <p:cNvSpPr txBox="1"/>
          <p:nvPr/>
        </p:nvSpPr>
        <p:spPr>
          <a:xfrm>
            <a:off x="941832" y="5010912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Headline, Sobre e experiências como conquistas, banner, URL, Em destaque, competências e modo criador. O perfil passa a contar a mesma história do conteúdo.</a:t>
            </a:r>
            <a:endParaRPr lang="en-US" sz="1200" dirty="0"/>
          </a:p>
        </p:txBody>
      </p:sp>
      <p:sp>
        <p:nvSpPr>
          <p:cNvPr id="25" name="Entrega 5 cartão"/>
          <p:cNvSpPr/>
          <p:nvPr/>
        </p:nvSpPr>
        <p:spPr>
          <a:xfrm>
            <a:off x="4368698" y="4233672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Entrega 5 fundo"/>
          <p:cNvSpPr/>
          <p:nvPr/>
        </p:nvSpPr>
        <p:spPr>
          <a:xfrm>
            <a:off x="4624730" y="4462272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7" name="Entrega 5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458" y="4572000"/>
            <a:ext cx="237744" cy="237744"/>
          </a:xfrm>
          <a:prstGeom prst="rect">
            <a:avLst/>
          </a:prstGeom>
        </p:spPr>
      </p:pic>
      <p:sp>
        <p:nvSpPr>
          <p:cNvPr id="28" name="Entrega 5 nome"/>
          <p:cNvSpPr txBox="1"/>
          <p:nvPr/>
        </p:nvSpPr>
        <p:spPr>
          <a:xfrm>
            <a:off x="5209946" y="4507992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Site/LP</a:t>
            </a:r>
            <a:endParaRPr lang="en-US" sz="1600" dirty="0"/>
          </a:p>
        </p:txBody>
      </p:sp>
      <p:sp>
        <p:nvSpPr>
          <p:cNvPr id="29" name="Entrega 5 texto"/>
          <p:cNvSpPr txBox="1"/>
          <p:nvPr/>
        </p:nvSpPr>
        <p:spPr>
          <a:xfrm>
            <a:off x="4624730" y="5010912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Uma página com sua apresentação, história, como você ajuda, provas, chamada para o WhatsApp e links para todas as suas redes. O lugar onde a decisão de te procurar se confirma.</a:t>
            </a:r>
            <a:endParaRPr lang="en-US" sz="1200" dirty="0"/>
          </a:p>
        </p:txBody>
      </p:sp>
      <p:sp>
        <p:nvSpPr>
          <p:cNvPr id="30" name="Entrega 6 cartão"/>
          <p:cNvSpPr/>
          <p:nvPr/>
        </p:nvSpPr>
        <p:spPr>
          <a:xfrm>
            <a:off x="8051597" y="4233672"/>
            <a:ext cx="3454298" cy="192024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Entrega 6 fundo"/>
          <p:cNvSpPr/>
          <p:nvPr/>
        </p:nvSpPr>
        <p:spPr>
          <a:xfrm>
            <a:off x="8307629" y="44622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Entrega 6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357" y="4572000"/>
            <a:ext cx="237744" cy="237744"/>
          </a:xfrm>
          <a:prstGeom prst="rect">
            <a:avLst/>
          </a:prstGeom>
        </p:spPr>
      </p:pic>
      <p:sp>
        <p:nvSpPr>
          <p:cNvPr id="33" name="Entrega 6 nome"/>
          <p:cNvSpPr txBox="1"/>
          <p:nvPr/>
        </p:nvSpPr>
        <p:spPr>
          <a:xfrm>
            <a:off x="8892845" y="4507992"/>
            <a:ext cx="2448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Também inclui</a:t>
            </a:r>
            <a:endParaRPr lang="en-US" sz="1600" dirty="0"/>
          </a:p>
        </p:txBody>
      </p:sp>
      <p:sp>
        <p:nvSpPr>
          <p:cNvPr id="34" name="Entrega 6 texto"/>
          <p:cNvSpPr txBox="1"/>
          <p:nvPr/>
        </p:nvSpPr>
        <p:spPr>
          <a:xfrm>
            <a:off x="8307629" y="5010912"/>
            <a:ext cx="29970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Fluxo de aprovação de conteúdos combinado entre você e a Meov, e autorização de uso de imagem assinada, para trabalharmos com tranquilidade.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 · PARTE 2 · ACOMPANHAMENTO MENSAL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Depois, presença constante todos os meses.</a:t>
            </a:r>
            <a:endParaRPr lang="en-US" sz="3400" dirty="0"/>
          </a:p>
        </p:txBody>
      </p:sp>
      <p:sp>
        <p:nvSpPr>
          <p:cNvPr id="4" name="Número 1 cartão"/>
          <p:cNvSpPr/>
          <p:nvPr/>
        </p:nvSpPr>
        <p:spPr>
          <a:xfrm>
            <a:off x="685800" y="2011680"/>
            <a:ext cx="23317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úmero 1 valor"/>
          <p:cNvSpPr txBox="1"/>
          <p:nvPr/>
        </p:nvSpPr>
        <p:spPr>
          <a:xfrm>
            <a:off x="960120" y="212140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12</a:t>
            </a:r>
            <a:endParaRPr lang="en-US" sz="5400" dirty="0"/>
          </a:p>
        </p:txBody>
      </p:sp>
      <p:sp>
        <p:nvSpPr>
          <p:cNvPr id="6" name="Número 1 rótulo"/>
          <p:cNvSpPr txBox="1"/>
          <p:nvPr/>
        </p:nvSpPr>
        <p:spPr>
          <a:xfrm>
            <a:off x="960120" y="292608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reels editados, com cortes, legendas e trilha</a:t>
            </a:r>
            <a:endParaRPr lang="en-US" sz="1200" dirty="0"/>
          </a:p>
        </p:txBody>
      </p:sp>
      <p:sp>
        <p:nvSpPr>
          <p:cNvPr id="7" name="Número 2 cartão"/>
          <p:cNvSpPr/>
          <p:nvPr/>
        </p:nvSpPr>
        <p:spPr>
          <a:xfrm>
            <a:off x="3200400" y="2011680"/>
            <a:ext cx="23317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úmero 2 valor"/>
          <p:cNvSpPr txBox="1"/>
          <p:nvPr/>
        </p:nvSpPr>
        <p:spPr>
          <a:xfrm>
            <a:off x="3474720" y="212140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8</a:t>
            </a:r>
            <a:endParaRPr lang="en-US" sz="5400" dirty="0"/>
          </a:p>
        </p:txBody>
      </p:sp>
      <p:sp>
        <p:nvSpPr>
          <p:cNvPr id="9" name="Número 2 rótulo"/>
          <p:cNvSpPr txBox="1"/>
          <p:nvPr/>
        </p:nvSpPr>
        <p:spPr>
          <a:xfrm>
            <a:off x="3474720" y="292608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carrosséis com texto e design</a:t>
            </a:r>
            <a:endParaRPr lang="en-US" sz="1200" dirty="0"/>
          </a:p>
        </p:txBody>
      </p:sp>
      <p:sp>
        <p:nvSpPr>
          <p:cNvPr id="10" name="Número 3 cartão"/>
          <p:cNvSpPr/>
          <p:nvPr/>
        </p:nvSpPr>
        <p:spPr>
          <a:xfrm>
            <a:off x="685800" y="3794760"/>
            <a:ext cx="23317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úmero 3 valor"/>
          <p:cNvSpPr txBox="1"/>
          <p:nvPr/>
        </p:nvSpPr>
        <p:spPr>
          <a:xfrm>
            <a:off x="960120" y="390448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4</a:t>
            </a:r>
            <a:endParaRPr lang="en-US" sz="5400" dirty="0"/>
          </a:p>
        </p:txBody>
      </p:sp>
      <p:sp>
        <p:nvSpPr>
          <p:cNvPr id="12" name="Número 3 rótulo"/>
          <p:cNvSpPr txBox="1"/>
          <p:nvPr/>
        </p:nvSpPr>
        <p:spPr>
          <a:xfrm>
            <a:off x="960120" y="47091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posts de texto no LinkedIn, a partir das gravações</a:t>
            </a:r>
            <a:endParaRPr lang="en-US" sz="1200" dirty="0"/>
          </a:p>
        </p:txBody>
      </p:sp>
      <p:sp>
        <p:nvSpPr>
          <p:cNvPr id="13" name="Número 4 cartão"/>
          <p:cNvSpPr/>
          <p:nvPr/>
        </p:nvSpPr>
        <p:spPr>
          <a:xfrm>
            <a:off x="3200400" y="3794760"/>
            <a:ext cx="23317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úmero 4 valor"/>
          <p:cNvSpPr txBox="1"/>
          <p:nvPr/>
        </p:nvSpPr>
        <p:spPr>
          <a:xfrm>
            <a:off x="3474720" y="390448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2</a:t>
            </a:r>
            <a:endParaRPr lang="en-US" sz="5400" dirty="0"/>
          </a:p>
        </p:txBody>
      </p:sp>
      <p:sp>
        <p:nvSpPr>
          <p:cNvPr id="15" name="Número 4 rótulo"/>
          <p:cNvSpPr txBox="1"/>
          <p:nvPr/>
        </p:nvSpPr>
        <p:spPr>
          <a:xfrm>
            <a:off x="3474720" y="470916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gravações de meio período com direção</a:t>
            </a:r>
            <a:endParaRPr lang="en-US" sz="1200" dirty="0"/>
          </a:p>
        </p:txBody>
      </p:sp>
      <p:sp>
        <p:nvSpPr>
          <p:cNvPr id="16" name="Nota mínimos"/>
          <p:cNvSpPr txBox="1"/>
          <p:nvPr/>
        </p:nvSpPr>
        <p:spPr>
          <a:xfrm>
            <a:off x="685800" y="56418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MÍNIMOS POR MÊS</a:t>
            </a:r>
            <a:endParaRPr lang="en-US" sz="1000" dirty="0"/>
          </a:p>
        </p:txBody>
      </p:sp>
      <p:sp>
        <p:nvSpPr>
          <p:cNvPr id="17" name="Quadro boas-vindas"/>
          <p:cNvSpPr/>
          <p:nvPr/>
        </p:nvSpPr>
        <p:spPr>
          <a:xfrm>
            <a:off x="5852160" y="2011680"/>
            <a:ext cx="5653735" cy="9144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Presente fundo"/>
          <p:cNvSpPr/>
          <p:nvPr/>
        </p:nvSpPr>
        <p:spPr>
          <a:xfrm>
            <a:off x="6080760" y="2212848"/>
            <a:ext cx="512064" cy="51206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9" name="Present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3655" y="2335743"/>
            <a:ext cx="266273" cy="266273"/>
          </a:xfrm>
          <a:prstGeom prst="rect">
            <a:avLst/>
          </a:prstGeom>
        </p:spPr>
      </p:pic>
      <p:sp>
        <p:nvSpPr>
          <p:cNvPr id="20" name="Texto boas-vindas"/>
          <p:cNvSpPr txBox="1"/>
          <p:nvPr/>
        </p:nvSpPr>
        <p:spPr>
          <a:xfrm>
            <a:off x="6766560" y="2103120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Boas-vindas: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3 primeiros meses, a gravação é semanal (4 por mês), sem custo adicional. Mais material quando a sua marca está nascendo.</a:t>
            </a:r>
            <a:endParaRPr lang="en-US" sz="1300" dirty="0"/>
          </a:p>
        </p:txBody>
      </p:sp>
      <p:sp>
        <p:nvSpPr>
          <p:cNvPr id="21" name="Rótulo ciclo"/>
          <p:cNvSpPr txBox="1"/>
          <p:nvPr/>
        </p:nvSpPr>
        <p:spPr>
          <a:xfrm>
            <a:off x="5852160" y="3154680"/>
            <a:ext cx="5653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COMO CADA MÊS ACONTECE</a:t>
            </a:r>
            <a:endParaRPr lang="en-US" sz="1000" dirty="0"/>
          </a:p>
        </p:txBody>
      </p:sp>
      <p:sp>
        <p:nvSpPr>
          <p:cNvPr id="22" name="Etapa 1"/>
          <p:cNvSpPr/>
          <p:nvPr/>
        </p:nvSpPr>
        <p:spPr>
          <a:xfrm>
            <a:off x="5852160" y="347472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Etapa 1 número"/>
          <p:cNvSpPr txBox="1"/>
          <p:nvPr/>
        </p:nvSpPr>
        <p:spPr>
          <a:xfrm>
            <a:off x="5852160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Etapa 1 texto"/>
          <p:cNvSpPr txBox="1"/>
          <p:nvPr/>
        </p:nvSpPr>
        <p:spPr>
          <a:xfrm>
            <a:off x="6355080" y="3456432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Pauta e roteiro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partir do seu Brandbook e do que acontece no seu mercado</a:t>
            </a:r>
            <a:endParaRPr lang="en-US" sz="1300" dirty="0"/>
          </a:p>
        </p:txBody>
      </p:sp>
      <p:sp>
        <p:nvSpPr>
          <p:cNvPr id="25" name="Etapa 2"/>
          <p:cNvSpPr/>
          <p:nvPr/>
        </p:nvSpPr>
        <p:spPr>
          <a:xfrm>
            <a:off x="5852160" y="39319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Etapa 2 número"/>
          <p:cNvSpPr txBox="1"/>
          <p:nvPr/>
        </p:nvSpPr>
        <p:spPr>
          <a:xfrm>
            <a:off x="585216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Etapa 2 texto"/>
          <p:cNvSpPr txBox="1"/>
          <p:nvPr/>
        </p:nvSpPr>
        <p:spPr>
          <a:xfrm>
            <a:off x="6355080" y="3913632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Gravação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encontros com direção de imagem, no seu ritmo</a:t>
            </a:r>
            <a:endParaRPr lang="en-US" sz="1300" dirty="0"/>
          </a:p>
        </p:txBody>
      </p:sp>
      <p:sp>
        <p:nvSpPr>
          <p:cNvPr id="28" name="Etapa 3"/>
          <p:cNvSpPr/>
          <p:nvPr/>
        </p:nvSpPr>
        <p:spPr>
          <a:xfrm>
            <a:off x="5852160" y="438912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Etapa 3 número"/>
          <p:cNvSpPr txBox="1"/>
          <p:nvPr/>
        </p:nvSpPr>
        <p:spPr>
          <a:xfrm>
            <a:off x="585216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Etapa 3 texto"/>
          <p:cNvSpPr txBox="1"/>
          <p:nvPr/>
        </p:nvSpPr>
        <p:spPr>
          <a:xfrm>
            <a:off x="6355080" y="4370832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Edição e design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reels finalizados e carrosséis prontos para aprovar</a:t>
            </a:r>
            <a:endParaRPr lang="en-US" sz="1300" dirty="0"/>
          </a:p>
        </p:txBody>
      </p:sp>
      <p:sp>
        <p:nvSpPr>
          <p:cNvPr id="31" name="Etapa 4"/>
          <p:cNvSpPr/>
          <p:nvPr/>
        </p:nvSpPr>
        <p:spPr>
          <a:xfrm>
            <a:off x="5852160" y="484632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2" name="Etapa 4 número"/>
          <p:cNvSpPr txBox="1"/>
          <p:nvPr/>
        </p:nvSpPr>
        <p:spPr>
          <a:xfrm>
            <a:off x="5852160" y="4846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Etapa 4 texto"/>
          <p:cNvSpPr txBox="1"/>
          <p:nvPr/>
        </p:nvSpPr>
        <p:spPr>
          <a:xfrm>
            <a:off x="6355080" y="4828032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Publicação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Instagram e LinkedIn, com o formato certo para cada rede</a:t>
            </a:r>
            <a:endParaRPr lang="en-US" sz="1300" dirty="0"/>
          </a:p>
        </p:txBody>
      </p:sp>
      <p:sp>
        <p:nvSpPr>
          <p:cNvPr id="34" name="Etapa 5"/>
          <p:cNvSpPr/>
          <p:nvPr/>
        </p:nvSpPr>
        <p:spPr>
          <a:xfrm>
            <a:off x="5852160" y="5303520"/>
            <a:ext cx="329184" cy="32918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5" name="Etapa 5 número"/>
          <p:cNvSpPr txBox="1"/>
          <p:nvPr/>
        </p:nvSpPr>
        <p:spPr>
          <a:xfrm>
            <a:off x="5852160" y="5303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Etapa 5 texto"/>
          <p:cNvSpPr txBox="1"/>
          <p:nvPr/>
        </p:nvSpPr>
        <p:spPr>
          <a:xfrm>
            <a:off x="6355080" y="5285232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Relatório e reunião 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 que funcionou, o que ajustar e o plano seguinte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 · COMO MEDIMOS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Não medimos só seguidores.</a:t>
            </a:r>
            <a:endParaRPr lang="en-US" sz="3400" dirty="0"/>
          </a:p>
        </p:txBody>
      </p:sp>
      <p:sp>
        <p:nvSpPr>
          <p:cNvPr id="4" name="Intro medição"/>
          <p:cNvSpPr txBox="1"/>
          <p:nvPr/>
        </p:nvSpPr>
        <p:spPr>
          <a:xfrm>
            <a:off x="685800" y="169164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Número de seguidores é só uma parte da história. Acompanhamos cinco camadas, sempre comparadas com o ponto de partida levantado no diagnóstico, e revisamos a rota no 3º e no 6º mês.</a:t>
            </a:r>
            <a:endParaRPr lang="en-US" sz="1400" dirty="0"/>
          </a:p>
        </p:txBody>
      </p:sp>
      <p:sp>
        <p:nvSpPr>
          <p:cNvPr id="5" name="Camada 1"/>
          <p:cNvSpPr/>
          <p:nvPr/>
        </p:nvSpPr>
        <p:spPr>
          <a:xfrm>
            <a:off x="685800" y="2514600"/>
            <a:ext cx="5120640" cy="566928"/>
          </a:xfrm>
          <a:prstGeom prst="roundRect">
            <a:avLst>
              <a:gd name="adj" fmla="val 258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mada 1 nome"/>
          <p:cNvSpPr txBox="1"/>
          <p:nvPr/>
        </p:nvSpPr>
        <p:spPr>
          <a:xfrm>
            <a:off x="685800" y="251460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Presença</a:t>
            </a:r>
            <a:endParaRPr lang="en-US" sz="1500" dirty="0"/>
          </a:p>
        </p:txBody>
      </p:sp>
      <p:sp>
        <p:nvSpPr>
          <p:cNvPr id="7" name="Camada 1 texto"/>
          <p:cNvSpPr txBox="1"/>
          <p:nvPr/>
        </p:nvSpPr>
        <p:spPr>
          <a:xfrm>
            <a:off x="6263640" y="2551176"/>
            <a:ext cx="5242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Você está aparecendo com constância? Medimos o calendário cumprido e as séries mantidas.</a:t>
            </a:r>
            <a:endParaRPr lang="en-US" sz="1300" dirty="0"/>
          </a:p>
        </p:txBody>
      </p:sp>
      <p:sp>
        <p:nvSpPr>
          <p:cNvPr id="8" name="Camada 2"/>
          <p:cNvSpPr/>
          <p:nvPr/>
        </p:nvSpPr>
        <p:spPr>
          <a:xfrm>
            <a:off x="937260" y="3200400"/>
            <a:ext cx="4617720" cy="566928"/>
          </a:xfrm>
          <a:prstGeom prst="roundRect">
            <a:avLst>
              <a:gd name="adj" fmla="val 258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mada 2 nome"/>
          <p:cNvSpPr txBox="1"/>
          <p:nvPr/>
        </p:nvSpPr>
        <p:spPr>
          <a:xfrm>
            <a:off x="937260" y="320040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Alcance qualificado</a:t>
            </a:r>
            <a:endParaRPr lang="en-US" sz="1500" dirty="0"/>
          </a:p>
        </p:txBody>
      </p:sp>
      <p:sp>
        <p:nvSpPr>
          <p:cNvPr id="10" name="Camada 2 texto"/>
          <p:cNvSpPr txBox="1"/>
          <p:nvPr/>
        </p:nvSpPr>
        <p:spPr>
          <a:xfrm>
            <a:off x="6263640" y="3236976"/>
            <a:ext cx="5242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 pessoas certas estão te vendo? Olhamos quem chega, não só quantos.</a:t>
            </a:r>
            <a:endParaRPr lang="en-US" sz="1300" dirty="0"/>
          </a:p>
        </p:txBody>
      </p:sp>
      <p:sp>
        <p:nvSpPr>
          <p:cNvPr id="11" name="Camada 3"/>
          <p:cNvSpPr/>
          <p:nvPr/>
        </p:nvSpPr>
        <p:spPr>
          <a:xfrm>
            <a:off x="1188720" y="3886200"/>
            <a:ext cx="4114800" cy="566928"/>
          </a:xfrm>
          <a:prstGeom prst="roundRect">
            <a:avLst>
              <a:gd name="adj" fmla="val 258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mada 3 nome"/>
          <p:cNvSpPr txBox="1"/>
          <p:nvPr/>
        </p:nvSpPr>
        <p:spPr>
          <a:xfrm>
            <a:off x="1188720" y="38862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Conversa</a:t>
            </a:r>
            <a:endParaRPr lang="en-US" sz="1500" dirty="0"/>
          </a:p>
        </p:txBody>
      </p:sp>
      <p:sp>
        <p:nvSpPr>
          <p:cNvPr id="13" name="Camada 3 texto"/>
          <p:cNvSpPr txBox="1"/>
          <p:nvPr/>
        </p:nvSpPr>
        <p:spPr>
          <a:xfrm>
            <a:off x="6263640" y="3922776"/>
            <a:ext cx="5242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Elas salvam, compartilham, comentam e te chamam? Sinal de vínculo.</a:t>
            </a:r>
            <a:endParaRPr lang="en-US" sz="1300" dirty="0"/>
          </a:p>
        </p:txBody>
      </p:sp>
      <p:sp>
        <p:nvSpPr>
          <p:cNvPr id="14" name="Camada 4"/>
          <p:cNvSpPr/>
          <p:nvPr/>
        </p:nvSpPr>
        <p:spPr>
          <a:xfrm>
            <a:off x="1440180" y="4572000"/>
            <a:ext cx="3611880" cy="566928"/>
          </a:xfrm>
          <a:prstGeom prst="roundRect">
            <a:avLst>
              <a:gd name="adj" fmla="val 258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amada 4 nome"/>
          <p:cNvSpPr txBox="1"/>
          <p:nvPr/>
        </p:nvSpPr>
        <p:spPr>
          <a:xfrm>
            <a:off x="1440180" y="45720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Negócio</a:t>
            </a:r>
            <a:endParaRPr lang="en-US" sz="1500" dirty="0"/>
          </a:p>
        </p:txBody>
      </p:sp>
      <p:sp>
        <p:nvSpPr>
          <p:cNvPr id="16" name="Camada 4 texto"/>
          <p:cNvSpPr txBox="1"/>
          <p:nvPr/>
        </p:nvSpPr>
        <p:spPr>
          <a:xfrm>
            <a:off x="6263640" y="4608576"/>
            <a:ext cx="5242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Isso vira reuniões, convites e clientes? A camada que paga o investimento.</a:t>
            </a:r>
            <a:endParaRPr lang="en-US" sz="1300" dirty="0"/>
          </a:p>
        </p:txBody>
      </p:sp>
      <p:sp>
        <p:nvSpPr>
          <p:cNvPr id="17" name="Camada 5"/>
          <p:cNvSpPr/>
          <p:nvPr/>
        </p:nvSpPr>
        <p:spPr>
          <a:xfrm>
            <a:off x="1691640" y="5257800"/>
            <a:ext cx="3108960" cy="566928"/>
          </a:xfrm>
          <a:prstGeom prst="roundRect">
            <a:avLst>
              <a:gd name="adj" fmla="val 258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Camada 5 nome"/>
          <p:cNvSpPr txBox="1"/>
          <p:nvPr/>
        </p:nvSpPr>
        <p:spPr>
          <a:xfrm>
            <a:off x="1691640" y="5257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Confiança</a:t>
            </a:r>
            <a:endParaRPr lang="en-US" sz="1500" dirty="0"/>
          </a:p>
        </p:txBody>
      </p:sp>
      <p:sp>
        <p:nvSpPr>
          <p:cNvPr id="19" name="Camada 5 texto"/>
          <p:cNvSpPr txBox="1"/>
          <p:nvPr/>
        </p:nvSpPr>
        <p:spPr>
          <a:xfrm>
            <a:off x="6263640" y="5294376"/>
            <a:ext cx="52422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Você se sente mais seguro sendo quem é? Sem ela, nada se sustenta.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685800" y="8686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07 · INVESTIMENTO</a:t>
            </a:r>
            <a:endParaRPr lang="en-US" sz="1000" dirty="0"/>
          </a:p>
        </p:txBody>
      </p:sp>
      <p:sp>
        <p:nvSpPr>
          <p:cNvPr id="3" name="Título"/>
          <p:cNvSpPr txBox="1"/>
          <p:nvPr/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6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Um ciclo completo, do começo à colheita.</a:t>
            </a:r>
            <a:endParaRPr lang="en-US" sz="3400" dirty="0"/>
          </a:p>
        </p:txBody>
      </p:sp>
      <p:sp>
        <p:nvSpPr>
          <p:cNvPr id="4" name="Valor 1 quadro"/>
          <p:cNvSpPr/>
          <p:nvPr/>
        </p:nvSpPr>
        <p:spPr>
          <a:xfrm>
            <a:off x="685800" y="2103120"/>
            <a:ext cx="5577840" cy="1645920"/>
          </a:xfrm>
          <a:prstGeom prst="roundRect">
            <a:avLst>
              <a:gd name="adj" fmla="val 8889"/>
            </a:avLst>
          </a:prstGeom>
          <a:solidFill>
            <a:srgbClr val="1C211E"/>
          </a:solidFill>
          <a:ln w="12700">
            <a:solidFill>
              <a:srgbClr val="59625A"/>
            </a:solidFill>
            <a:prstDash val="solid"/>
          </a:ln>
        </p:spPr>
      </p:sp>
      <p:sp>
        <p:nvSpPr>
          <p:cNvPr id="5" name="Valor 1 rótulo"/>
          <p:cNvSpPr txBox="1"/>
          <p:nvPr/>
        </p:nvSpPr>
        <p:spPr>
          <a:xfrm>
            <a:off x="1005840" y="23317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IMPLANTAÇÃO</a:t>
            </a:r>
            <a:endParaRPr lang="en-US" sz="1000" dirty="0"/>
          </a:p>
        </p:txBody>
      </p:sp>
      <p:sp>
        <p:nvSpPr>
          <p:cNvPr id="6" name="Valor 1"/>
          <p:cNvSpPr txBox="1"/>
          <p:nvPr/>
        </p:nvSpPr>
        <p:spPr>
          <a:xfrm>
            <a:off x="1005840" y="2560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R$ 12.000</a:t>
            </a:r>
            <a:endParaRPr lang="en-US" sz="3600" dirty="0"/>
          </a:p>
        </p:txBody>
      </p:sp>
      <p:sp>
        <p:nvSpPr>
          <p:cNvPr id="7" name="Valor 1 texto"/>
          <p:cNvSpPr txBox="1"/>
          <p:nvPr/>
        </p:nvSpPr>
        <p:spPr>
          <a:xfrm>
            <a:off x="1005840" y="315468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Método Meov, ensaio de marca, Instagram, LinkedIn e Site/LP. Em 3 parcelas de R$ 4.000, junto às 3 primeiras mensalidades.</a:t>
            </a:r>
            <a:endParaRPr lang="en-US" sz="1200" dirty="0"/>
          </a:p>
        </p:txBody>
      </p:sp>
      <p:sp>
        <p:nvSpPr>
          <p:cNvPr id="8" name="Valor 2 quadro"/>
          <p:cNvSpPr/>
          <p:nvPr/>
        </p:nvSpPr>
        <p:spPr>
          <a:xfrm>
            <a:off x="685800" y="3931920"/>
            <a:ext cx="5577840" cy="1645920"/>
          </a:xfrm>
          <a:prstGeom prst="roundRect">
            <a:avLst>
              <a:gd name="adj" fmla="val 8889"/>
            </a:avLst>
          </a:prstGeom>
          <a:solidFill>
            <a:srgbClr val="1C211E"/>
          </a:solidFill>
          <a:ln w="12700">
            <a:solidFill>
              <a:srgbClr val="59625A"/>
            </a:solidFill>
            <a:prstDash val="solid"/>
          </a:ln>
        </p:spPr>
      </p:sp>
      <p:sp>
        <p:nvSpPr>
          <p:cNvPr id="9" name="Valor 2 rótulo"/>
          <p:cNvSpPr txBox="1"/>
          <p:nvPr/>
        </p:nvSpPr>
        <p:spPr>
          <a:xfrm>
            <a:off x="1005840" y="416052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ACOMPANHAMENTO</a:t>
            </a:r>
            <a:endParaRPr lang="en-US" sz="1000" dirty="0"/>
          </a:p>
        </p:txBody>
      </p:sp>
      <p:sp>
        <p:nvSpPr>
          <p:cNvPr id="10" name="Valor 2"/>
          <p:cNvSpPr txBox="1"/>
          <p:nvPr/>
        </p:nvSpPr>
        <p:spPr>
          <a:xfrm>
            <a:off x="1005840" y="43891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R$ 12.000/mês</a:t>
            </a:r>
            <a:endParaRPr lang="en-US" sz="3600" dirty="0"/>
          </a:p>
        </p:txBody>
      </p:sp>
      <p:sp>
        <p:nvSpPr>
          <p:cNvPr id="11" name="Valor 2 texto"/>
          <p:cNvSpPr txBox="1"/>
          <p:nvPr/>
        </p:nvSpPr>
        <p:spPr>
          <a:xfrm>
            <a:off x="1005840" y="498348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Por 6 meses: gravações com direção, reels, carrosséis, posts no LinkedIn e gestão completa das redes.</a:t>
            </a:r>
            <a:endParaRPr lang="en-US" sz="1200" dirty="0"/>
          </a:p>
        </p:txBody>
      </p:sp>
      <p:graphicFrame>
        <p:nvGraphicFramePr>
          <p:cNvPr id="12" name="Gráfico de pagamento" descr=""/>
          <p:cNvGraphicFramePr/>
          <p:nvPr/>
        </p:nvGraphicFramePr>
        <p:xfrm>
          <a:off x="6629400" y="2103120"/>
          <a:ext cx="4876495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Resumo pagamento"/>
          <p:cNvSpPr txBox="1"/>
          <p:nvPr/>
        </p:nvSpPr>
        <p:spPr>
          <a:xfrm>
            <a:off x="685800" y="589788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MESES 1–3  </a:t>
            </a:r>
            <a:pPr indent="0" marL="0">
              <a:buNone/>
            </a:pPr>
            <a:r>
              <a:rPr lang="en-US" sz="1200" spc="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R$ 16.000/mês</a:t>
            </a:r>
            <a:pPr indent="0" marL="0">
              <a:buNone/>
            </a:pPr>
            <a:r>
              <a:rPr lang="en-US" sz="1200" spc="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     MESES 4–6  </a:t>
            </a:r>
            <a:pPr indent="0" marL="0">
              <a:buNone/>
            </a:pPr>
            <a:r>
              <a:rPr lang="en-US" sz="1200" spc="50" kern="0" dirty="0">
                <a:solidFill>
                  <a:schemeClr val="bg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R$ 12.000/mês</a:t>
            </a:r>
            <a:pPr indent="0" marL="0">
              <a:buNone/>
            </a:pPr>
            <a:r>
              <a:rPr lang="en-US" sz="1200" spc="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      TOTAL DO CICLO  </a:t>
            </a:r>
            <a:pPr indent="0" marL="0">
              <a:buNone/>
            </a:pPr>
            <a:r>
              <a:rPr lang="en-US" sz="1200" spc="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R$ 84.000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858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spc="150" kern="0" dirty="0">
                <a:solidFill>
                  <a:schemeClr val="accent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08 · COMBINADOS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60" kern="0" dirty="0">
                <a:solidFill>
                  <a:schemeClr val="tx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O que fica de fora, para ficar claro desde o começo.</a:t>
            </a:r>
            <a:endParaRPr lang="en-US" sz="3400" dirty="0"/>
          </a:p>
        </p:txBody>
      </p:sp>
      <p:sp>
        <p:nvSpPr>
          <p:cNvPr id="4" name="Fora 1 cartão"/>
          <p:cNvSpPr/>
          <p:nvPr/>
        </p:nvSpPr>
        <p:spPr>
          <a:xfrm>
            <a:off x="685800" y="1965960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ora 1 nome"/>
          <p:cNvSpPr txBox="1"/>
          <p:nvPr/>
        </p:nvSpPr>
        <p:spPr>
          <a:xfrm>
            <a:off x="941832" y="2167128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PRODUÇÃO</a:t>
            </a:r>
            <a:endParaRPr lang="en-US" sz="1000" dirty="0"/>
          </a:p>
        </p:txBody>
      </p:sp>
      <p:sp>
        <p:nvSpPr>
          <p:cNvPr id="6" name="Fora 1 texto"/>
          <p:cNvSpPr txBox="1"/>
          <p:nvPr/>
        </p:nvSpPr>
        <p:spPr>
          <a:xfrm>
            <a:off x="941832" y="24688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Tráfego pago · deslocamento fora da Grande SP · locação, maquiagem e figurino · modelos, drone e equipe extra · vídeos longos e eventos</a:t>
            </a:r>
            <a:endParaRPr lang="en-US" sz="1300" dirty="0"/>
          </a:p>
        </p:txBody>
      </p:sp>
      <p:sp>
        <p:nvSpPr>
          <p:cNvPr id="7" name="Fora 2 cartão"/>
          <p:cNvSpPr/>
          <p:nvPr/>
        </p:nvSpPr>
        <p:spPr>
          <a:xfrm>
            <a:off x="4368698" y="1965960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Fora 2 nome"/>
          <p:cNvSpPr txBox="1"/>
          <p:nvPr/>
        </p:nvSpPr>
        <p:spPr>
          <a:xfrm>
            <a:off x="4624730" y="2167128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GESTÃO E CANAIS</a:t>
            </a:r>
            <a:endParaRPr lang="en-US" sz="1000" dirty="0"/>
          </a:p>
        </p:txBody>
      </p:sp>
      <p:sp>
        <p:nvSpPr>
          <p:cNvPr id="9" name="Fora 2 texto"/>
          <p:cNvSpPr txBox="1"/>
          <p:nvPr/>
        </p:nvSpPr>
        <p:spPr>
          <a:xfrm>
            <a:off x="4624730" y="24688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Responder comentários e DMs (fica com você, para manter sua voz real) · stories do dia a dia · outras redes · página da empresa · e-mail marketing</a:t>
            </a:r>
            <a:endParaRPr lang="en-US" sz="1300" dirty="0"/>
          </a:p>
        </p:txBody>
      </p:sp>
      <p:sp>
        <p:nvSpPr>
          <p:cNvPr id="10" name="Fora 3 cartão"/>
          <p:cNvSpPr/>
          <p:nvPr/>
        </p:nvSpPr>
        <p:spPr>
          <a:xfrm>
            <a:off x="8051597" y="1965960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Fora 3 nome"/>
          <p:cNvSpPr txBox="1"/>
          <p:nvPr/>
        </p:nvSpPr>
        <p:spPr>
          <a:xfrm>
            <a:off x="8307629" y="2167128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COMUNICAÇÃO</a:t>
            </a:r>
            <a:endParaRPr lang="en-US" sz="1000" dirty="0"/>
          </a:p>
        </p:txBody>
      </p:sp>
      <p:sp>
        <p:nvSpPr>
          <p:cNvPr id="12" name="Fora 3 texto"/>
          <p:cNvSpPr txBox="1"/>
          <p:nvPr/>
        </p:nvSpPr>
        <p:spPr>
          <a:xfrm>
            <a:off x="8307629" y="2468880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Assessoria de imprensa e gestão de crise · parcerias com influenciadores · tradução e outros idiomas · trilhas licenciadas pagas</a:t>
            </a:r>
            <a:endParaRPr lang="en-US" sz="1300" dirty="0"/>
          </a:p>
        </p:txBody>
      </p:sp>
      <p:sp>
        <p:nvSpPr>
          <p:cNvPr id="13" name="Fora 4 cartão"/>
          <p:cNvSpPr/>
          <p:nvPr/>
        </p:nvSpPr>
        <p:spPr>
          <a:xfrm>
            <a:off x="685800" y="3776472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Fora 4 nome"/>
          <p:cNvSpPr txBox="1"/>
          <p:nvPr/>
        </p:nvSpPr>
        <p:spPr>
          <a:xfrm>
            <a:off x="941832" y="3977640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SITE</a:t>
            </a:r>
            <a:endParaRPr lang="en-US" sz="1000" dirty="0"/>
          </a:p>
        </p:txBody>
      </p:sp>
      <p:sp>
        <p:nvSpPr>
          <p:cNvPr id="15" name="Fora 4 texto"/>
          <p:cNvSpPr txBox="1"/>
          <p:nvPr/>
        </p:nvSpPr>
        <p:spPr>
          <a:xfrm>
            <a:off x="941832" y="427939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Site com várias páginas, blog ou loja · domínio, hospedagem e manutenção</a:t>
            </a:r>
            <a:endParaRPr lang="en-US" sz="1300" dirty="0"/>
          </a:p>
        </p:txBody>
      </p:sp>
      <p:sp>
        <p:nvSpPr>
          <p:cNvPr id="16" name="Fora 5 cartão"/>
          <p:cNvSpPr/>
          <p:nvPr/>
        </p:nvSpPr>
        <p:spPr>
          <a:xfrm>
            <a:off x="4368698" y="3776472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ora 5 nome"/>
          <p:cNvSpPr txBox="1"/>
          <p:nvPr/>
        </p:nvSpPr>
        <p:spPr>
          <a:xfrm>
            <a:off x="4624730" y="3977640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MARCA E JURÍDICO</a:t>
            </a:r>
            <a:endParaRPr lang="en-US" sz="1000" dirty="0"/>
          </a:p>
        </p:txBody>
      </p:sp>
      <p:sp>
        <p:nvSpPr>
          <p:cNvPr id="18" name="Fora 5 texto"/>
          <p:cNvSpPr txBox="1"/>
          <p:nvPr/>
        </p:nvSpPr>
        <p:spPr>
          <a:xfrm>
            <a:off x="4624730" y="427939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Criação de logotipo · registro no INPI · revisão jurídica e compliance · autorização de imagem de terceiros</a:t>
            </a:r>
            <a:endParaRPr lang="en-US" sz="1300" dirty="0"/>
          </a:p>
        </p:txBody>
      </p:sp>
      <p:sp>
        <p:nvSpPr>
          <p:cNvPr id="19" name="Fora 6 cartão"/>
          <p:cNvSpPr/>
          <p:nvPr/>
        </p:nvSpPr>
        <p:spPr>
          <a:xfrm>
            <a:off x="8051597" y="3776472"/>
            <a:ext cx="3454298" cy="164592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Fora 6 nome"/>
          <p:cNvSpPr txBox="1"/>
          <p:nvPr/>
        </p:nvSpPr>
        <p:spPr>
          <a:xfrm>
            <a:off x="8307629" y="3977640"/>
            <a:ext cx="2997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RESULTADOS</a:t>
            </a:r>
            <a:endParaRPr lang="en-US" sz="1000" dirty="0"/>
          </a:p>
        </p:txBody>
      </p:sp>
      <p:sp>
        <p:nvSpPr>
          <p:cNvPr id="21" name="Fora 6 texto"/>
          <p:cNvSpPr txBox="1"/>
          <p:nvPr/>
        </p:nvSpPr>
        <p:spPr>
          <a:xfrm>
            <a:off x="8307629" y="4279392"/>
            <a:ext cx="299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chemeClr val="tx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Não garantimos seguidores, views ou vendas: garantimos método, qualidade e constância. Nunca compramos seguidores.</a:t>
            </a:r>
            <a:endParaRPr lang="en-US" sz="1300" dirty="0"/>
          </a:p>
        </p:txBody>
      </p:sp>
      <p:sp>
        <p:nvSpPr>
          <p:cNvPr id="22" name="Rótulo combinados"/>
          <p:cNvSpPr txBox="1"/>
          <p:nvPr/>
        </p:nvSpPr>
        <p:spPr>
          <a:xfrm>
            <a:off x="685800" y="55321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COMO TRABALHAMOS</a:t>
            </a:r>
            <a:endParaRPr lang="en-US" sz="1000" dirty="0"/>
          </a:p>
        </p:txBody>
      </p:sp>
      <p:sp>
        <p:nvSpPr>
          <p:cNvPr id="23" name="Combinado 1 fundo"/>
          <p:cNvSpPr/>
          <p:nvPr/>
        </p:nvSpPr>
        <p:spPr>
          <a:xfrm>
            <a:off x="685800" y="5806440"/>
            <a:ext cx="1581912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Combinado 1"/>
          <p:cNvSpPr txBox="1"/>
          <p:nvPr/>
        </p:nvSpPr>
        <p:spPr>
          <a:xfrm>
            <a:off x="685800" y="5806440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Ciclo de 6 meses</a:t>
            </a:r>
            <a:endParaRPr lang="en-US" sz="1100" dirty="0"/>
          </a:p>
        </p:txBody>
      </p:sp>
      <p:sp>
        <p:nvSpPr>
          <p:cNvPr id="25" name="Combinado 2 fundo"/>
          <p:cNvSpPr/>
          <p:nvPr/>
        </p:nvSpPr>
        <p:spPr>
          <a:xfrm>
            <a:off x="2377440" y="5806440"/>
            <a:ext cx="2093976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6" name="Combinado 2"/>
          <p:cNvSpPr txBox="1"/>
          <p:nvPr/>
        </p:nvSpPr>
        <p:spPr>
          <a:xfrm>
            <a:off x="2377440" y="580644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Até 2 rodadas de ajuste</a:t>
            </a:r>
            <a:endParaRPr lang="en-US" sz="1100" dirty="0"/>
          </a:p>
        </p:txBody>
      </p:sp>
      <p:sp>
        <p:nvSpPr>
          <p:cNvPr id="27" name="Combinado 3 fundo"/>
          <p:cNvSpPr/>
          <p:nvPr/>
        </p:nvSpPr>
        <p:spPr>
          <a:xfrm>
            <a:off x="4581144" y="5806440"/>
            <a:ext cx="2386584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Combinado 3"/>
          <p:cNvSpPr txBox="1"/>
          <p:nvPr/>
        </p:nvSpPr>
        <p:spPr>
          <a:xfrm>
            <a:off x="4581144" y="5806440"/>
            <a:ext cx="2386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Mínimos mensais sem acúmulo</a:t>
            </a:r>
            <a:endParaRPr lang="en-US" sz="1100" dirty="0"/>
          </a:p>
        </p:txBody>
      </p:sp>
      <p:sp>
        <p:nvSpPr>
          <p:cNvPr id="29" name="Combinado 4 fundo"/>
          <p:cNvSpPr/>
          <p:nvPr/>
        </p:nvSpPr>
        <p:spPr>
          <a:xfrm>
            <a:off x="7077456" y="5806440"/>
            <a:ext cx="1801368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0" name="Combinado 4"/>
          <p:cNvSpPr txBox="1"/>
          <p:nvPr/>
        </p:nvSpPr>
        <p:spPr>
          <a:xfrm>
            <a:off x="7077456" y="5806440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Extras sob consulta</a:t>
            </a:r>
            <a:endParaRPr lang="en-US" sz="1100" dirty="0"/>
          </a:p>
        </p:txBody>
      </p:sp>
      <p:sp>
        <p:nvSpPr>
          <p:cNvPr id="31" name="Combinado 5 fundo"/>
          <p:cNvSpPr/>
          <p:nvPr/>
        </p:nvSpPr>
        <p:spPr>
          <a:xfrm>
            <a:off x="8988552" y="5806440"/>
            <a:ext cx="2093976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Combinado 5"/>
          <p:cNvSpPr txBox="1"/>
          <p:nvPr/>
        </p:nvSpPr>
        <p:spPr>
          <a:xfrm>
            <a:off x="8988552" y="580644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Portfólio, salvo sigilo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tx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da ros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97280" y="5074920"/>
            <a:ext cx="8229600" cy="929945"/>
          </a:xfrm>
          <a:prstGeom prst="rect">
            <a:avLst/>
          </a:prstGeom>
        </p:spPr>
      </p:pic>
      <p:sp>
        <p:nvSpPr>
          <p:cNvPr id="3" name="Rótulo"/>
          <p:cNvSpPr txBox="1"/>
          <p:nvPr/>
        </p:nvSpPr>
        <p:spPr>
          <a:xfrm>
            <a:off x="685800" y="8686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09 · PRÓXIMOS PASSOS</a:t>
            </a:r>
            <a:endParaRPr lang="en-US" sz="1000" dirty="0"/>
          </a:p>
        </p:txBody>
      </p:sp>
      <p:sp>
        <p:nvSpPr>
          <p:cNvPr id="4" name="Frase 1"/>
          <p:cNvSpPr txBox="1"/>
          <p:nvPr/>
        </p:nvSpPr>
        <p:spPr>
          <a:xfrm>
            <a:off x="685800" y="13716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spc="-100" kern="0" dirty="0">
                <a:solidFill>
                  <a:schemeClr val="bg1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Você já tem a voz.</a:t>
            </a:r>
            <a:endParaRPr lang="en-US" sz="4800" dirty="0"/>
          </a:p>
        </p:txBody>
      </p:sp>
      <p:sp>
        <p:nvSpPr>
          <p:cNvPr id="5" name="Frase 2"/>
          <p:cNvSpPr txBox="1"/>
          <p:nvPr/>
        </p:nvSpPr>
        <p:spPr>
          <a:xfrm>
            <a:off x="685800" y="22860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A gente ajuda você a colocá-la no mundo.</a:t>
            </a:r>
            <a:endParaRPr lang="en-US" sz="2800" dirty="0"/>
          </a:p>
        </p:txBody>
      </p:sp>
      <p:sp>
        <p:nvSpPr>
          <p:cNvPr id="6" name="Frase 3"/>
          <p:cNvSpPr txBox="1"/>
          <p:nvPr/>
        </p:nvSpPr>
        <p:spPr>
          <a:xfrm>
            <a:off x="68580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Sua voz, no ritmo certo.</a:t>
            </a:r>
            <a:endParaRPr lang="en-US" sz="1500" dirty="0"/>
          </a:p>
        </p:txBody>
      </p:sp>
      <p:sp>
        <p:nvSpPr>
          <p:cNvPr id="7" name="Passo 1"/>
          <p:cNvSpPr/>
          <p:nvPr/>
        </p:nvSpPr>
        <p:spPr>
          <a:xfrm>
            <a:off x="6949440" y="14173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Passo 1 número"/>
          <p:cNvSpPr txBox="1"/>
          <p:nvPr/>
        </p:nvSpPr>
        <p:spPr>
          <a:xfrm>
            <a:off x="69494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Passo 1 texto"/>
          <p:cNvSpPr txBox="1"/>
          <p:nvPr/>
        </p:nvSpPr>
        <p:spPr>
          <a:xfrm>
            <a:off x="7726680" y="1371600"/>
            <a:ext cx="3779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Aprovação da proposta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Você valida o escopo e o investimento.</a:t>
            </a:r>
            <a:endParaRPr lang="en-US" sz="1700" dirty="0"/>
          </a:p>
        </p:txBody>
      </p:sp>
      <p:sp>
        <p:nvSpPr>
          <p:cNvPr id="10" name="Passo 2"/>
          <p:cNvSpPr/>
          <p:nvPr/>
        </p:nvSpPr>
        <p:spPr>
          <a:xfrm>
            <a:off x="6949440" y="237744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Passo 2 número"/>
          <p:cNvSpPr txBox="1"/>
          <p:nvPr/>
        </p:nvSpPr>
        <p:spPr>
          <a:xfrm>
            <a:off x="69494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Passo 2 texto"/>
          <p:cNvSpPr txBox="1"/>
          <p:nvPr/>
        </p:nvSpPr>
        <p:spPr>
          <a:xfrm>
            <a:off x="7726680" y="2331720"/>
            <a:ext cx="3779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Assinatura do contrato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Formalizamos o ciclo de 6 meses.</a:t>
            </a:r>
            <a:endParaRPr lang="en-US" sz="1700" dirty="0"/>
          </a:p>
        </p:txBody>
      </p:sp>
      <p:sp>
        <p:nvSpPr>
          <p:cNvPr id="13" name="Passo 3"/>
          <p:cNvSpPr/>
          <p:nvPr/>
        </p:nvSpPr>
        <p:spPr>
          <a:xfrm>
            <a:off x="6949440" y="333756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Passo 3 número"/>
          <p:cNvSpPr txBox="1"/>
          <p:nvPr/>
        </p:nvSpPr>
        <p:spPr>
          <a:xfrm>
            <a:off x="694944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Passo 3 texto"/>
          <p:cNvSpPr txBox="1"/>
          <p:nvPr/>
        </p:nvSpPr>
        <p:spPr>
          <a:xfrm>
            <a:off x="7726680" y="3291840"/>
            <a:ext cx="3779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Diagnóstico e imersão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Agendamos o primeiro encontro presencial.</a:t>
            </a:r>
            <a:endParaRPr lang="en-US" sz="1700" dirty="0"/>
          </a:p>
        </p:txBody>
      </p:sp>
      <p:sp>
        <p:nvSpPr>
          <p:cNvPr id="16" name="Assinatura"/>
          <p:cNvSpPr txBox="1"/>
          <p:nvPr/>
        </p:nvSpPr>
        <p:spPr>
          <a:xfrm>
            <a:off x="6949440" y="4572000"/>
            <a:ext cx="4556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Diogo &amp; Rafa | Meov MP</a:t>
            </a:r>
            <a:endParaRPr lang="en-US" sz="1800" dirty="0"/>
          </a:p>
        </p:txBody>
      </p:sp>
      <p:sp>
        <p:nvSpPr>
          <p:cNvPr id="17" name="Contatos"/>
          <p:cNvSpPr txBox="1"/>
          <p:nvPr/>
        </p:nvSpPr>
        <p:spPr>
          <a:xfrm>
            <a:off x="6949440" y="498348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bg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@MEOV.CREATORS · MEOV.COM.BR</a:t>
            </a:r>
            <a:endParaRPr lang="en-US" sz="1000" dirty="0"/>
          </a:p>
        </p:txBody>
      </p:sp>
      <p:pic>
        <p:nvPicPr>
          <p:cNvPr id="18" name="Logotip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5989320"/>
            <a:ext cx="1188720" cy="2427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34747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bg2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ov MP">
  <a:themeElements>
    <a:clrScheme name="Meov MP">
      <a:dk1>
        <a:srgbClr val="1C211E"/>
      </a:dk1>
      <a:lt1>
        <a:srgbClr val="FAF8F4"/>
      </a:lt1>
      <a:dk2>
        <a:srgbClr val="59625A"/>
      </a:dk2>
      <a:lt2>
        <a:srgbClr val="D8DACD"/>
      </a:lt2>
      <a:accent1>
        <a:srgbClr val="FF19B1"/>
      </a:accent1>
      <a:accent2>
        <a:srgbClr val="DBFF00"/>
      </a:accent2>
      <a:accent3>
        <a:srgbClr val="D8DACD"/>
      </a:accent3>
      <a:accent4>
        <a:srgbClr val="59625A"/>
      </a:accent4>
      <a:accent5>
        <a:srgbClr val="1C211E"/>
      </a:accent5>
      <a:accent6>
        <a:srgbClr val="FFFFFF"/>
      </a:accent6>
      <a:hlink>
        <a:srgbClr val="FF19B1"/>
      </a:hlink>
      <a:folHlink>
        <a:srgbClr val="59625A"/>
      </a:folHlink>
    </a:clrScheme>
    <a:fontScheme name="Meov MP">
      <a:majorFont>
        <a:latin typeface="Manrope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Meov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Meov · Fernando Lohmann</dc:title>
  <dc:subject>PptxGenJS Presentation</dc:subject>
  <dc:creator>Diogo &amp; Rafa | Meov MP</dc:creator>
  <cp:lastModifiedBy>Diogo &amp; Rafa | Meov MP</cp:lastModifiedBy>
  <cp:revision>1</cp:revision>
  <dcterms:created xsi:type="dcterms:W3CDTF">2026-10-29T00:08:04Z</dcterms:created>
  <dcterms:modified xsi:type="dcterms:W3CDTF">2026-10-29T00:08:04Z</dcterms:modified>
</cp:coreProperties>
</file>